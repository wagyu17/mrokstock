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44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60000"/>
            <a:ext cx="6480000" cy="251999"/>
          </a:xfrm>
          <a:prstGeom prst="rect">
            <a:avLst/>
          </a:prstGeom>
          <a:noFill/>
          <a:ln>
            <a:noFill/>
          </a:ln>
        </p:spPr>
        <p:txBody>
          <a:bodyPr wrap="square" lIns="54000" rIns="54000" tIns="36000" bIns="36000" anchor="t">
            <a:spAutoFit/>
          </a:bodyPr>
          <a:lstStyle/>
          <a:p>
            <a:pPr algn="l">
              <a:lnSpc>
                <a:spcPct val="115000"/>
              </a:lnSpc>
            </a:pPr>
            <a:r>
              <a:rPr sz="1100" b="1">
                <a:solidFill>
                  <a:srgbClr val="FFFFFF"/>
                </a:solidFill>
                <a:latin typeface="Meiryo"/>
              </a:rPr>
              <a:t>株式会社ワンライフ 御中</a:t>
            </a:r>
          </a:p>
        </p:txBody>
      </p:sp>
      <p:sp>
        <p:nvSpPr>
          <p:cNvPr id="4" name="TextBox 3"/>
          <p:cNvSpPr txBox="1"/>
          <p:nvPr/>
        </p:nvSpPr>
        <p:spPr>
          <a:xfrm>
            <a:off x="540000" y="648000"/>
            <a:ext cx="6480000" cy="468000"/>
          </a:xfrm>
          <a:prstGeom prst="rect">
            <a:avLst/>
          </a:prstGeom>
          <a:noFill/>
          <a:ln>
            <a:noFill/>
          </a:ln>
        </p:spPr>
        <p:txBody>
          <a:bodyPr wrap="square" lIns="54000" rIns="54000" tIns="36000" bIns="36000" anchor="t">
            <a:spAutoFit/>
          </a:bodyPr>
          <a:lstStyle/>
          <a:p>
            <a:pPr algn="l">
              <a:lnSpc>
                <a:spcPct val="115000"/>
              </a:lnSpc>
            </a:pPr>
            <a:r>
              <a:rPr sz="2200" b="1">
                <a:solidFill>
                  <a:srgbClr val="FFFFFF"/>
                </a:solidFill>
                <a:latin typeface="Meiryo"/>
              </a:rPr>
              <a:t>Minecraft学習コンテンツ 完成計画書</a:t>
            </a:r>
          </a:p>
        </p:txBody>
      </p:sp>
      <p:sp>
        <p:nvSpPr>
          <p:cNvPr id="5" name="TextBox 4"/>
          <p:cNvSpPr txBox="1"/>
          <p:nvPr/>
        </p:nvSpPr>
        <p:spPr>
          <a:xfrm>
            <a:off x="540000" y="1080000"/>
            <a:ext cx="6480000" cy="288000"/>
          </a:xfrm>
          <a:prstGeom prst="rect">
            <a:avLst/>
          </a:prstGeom>
          <a:noFill/>
          <a:ln>
            <a:noFill/>
          </a:ln>
        </p:spPr>
        <p:txBody>
          <a:bodyPr wrap="square" lIns="54000" rIns="54000" tIns="36000" bIns="36000" anchor="t">
            <a:spAutoFit/>
          </a:bodyPr>
          <a:lstStyle/>
          <a:p>
            <a:pPr algn="l">
              <a:lnSpc>
                <a:spcPct val="115000"/>
              </a:lnSpc>
            </a:pPr>
            <a:r>
              <a:rPr sz="1200" b="0">
                <a:solidFill>
                  <a:srgbClr val="FFFFFF"/>
                </a:solidFill>
                <a:latin typeface="Meiryo"/>
              </a:rPr>
              <a:t>2026年内のプロジェクト完了に向けたスケジュール共有</a:t>
            </a:r>
          </a:p>
        </p:txBody>
      </p:sp>
      <p:sp>
        <p:nvSpPr>
          <p:cNvPr id="6" name="Rectangle 5"/>
          <p:cNvSpPr/>
          <p:nvPr/>
        </p:nvSpPr>
        <p:spPr>
          <a:xfrm>
            <a:off x="540000" y="1872000"/>
            <a:ext cx="6480000" cy="1872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4000" y="1997999"/>
            <a:ext cx="6192000" cy="251999"/>
          </a:xfrm>
          <a:prstGeom prst="rect">
            <a:avLst/>
          </a:prstGeom>
          <a:noFill/>
          <a:ln>
            <a:noFill/>
          </a:ln>
        </p:spPr>
        <p:txBody>
          <a:bodyPr wrap="square" lIns="54000" rIns="54000" tIns="36000" bIns="36000" anchor="t">
            <a:spAutoFit/>
          </a:bodyPr>
          <a:lstStyle/>
          <a:p>
            <a:pPr algn="l">
              <a:lnSpc>
                <a:spcPct val="115000"/>
              </a:lnSpc>
            </a:pPr>
            <a:r>
              <a:rPr sz="1200" b="1">
                <a:solidFill>
                  <a:srgbClr val="203A60"/>
                </a:solidFill>
                <a:latin typeface="Meiryo"/>
              </a:rPr>
              <a:t>本資料について</a:t>
            </a:r>
          </a:p>
        </p:txBody>
      </p:sp>
      <p:sp>
        <p:nvSpPr>
          <p:cNvPr id="8" name="TextBox 7"/>
          <p:cNvSpPr txBox="1"/>
          <p:nvPr/>
        </p:nvSpPr>
        <p:spPr>
          <a:xfrm>
            <a:off x="684000" y="2268000"/>
            <a:ext cx="6192000" cy="1440000"/>
          </a:xfrm>
          <a:prstGeom prst="rect">
            <a:avLst/>
          </a:prstGeom>
          <a:noFill/>
          <a:ln>
            <a:noFill/>
          </a:ln>
        </p:spPr>
        <p:txBody>
          <a:bodyPr wrap="square" lIns="54000" rIns="54000" tIns="36000" bIns="36000" anchor="t">
            <a:spAutoFit/>
          </a:bodyPr>
          <a:lstStyle/>
          <a:p>
            <a:pPr algn="l">
              <a:lnSpc>
                <a:spcPct val="135000"/>
              </a:lnSpc>
            </a:pPr>
            <a:r>
              <a:rPr sz="1050" b="0">
                <a:solidFill>
                  <a:srgbClr val="1E232D"/>
                </a:solidFill>
                <a:latin typeface="Meiryo"/>
              </a:rPr>
              <a:t>本資料は、放課後等デイサービス向け Minecraft学習コンテンツを</a:t>
            </a:r>
          </a:p>
          <a:p>
            <a:pPr algn="l">
              <a:lnSpc>
                <a:spcPct val="135000"/>
              </a:lnSpc>
            </a:pPr>
            <a:r>
              <a:rPr sz="1050" b="0">
                <a:solidFill>
                  <a:srgbClr val="1E232D"/>
                </a:solidFill>
                <a:latin typeface="Meiryo"/>
              </a:rPr>
              <a:t>2026年内に完成・納品するための月次スケジュール、成果物の範囲、</a:t>
            </a:r>
          </a:p>
          <a:p>
            <a:pPr algn="l">
              <a:lnSpc>
                <a:spcPct val="135000"/>
              </a:lnSpc>
            </a:pPr>
            <a:r>
              <a:rPr sz="1050" b="0">
                <a:solidFill>
                  <a:srgbClr val="1E232D"/>
                </a:solidFill>
                <a:latin typeface="Meiryo"/>
              </a:rPr>
              <a:t>およびクライアント様にご協力いただきたい事項を整理したものです。</a:t>
            </a:r>
          </a:p>
          <a:p>
            <a:pPr algn="l">
              <a:lnSpc>
                <a:spcPct val="135000"/>
              </a:lnSpc>
            </a:pPr>
            <a:r>
              <a:rPr sz="1050" b="0">
                <a:solidFill>
                  <a:srgbClr val="1E232D"/>
                </a:solidFill>
                <a:latin typeface="Meiryo"/>
              </a:rPr>
              <a:t>中核となる Minecraftワールド は 2026年8月末の完成を目標とし、</a:t>
            </a:r>
          </a:p>
          <a:p>
            <a:pPr algn="l">
              <a:lnSpc>
                <a:spcPct val="135000"/>
              </a:lnSpc>
            </a:pPr>
            <a:r>
              <a:rPr sz="1050" b="0">
                <a:solidFill>
                  <a:srgbClr val="1E232D"/>
                </a:solidFill>
                <a:latin typeface="Meiryo"/>
              </a:rPr>
              <a:t>以降はPDF教材・運用マニュアルの仕上げとテストプレイを経て</a:t>
            </a:r>
          </a:p>
          <a:p>
            <a:pPr algn="l">
              <a:lnSpc>
                <a:spcPct val="135000"/>
              </a:lnSpc>
            </a:pPr>
            <a:r>
              <a:rPr sz="1050" b="0">
                <a:solidFill>
                  <a:srgbClr val="1E232D"/>
                </a:solidFill>
                <a:latin typeface="Meiryo"/>
              </a:rPr>
              <a:t>2026年12月の最終納品を目指します。</a:t>
            </a:r>
          </a:p>
        </p:txBody>
      </p:sp>
      <p:sp>
        <p:nvSpPr>
          <p:cNvPr id="9" name="Rectangle 8"/>
          <p:cNvSpPr/>
          <p:nvPr/>
        </p:nvSpPr>
        <p:spPr>
          <a:xfrm>
            <a:off x="540000" y="3960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20000" y="3960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3960000"/>
            <a:ext cx="1908000" cy="360000"/>
          </a:xfrm>
          <a:prstGeom prst="rect">
            <a:avLst/>
          </a:prstGeom>
          <a:noFill/>
          <a:ln>
            <a:noFill/>
          </a:ln>
        </p:spPr>
        <p:txBody>
          <a:bodyPr wrap="square" lIns="54000" rIns="54000" tIns="36000" bIns="36000" anchor="ctr">
            <a:spAutoFit/>
          </a:bodyPr>
          <a:lstStyle/>
          <a:p>
            <a:pPr algn="l">
              <a:lnSpc>
                <a:spcPct val="115000"/>
              </a:lnSpc>
            </a:pPr>
            <a:r>
              <a:rPr sz="1000" b="1">
                <a:solidFill>
                  <a:srgbClr val="203A60"/>
                </a:solidFill>
                <a:latin typeface="Meiryo"/>
              </a:rPr>
              <a:t>プロジェクト名</a:t>
            </a:r>
          </a:p>
        </p:txBody>
      </p:sp>
      <p:sp>
        <p:nvSpPr>
          <p:cNvPr id="12" name="TextBox 11"/>
          <p:cNvSpPr txBox="1"/>
          <p:nvPr/>
        </p:nvSpPr>
        <p:spPr>
          <a:xfrm>
            <a:off x="2592000" y="3960000"/>
            <a:ext cx="4428000" cy="360000"/>
          </a:xfrm>
          <a:prstGeom prst="rect">
            <a:avLst/>
          </a:prstGeom>
          <a:noFill/>
          <a:ln>
            <a:noFill/>
          </a:ln>
        </p:spPr>
        <p:txBody>
          <a:bodyPr wrap="square" lIns="54000" rIns="54000" tIns="36000" bIns="36000" anchor="ctr">
            <a:spAutoFit/>
          </a:bodyPr>
          <a:lstStyle/>
          <a:p>
            <a:pPr algn="l">
              <a:lnSpc>
                <a:spcPct val="115000"/>
              </a:lnSpc>
            </a:pPr>
            <a:r>
              <a:rPr sz="1000" b="0">
                <a:solidFill>
                  <a:srgbClr val="1E232D"/>
                </a:solidFill>
                <a:latin typeface="Meiryo"/>
              </a:rPr>
              <a:t>前橋市をテーマとした探求学習コンテンツ（Minecraft Education）</a:t>
            </a:r>
          </a:p>
        </p:txBody>
      </p:sp>
      <p:sp>
        <p:nvSpPr>
          <p:cNvPr id="13" name="Rectangle 12"/>
          <p:cNvSpPr/>
          <p:nvPr/>
        </p:nvSpPr>
        <p:spPr>
          <a:xfrm>
            <a:off x="540000" y="4320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20000" y="4320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000" y="4320000"/>
            <a:ext cx="1908000" cy="360000"/>
          </a:xfrm>
          <a:prstGeom prst="rect">
            <a:avLst/>
          </a:prstGeom>
          <a:noFill/>
          <a:ln>
            <a:noFill/>
          </a:ln>
        </p:spPr>
        <p:txBody>
          <a:bodyPr wrap="square" lIns="54000" rIns="54000" tIns="36000" bIns="36000" anchor="ctr">
            <a:spAutoFit/>
          </a:bodyPr>
          <a:lstStyle/>
          <a:p>
            <a:pPr algn="l">
              <a:lnSpc>
                <a:spcPct val="115000"/>
              </a:lnSpc>
            </a:pPr>
            <a:r>
              <a:rPr sz="1000" b="1">
                <a:solidFill>
                  <a:srgbClr val="203A60"/>
                </a:solidFill>
                <a:latin typeface="Meiryo"/>
              </a:rPr>
              <a:t>委託者</a:t>
            </a:r>
          </a:p>
        </p:txBody>
      </p:sp>
      <p:sp>
        <p:nvSpPr>
          <p:cNvPr id="16" name="TextBox 15"/>
          <p:cNvSpPr txBox="1"/>
          <p:nvPr/>
        </p:nvSpPr>
        <p:spPr>
          <a:xfrm>
            <a:off x="2592000" y="4320000"/>
            <a:ext cx="4428000" cy="360000"/>
          </a:xfrm>
          <a:prstGeom prst="rect">
            <a:avLst/>
          </a:prstGeom>
          <a:noFill/>
          <a:ln>
            <a:noFill/>
          </a:ln>
        </p:spPr>
        <p:txBody>
          <a:bodyPr wrap="square" lIns="54000" rIns="54000" tIns="36000" bIns="36000" anchor="ctr">
            <a:spAutoFit/>
          </a:bodyPr>
          <a:lstStyle/>
          <a:p>
            <a:pPr algn="l">
              <a:lnSpc>
                <a:spcPct val="115000"/>
              </a:lnSpc>
            </a:pPr>
            <a:r>
              <a:rPr sz="1000" b="0">
                <a:solidFill>
                  <a:srgbClr val="1E232D"/>
                </a:solidFill>
                <a:latin typeface="Meiryo"/>
              </a:rPr>
              <a:t>株式会社ワンライフ</a:t>
            </a:r>
          </a:p>
        </p:txBody>
      </p:sp>
      <p:sp>
        <p:nvSpPr>
          <p:cNvPr id="17" name="Rectangle 16"/>
          <p:cNvSpPr/>
          <p:nvPr/>
        </p:nvSpPr>
        <p:spPr>
          <a:xfrm>
            <a:off x="540000" y="4680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20000" y="4680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000" y="4680000"/>
            <a:ext cx="1908000" cy="360000"/>
          </a:xfrm>
          <a:prstGeom prst="rect">
            <a:avLst/>
          </a:prstGeom>
          <a:noFill/>
          <a:ln>
            <a:noFill/>
          </a:ln>
        </p:spPr>
        <p:txBody>
          <a:bodyPr wrap="square" lIns="54000" rIns="54000" tIns="36000" bIns="36000" anchor="ctr">
            <a:spAutoFit/>
          </a:bodyPr>
          <a:lstStyle/>
          <a:p>
            <a:pPr algn="l">
              <a:lnSpc>
                <a:spcPct val="115000"/>
              </a:lnSpc>
            </a:pPr>
            <a:r>
              <a:rPr sz="1000" b="1">
                <a:solidFill>
                  <a:srgbClr val="203A60"/>
                </a:solidFill>
                <a:latin typeface="Meiryo"/>
              </a:rPr>
              <a:t>受託者</a:t>
            </a:r>
          </a:p>
        </p:txBody>
      </p:sp>
      <p:sp>
        <p:nvSpPr>
          <p:cNvPr id="20" name="TextBox 19"/>
          <p:cNvSpPr txBox="1"/>
          <p:nvPr/>
        </p:nvSpPr>
        <p:spPr>
          <a:xfrm>
            <a:off x="2592000" y="4680000"/>
            <a:ext cx="4428000" cy="360000"/>
          </a:xfrm>
          <a:prstGeom prst="rect">
            <a:avLst/>
          </a:prstGeom>
          <a:noFill/>
          <a:ln>
            <a:noFill/>
          </a:ln>
        </p:spPr>
        <p:txBody>
          <a:bodyPr wrap="square" lIns="54000" rIns="54000" tIns="36000" bIns="36000" anchor="ctr">
            <a:spAutoFit/>
          </a:bodyPr>
          <a:lstStyle/>
          <a:p>
            <a:pPr algn="l">
              <a:lnSpc>
                <a:spcPct val="115000"/>
              </a:lnSpc>
            </a:pPr>
            <a:r>
              <a:rPr sz="1000" b="0">
                <a:solidFill>
                  <a:srgbClr val="1E232D"/>
                </a:solidFill>
                <a:latin typeface="Meiryo"/>
              </a:rPr>
              <a:t>丸岡 大也</a:t>
            </a:r>
          </a:p>
        </p:txBody>
      </p:sp>
      <p:sp>
        <p:nvSpPr>
          <p:cNvPr id="21" name="Rectangle 20"/>
          <p:cNvSpPr/>
          <p:nvPr/>
        </p:nvSpPr>
        <p:spPr>
          <a:xfrm>
            <a:off x="540000" y="5040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20000" y="5040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000" y="5040000"/>
            <a:ext cx="1908000" cy="360000"/>
          </a:xfrm>
          <a:prstGeom prst="rect">
            <a:avLst/>
          </a:prstGeom>
          <a:noFill/>
          <a:ln>
            <a:noFill/>
          </a:ln>
        </p:spPr>
        <p:txBody>
          <a:bodyPr wrap="square" lIns="54000" rIns="54000" tIns="36000" bIns="36000" anchor="ctr">
            <a:spAutoFit/>
          </a:bodyPr>
          <a:lstStyle/>
          <a:p>
            <a:pPr algn="l">
              <a:lnSpc>
                <a:spcPct val="115000"/>
              </a:lnSpc>
            </a:pPr>
            <a:r>
              <a:rPr sz="1000" b="1">
                <a:solidFill>
                  <a:srgbClr val="203A60"/>
                </a:solidFill>
                <a:latin typeface="Meiryo"/>
              </a:rPr>
              <a:t>対象</a:t>
            </a:r>
          </a:p>
        </p:txBody>
      </p:sp>
      <p:sp>
        <p:nvSpPr>
          <p:cNvPr id="24" name="TextBox 23"/>
          <p:cNvSpPr txBox="1"/>
          <p:nvPr/>
        </p:nvSpPr>
        <p:spPr>
          <a:xfrm>
            <a:off x="2592000" y="5040000"/>
            <a:ext cx="4428000" cy="360000"/>
          </a:xfrm>
          <a:prstGeom prst="rect">
            <a:avLst/>
          </a:prstGeom>
          <a:noFill/>
          <a:ln>
            <a:noFill/>
          </a:ln>
        </p:spPr>
        <p:txBody>
          <a:bodyPr wrap="square" lIns="54000" rIns="54000" tIns="36000" bIns="36000" anchor="ctr">
            <a:spAutoFit/>
          </a:bodyPr>
          <a:lstStyle/>
          <a:p>
            <a:pPr algn="l">
              <a:lnSpc>
                <a:spcPct val="115000"/>
              </a:lnSpc>
            </a:pPr>
            <a:r>
              <a:rPr sz="1000" b="0">
                <a:solidFill>
                  <a:srgbClr val="1E232D"/>
                </a:solidFill>
                <a:latin typeface="Meiryo"/>
              </a:rPr>
              <a:t>放課後等デイサービスに通う小学1年〜高校生</a:t>
            </a:r>
          </a:p>
        </p:txBody>
      </p:sp>
      <p:sp>
        <p:nvSpPr>
          <p:cNvPr id="25" name="Rectangle 24"/>
          <p:cNvSpPr/>
          <p:nvPr/>
        </p:nvSpPr>
        <p:spPr>
          <a:xfrm>
            <a:off x="540000" y="5400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20000" y="5400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000" y="5400000"/>
            <a:ext cx="1908000" cy="360000"/>
          </a:xfrm>
          <a:prstGeom prst="rect">
            <a:avLst/>
          </a:prstGeom>
          <a:noFill/>
          <a:ln>
            <a:noFill/>
          </a:ln>
        </p:spPr>
        <p:txBody>
          <a:bodyPr wrap="square" lIns="54000" rIns="54000" tIns="36000" bIns="36000" anchor="ctr">
            <a:spAutoFit/>
          </a:bodyPr>
          <a:lstStyle/>
          <a:p>
            <a:pPr algn="l">
              <a:lnSpc>
                <a:spcPct val="115000"/>
              </a:lnSpc>
            </a:pPr>
            <a:r>
              <a:rPr sz="1000" b="1">
                <a:solidFill>
                  <a:srgbClr val="203A60"/>
                </a:solidFill>
                <a:latin typeface="Meiryo"/>
              </a:rPr>
              <a:t>ワールド完成目標</a:t>
            </a:r>
          </a:p>
        </p:txBody>
      </p:sp>
      <p:sp>
        <p:nvSpPr>
          <p:cNvPr id="28" name="TextBox 27"/>
          <p:cNvSpPr txBox="1"/>
          <p:nvPr/>
        </p:nvSpPr>
        <p:spPr>
          <a:xfrm>
            <a:off x="2592000" y="5400000"/>
            <a:ext cx="4428000" cy="360000"/>
          </a:xfrm>
          <a:prstGeom prst="rect">
            <a:avLst/>
          </a:prstGeom>
          <a:noFill/>
          <a:ln>
            <a:noFill/>
          </a:ln>
        </p:spPr>
        <p:txBody>
          <a:bodyPr wrap="square" lIns="54000" rIns="54000" tIns="36000" bIns="36000" anchor="ctr">
            <a:spAutoFit/>
          </a:bodyPr>
          <a:lstStyle/>
          <a:p>
            <a:pPr algn="l">
              <a:lnSpc>
                <a:spcPct val="115000"/>
              </a:lnSpc>
            </a:pPr>
            <a:r>
              <a:rPr sz="1000" b="0">
                <a:solidFill>
                  <a:srgbClr val="1E232D"/>
                </a:solidFill>
                <a:latin typeface="Meiryo"/>
              </a:rPr>
              <a:t>2026年8月末</a:t>
            </a:r>
          </a:p>
        </p:txBody>
      </p:sp>
      <p:sp>
        <p:nvSpPr>
          <p:cNvPr id="29" name="Rectangle 28"/>
          <p:cNvSpPr/>
          <p:nvPr/>
        </p:nvSpPr>
        <p:spPr>
          <a:xfrm>
            <a:off x="540000" y="5760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20000" y="5760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000" y="5760000"/>
            <a:ext cx="1908000" cy="360000"/>
          </a:xfrm>
          <a:prstGeom prst="rect">
            <a:avLst/>
          </a:prstGeom>
          <a:noFill/>
          <a:ln>
            <a:noFill/>
          </a:ln>
        </p:spPr>
        <p:txBody>
          <a:bodyPr wrap="square" lIns="54000" rIns="54000" tIns="36000" bIns="36000" anchor="ctr">
            <a:spAutoFit/>
          </a:bodyPr>
          <a:lstStyle/>
          <a:p>
            <a:pPr algn="l">
              <a:lnSpc>
                <a:spcPct val="115000"/>
              </a:lnSpc>
            </a:pPr>
            <a:r>
              <a:rPr sz="1000" b="1">
                <a:solidFill>
                  <a:srgbClr val="203A60"/>
                </a:solidFill>
                <a:latin typeface="Meiryo"/>
              </a:rPr>
              <a:t>プロジェクト完了目標</a:t>
            </a:r>
          </a:p>
        </p:txBody>
      </p:sp>
      <p:sp>
        <p:nvSpPr>
          <p:cNvPr id="32" name="TextBox 31"/>
          <p:cNvSpPr txBox="1"/>
          <p:nvPr/>
        </p:nvSpPr>
        <p:spPr>
          <a:xfrm>
            <a:off x="2592000" y="5760000"/>
            <a:ext cx="4428000" cy="360000"/>
          </a:xfrm>
          <a:prstGeom prst="rect">
            <a:avLst/>
          </a:prstGeom>
          <a:noFill/>
          <a:ln>
            <a:noFill/>
          </a:ln>
        </p:spPr>
        <p:txBody>
          <a:bodyPr wrap="square" lIns="54000" rIns="54000" tIns="36000" bIns="36000" anchor="ctr">
            <a:spAutoFit/>
          </a:bodyPr>
          <a:lstStyle/>
          <a:p>
            <a:pPr algn="l">
              <a:lnSpc>
                <a:spcPct val="115000"/>
              </a:lnSpc>
            </a:pPr>
            <a:r>
              <a:rPr sz="1000" b="0">
                <a:solidFill>
                  <a:srgbClr val="1E232D"/>
                </a:solidFill>
                <a:latin typeface="Meiryo"/>
              </a:rPr>
              <a:t>2026年12月末（最終納品）</a:t>
            </a:r>
          </a:p>
        </p:txBody>
      </p:sp>
      <p:sp>
        <p:nvSpPr>
          <p:cNvPr id="33" name="Rectangle 32"/>
          <p:cNvSpPr/>
          <p:nvPr/>
        </p:nvSpPr>
        <p:spPr>
          <a:xfrm>
            <a:off x="540000" y="6120000"/>
            <a:ext cx="1980000" cy="36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20000" y="6120000"/>
            <a:ext cx="4500000" cy="36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000" y="6120000"/>
            <a:ext cx="1908000" cy="360000"/>
          </a:xfrm>
          <a:prstGeom prst="rect">
            <a:avLst/>
          </a:prstGeom>
          <a:noFill/>
          <a:ln>
            <a:noFill/>
          </a:ln>
        </p:spPr>
        <p:txBody>
          <a:bodyPr wrap="square" lIns="54000" rIns="54000" tIns="36000" bIns="36000" anchor="ctr">
            <a:spAutoFit/>
          </a:bodyPr>
          <a:lstStyle/>
          <a:p>
            <a:pPr algn="l">
              <a:lnSpc>
                <a:spcPct val="115000"/>
              </a:lnSpc>
            </a:pPr>
            <a:r>
              <a:rPr sz="1000" b="1">
                <a:solidFill>
                  <a:srgbClr val="203A60"/>
                </a:solidFill>
                <a:latin typeface="Meiryo"/>
              </a:rPr>
              <a:t>本計画書 作成日</a:t>
            </a:r>
          </a:p>
        </p:txBody>
      </p:sp>
      <p:sp>
        <p:nvSpPr>
          <p:cNvPr id="36" name="TextBox 35"/>
          <p:cNvSpPr txBox="1"/>
          <p:nvPr/>
        </p:nvSpPr>
        <p:spPr>
          <a:xfrm>
            <a:off x="2592000" y="6120000"/>
            <a:ext cx="4428000" cy="360000"/>
          </a:xfrm>
          <a:prstGeom prst="rect">
            <a:avLst/>
          </a:prstGeom>
          <a:noFill/>
          <a:ln>
            <a:noFill/>
          </a:ln>
        </p:spPr>
        <p:txBody>
          <a:bodyPr wrap="square" lIns="54000" rIns="54000" tIns="36000" bIns="36000" anchor="ctr">
            <a:spAutoFit/>
          </a:bodyPr>
          <a:lstStyle/>
          <a:p>
            <a:pPr algn="l">
              <a:lnSpc>
                <a:spcPct val="115000"/>
              </a:lnSpc>
            </a:pPr>
            <a:r>
              <a:rPr sz="1000" b="0">
                <a:solidFill>
                  <a:srgbClr val="1E232D"/>
                </a:solidFill>
                <a:latin typeface="Meiryo"/>
              </a:rPr>
              <a:t>2026年4月21日</a:t>
            </a:r>
          </a:p>
        </p:txBody>
      </p:sp>
      <p:sp>
        <p:nvSpPr>
          <p:cNvPr id="37" name="TextBox 36"/>
          <p:cNvSpPr txBox="1"/>
          <p:nvPr/>
        </p:nvSpPr>
        <p:spPr>
          <a:xfrm>
            <a:off x="540000" y="6696000"/>
            <a:ext cx="6480000" cy="792000"/>
          </a:xfrm>
          <a:prstGeom prst="rect">
            <a:avLst/>
          </a:prstGeom>
          <a:noFill/>
          <a:ln>
            <a:noFill/>
          </a:ln>
        </p:spPr>
        <p:txBody>
          <a:bodyPr wrap="square" lIns="54000" rIns="54000" tIns="36000" bIns="36000" anchor="t">
            <a:spAutoFit/>
          </a:bodyPr>
          <a:lstStyle/>
          <a:p>
            <a:pPr algn="l">
              <a:lnSpc>
                <a:spcPct val="140000"/>
              </a:lnSpc>
            </a:pPr>
            <a:r>
              <a:rPr sz="900" b="0">
                <a:solidFill>
                  <a:srgbClr val="6E7682"/>
                </a:solidFill>
                <a:latin typeface="Meiryo"/>
              </a:rPr>
              <a:t>※ 本計画は、先日共有済みの「方針すり合わせ資料」に基づくミッション型構成を前提としています。</a:t>
            </a:r>
          </a:p>
          <a:p>
            <a:pPr algn="l">
              <a:lnSpc>
                <a:spcPct val="140000"/>
              </a:lnSpc>
            </a:pPr>
            <a:r>
              <a:rPr sz="900" b="0">
                <a:solidFill>
                  <a:srgbClr val="6E7682"/>
                </a:solidFill>
                <a:latin typeface="Meiryo"/>
              </a:rPr>
              <a:t>※ ハブ拠点の舞台地（駅周辺にするか等）は現在検討中のため、本書では未確定として扱っています。</a:t>
            </a:r>
          </a:p>
          <a:p>
            <a:pPr algn="l">
              <a:lnSpc>
                <a:spcPct val="140000"/>
              </a:lnSpc>
            </a:pPr>
            <a:r>
              <a:rPr sz="900" b="0">
                <a:solidFill>
                  <a:srgbClr val="6E7682"/>
                </a:solidFill>
                <a:latin typeface="Meiryo"/>
              </a:rPr>
              <a:t>※ 大幅な仕様変更が発生した場合、スケジュールは再調整いたします。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432000"/>
            <a:ext cx="6480000" cy="360000"/>
          </a:xfrm>
          <a:prstGeom prst="rect">
            <a:avLst/>
          </a:prstGeom>
          <a:noFill/>
          <a:ln>
            <a:noFill/>
          </a:ln>
        </p:spPr>
        <p:txBody>
          <a:bodyPr wrap="square" lIns="54000" rIns="54000" tIns="36000" bIns="36000" anchor="t">
            <a:spAutoFit/>
          </a:bodyPr>
          <a:lstStyle/>
          <a:p>
            <a:pPr algn="l">
              <a:lnSpc>
                <a:spcPct val="115000"/>
              </a:lnSpc>
            </a:pPr>
            <a:r>
              <a:rPr sz="1800" b="1">
                <a:solidFill>
                  <a:srgbClr val="203A60"/>
                </a:solidFill>
                <a:latin typeface="Meiryo"/>
              </a:rPr>
              <a:t>1. 完成目標と全体像</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0000" y="1134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8000" y="1080000"/>
            <a:ext cx="6840000" cy="324000"/>
          </a:xfrm>
          <a:prstGeom prst="rect">
            <a:avLst/>
          </a:prstGeom>
          <a:noFill/>
          <a:ln>
            <a:noFill/>
          </a:ln>
        </p:spPr>
        <p:txBody>
          <a:bodyPr wrap="square" lIns="54000" rIns="54000" tIns="36000" bIns="36000" anchor="t">
            <a:spAutoFit/>
          </a:bodyPr>
          <a:lstStyle/>
          <a:p>
            <a:pPr algn="l">
              <a:lnSpc>
                <a:spcPct val="115000"/>
              </a:lnSpc>
            </a:pPr>
            <a:r>
              <a:rPr sz="1400" b="1">
                <a:solidFill>
                  <a:srgbClr val="203A60"/>
                </a:solidFill>
                <a:latin typeface="Meiryo"/>
              </a:rPr>
              <a:t>最終成果物（納品物）</a:t>
            </a:r>
          </a:p>
        </p:txBody>
      </p:sp>
      <p:sp>
        <p:nvSpPr>
          <p:cNvPr id="6" name="TextBox 5"/>
          <p:cNvSpPr txBox="1"/>
          <p:nvPr/>
        </p:nvSpPr>
        <p:spPr>
          <a:xfrm>
            <a:off x="540000" y="1440000"/>
            <a:ext cx="6480000" cy="1620000"/>
          </a:xfrm>
          <a:prstGeom prst="rect">
            <a:avLst/>
          </a:prstGeom>
          <a:noFill/>
          <a:ln>
            <a:noFill/>
          </a:ln>
        </p:spPr>
        <p:txBody>
          <a:bodyPr wrap="square" lIns="54000" rIns="54000" tIns="36000" bIns="36000" anchor="t">
            <a:spAutoFit/>
          </a:bodyPr>
          <a:lstStyle/>
          <a:p>
            <a:pPr algn="l">
              <a:lnSpc>
                <a:spcPct val="150000"/>
              </a:lnSpc>
            </a:pPr>
            <a:r>
              <a:rPr sz="1050" b="0">
                <a:solidFill>
                  <a:srgbClr val="1E232D"/>
                </a:solidFill>
                <a:latin typeface="Meiryo"/>
              </a:rPr>
              <a:t>・Minecraft 統合ワールドファイル（.mcworld） × 1</a:t>
            </a:r>
          </a:p>
          <a:p>
            <a:pPr algn="l">
              <a:lnSpc>
                <a:spcPct val="150000"/>
              </a:lnSpc>
            </a:pPr>
            <a:r>
              <a:rPr sz="1050" b="0">
                <a:solidFill>
                  <a:srgbClr val="1E232D"/>
                </a:solidFill>
                <a:latin typeface="Meiryo"/>
              </a:rPr>
              <a:t>    5カテゴリ × 3難易度 = 全15ミッションエリア + ハブ拠点を収録</a:t>
            </a:r>
          </a:p>
          <a:p>
            <a:pPr algn="l">
              <a:lnSpc>
                <a:spcPct val="150000"/>
              </a:lnSpc>
            </a:pPr>
            <a:r>
              <a:rPr sz="1050" b="0">
                <a:solidFill>
                  <a:srgbClr val="1E232D"/>
                </a:solidFill>
                <a:latin typeface="Meiryo"/>
              </a:rPr>
              <a:t>・PDF教材 × 15セット（児童向けワークシート + スタッフ向けガイド）</a:t>
            </a:r>
          </a:p>
          <a:p>
            <a:pPr algn="l">
              <a:lnSpc>
                <a:spcPct val="150000"/>
              </a:lnSpc>
            </a:pPr>
            <a:r>
              <a:rPr sz="1050" b="0">
                <a:solidFill>
                  <a:srgbClr val="1E232D"/>
                </a:solidFill>
                <a:latin typeface="Meiryo"/>
              </a:rPr>
              <a:t>・スタッフ向け運用マニュアル × 1（ワールドの開閉・バックアップ・トラブル対応）</a:t>
            </a:r>
          </a:p>
        </p:txBody>
      </p:sp>
      <p:sp>
        <p:nvSpPr>
          <p:cNvPr id="7" name="Rectangle 6"/>
          <p:cNvSpPr/>
          <p:nvPr/>
        </p:nvSpPr>
        <p:spPr>
          <a:xfrm>
            <a:off x="540000" y="3222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000" y="3168000"/>
            <a:ext cx="6840000" cy="324000"/>
          </a:xfrm>
          <a:prstGeom prst="rect">
            <a:avLst/>
          </a:prstGeom>
          <a:noFill/>
          <a:ln>
            <a:noFill/>
          </a:ln>
        </p:spPr>
        <p:txBody>
          <a:bodyPr wrap="square" lIns="54000" rIns="54000" tIns="36000" bIns="36000" anchor="t">
            <a:spAutoFit/>
          </a:bodyPr>
          <a:lstStyle/>
          <a:p>
            <a:pPr algn="l">
              <a:lnSpc>
                <a:spcPct val="115000"/>
              </a:lnSpc>
            </a:pPr>
            <a:r>
              <a:rPr sz="1400" b="1">
                <a:solidFill>
                  <a:srgbClr val="203A60"/>
                </a:solidFill>
                <a:latin typeface="Meiryo"/>
              </a:rPr>
              <a:t>月次スケジュール概観（2026年4月〜12月）</a:t>
            </a:r>
          </a:p>
        </p:txBody>
      </p:sp>
      <p:sp>
        <p:nvSpPr>
          <p:cNvPr id="9" name="Rectangle 8"/>
          <p:cNvSpPr/>
          <p:nvPr/>
        </p:nvSpPr>
        <p:spPr>
          <a:xfrm>
            <a:off x="540000" y="3528000"/>
            <a:ext cx="270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3528000"/>
            <a:ext cx="2628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FFFFFF"/>
                </a:solidFill>
                <a:latin typeface="Meiryo"/>
              </a:rPr>
              <a:t>フェーズ</a:t>
            </a:r>
          </a:p>
        </p:txBody>
      </p:sp>
      <p:sp>
        <p:nvSpPr>
          <p:cNvPr id="11" name="Rectangle 10"/>
          <p:cNvSpPr/>
          <p:nvPr/>
        </p:nvSpPr>
        <p:spPr>
          <a:xfrm>
            <a:off x="324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4月</a:t>
            </a:r>
          </a:p>
        </p:txBody>
      </p:sp>
      <p:sp>
        <p:nvSpPr>
          <p:cNvPr id="13" name="Rectangle 12"/>
          <p:cNvSpPr/>
          <p:nvPr/>
        </p:nvSpPr>
        <p:spPr>
          <a:xfrm>
            <a:off x="366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6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5月</a:t>
            </a:r>
          </a:p>
        </p:txBody>
      </p:sp>
      <p:sp>
        <p:nvSpPr>
          <p:cNvPr id="15" name="Rectangle 14"/>
          <p:cNvSpPr/>
          <p:nvPr/>
        </p:nvSpPr>
        <p:spPr>
          <a:xfrm>
            <a:off x="408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6月</a:t>
            </a:r>
          </a:p>
        </p:txBody>
      </p:sp>
      <p:sp>
        <p:nvSpPr>
          <p:cNvPr id="17" name="Rectangle 16"/>
          <p:cNvSpPr/>
          <p:nvPr/>
        </p:nvSpPr>
        <p:spPr>
          <a:xfrm>
            <a:off x="450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7月</a:t>
            </a:r>
          </a:p>
        </p:txBody>
      </p:sp>
      <p:sp>
        <p:nvSpPr>
          <p:cNvPr id="19" name="Rectangle 18"/>
          <p:cNvSpPr/>
          <p:nvPr/>
        </p:nvSpPr>
        <p:spPr>
          <a:xfrm>
            <a:off x="492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2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8月</a:t>
            </a:r>
          </a:p>
        </p:txBody>
      </p:sp>
      <p:sp>
        <p:nvSpPr>
          <p:cNvPr id="21" name="Rectangle 20"/>
          <p:cNvSpPr/>
          <p:nvPr/>
        </p:nvSpPr>
        <p:spPr>
          <a:xfrm>
            <a:off x="534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9月</a:t>
            </a:r>
          </a:p>
        </p:txBody>
      </p:sp>
      <p:sp>
        <p:nvSpPr>
          <p:cNvPr id="23" name="Rectangle 22"/>
          <p:cNvSpPr/>
          <p:nvPr/>
        </p:nvSpPr>
        <p:spPr>
          <a:xfrm>
            <a:off x="576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10月</a:t>
            </a:r>
          </a:p>
        </p:txBody>
      </p:sp>
      <p:sp>
        <p:nvSpPr>
          <p:cNvPr id="25" name="Rectangle 24"/>
          <p:cNvSpPr/>
          <p:nvPr/>
        </p:nvSpPr>
        <p:spPr>
          <a:xfrm>
            <a:off x="618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8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11月</a:t>
            </a:r>
          </a:p>
        </p:txBody>
      </p:sp>
      <p:sp>
        <p:nvSpPr>
          <p:cNvPr id="27" name="Rectangle 26"/>
          <p:cNvSpPr/>
          <p:nvPr/>
        </p:nvSpPr>
        <p:spPr>
          <a:xfrm>
            <a:off x="6600000" y="3528000"/>
            <a:ext cx="420000" cy="270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0000" y="3528000"/>
            <a:ext cx="420000" cy="270000"/>
          </a:xfrm>
          <a:prstGeom prst="rect">
            <a:avLst/>
          </a:prstGeom>
          <a:noFill/>
          <a:ln>
            <a:noFill/>
          </a:ln>
        </p:spPr>
        <p:txBody>
          <a:bodyPr wrap="square" lIns="18000" rIns="18000" tIns="36000" bIns="36000" anchor="ctr">
            <a:spAutoFit/>
          </a:bodyPr>
          <a:lstStyle/>
          <a:p>
            <a:pPr algn="ctr">
              <a:lnSpc>
                <a:spcPct val="115000"/>
              </a:lnSpc>
            </a:pPr>
            <a:r>
              <a:rPr sz="950" b="1">
                <a:solidFill>
                  <a:srgbClr val="FFFFFF"/>
                </a:solidFill>
                <a:latin typeface="Meiryo"/>
              </a:rPr>
              <a:t>12月</a:t>
            </a:r>
          </a:p>
        </p:txBody>
      </p:sp>
      <p:sp>
        <p:nvSpPr>
          <p:cNvPr id="29" name="Rectangle 28"/>
          <p:cNvSpPr/>
          <p:nvPr/>
        </p:nvSpPr>
        <p:spPr>
          <a:xfrm>
            <a:off x="540000" y="3798000"/>
            <a:ext cx="270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000" y="379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フェーズ0：方針確定・合意</a:t>
            </a:r>
          </a:p>
        </p:txBody>
      </p:sp>
      <p:sp>
        <p:nvSpPr>
          <p:cNvPr id="31" name="Rectangle 30"/>
          <p:cNvSpPr/>
          <p:nvPr/>
        </p:nvSpPr>
        <p:spPr>
          <a:xfrm>
            <a:off x="3240000" y="379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0000" y="379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080000" y="379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00000" y="379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920000" y="379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340000" y="379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760000" y="379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80000" y="379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600000" y="379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0000" y="4068000"/>
            <a:ext cx="270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000" y="406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フェーズ1：ハブ + 第1ミッション</a:t>
            </a:r>
          </a:p>
        </p:txBody>
      </p:sp>
      <p:sp>
        <p:nvSpPr>
          <p:cNvPr id="42" name="Rectangle 41"/>
          <p:cNvSpPr/>
          <p:nvPr/>
        </p:nvSpPr>
        <p:spPr>
          <a:xfrm>
            <a:off x="3240000" y="406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60000" y="406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080000" y="406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00000" y="406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20000" y="406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340000" y="406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760000" y="406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80000" y="406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600000" y="406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40000" y="4338000"/>
            <a:ext cx="270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2000" y="433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フェーズ2：まち・自然 計6ミッション</a:t>
            </a:r>
          </a:p>
        </p:txBody>
      </p:sp>
      <p:sp>
        <p:nvSpPr>
          <p:cNvPr id="53" name="Rectangle 52"/>
          <p:cNvSpPr/>
          <p:nvPr/>
        </p:nvSpPr>
        <p:spPr>
          <a:xfrm>
            <a:off x="3240000" y="433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60000" y="433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080000" y="433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500000" y="433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920000" y="433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340000" y="433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760000" y="433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0000" y="433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600000" y="433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40000" y="4608000"/>
            <a:ext cx="270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12000" y="460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フェーズ3：もの・ことば 計6ミッション</a:t>
            </a:r>
          </a:p>
        </p:txBody>
      </p:sp>
      <p:sp>
        <p:nvSpPr>
          <p:cNvPr id="64" name="Rectangle 63"/>
          <p:cNvSpPr/>
          <p:nvPr/>
        </p:nvSpPr>
        <p:spPr>
          <a:xfrm>
            <a:off x="3240000" y="460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660000" y="460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080000" y="460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500000" y="460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920000" y="460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340000" y="460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760000" y="460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180000" y="460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600000" y="460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40000" y="4878000"/>
            <a:ext cx="270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2000" y="487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フェーズ4：せかい + ワールド統合</a:t>
            </a:r>
          </a:p>
        </p:txBody>
      </p:sp>
      <p:sp>
        <p:nvSpPr>
          <p:cNvPr id="75" name="Rectangle 74"/>
          <p:cNvSpPr/>
          <p:nvPr/>
        </p:nvSpPr>
        <p:spPr>
          <a:xfrm>
            <a:off x="3240000" y="487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660000" y="487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080000" y="487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500000" y="487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920000" y="487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340000" y="487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760000" y="487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180000" y="487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600000" y="487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40000" y="5148000"/>
            <a:ext cx="270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2000" y="514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フェーズ5：PDF教材 全量仕上げ</a:t>
            </a:r>
          </a:p>
        </p:txBody>
      </p:sp>
      <p:sp>
        <p:nvSpPr>
          <p:cNvPr id="86" name="Rectangle 85"/>
          <p:cNvSpPr/>
          <p:nvPr/>
        </p:nvSpPr>
        <p:spPr>
          <a:xfrm>
            <a:off x="3240000" y="514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3660000" y="514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080000" y="514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500000" y="514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4920000" y="514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340000" y="514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760000" y="514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180000" y="514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600000" y="514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40000" y="5418000"/>
            <a:ext cx="270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12000" y="541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フェーズ6：運用マニュアル + 内部テスト</a:t>
            </a:r>
          </a:p>
        </p:txBody>
      </p:sp>
      <p:sp>
        <p:nvSpPr>
          <p:cNvPr id="97" name="Rectangle 96"/>
          <p:cNvSpPr/>
          <p:nvPr/>
        </p:nvSpPr>
        <p:spPr>
          <a:xfrm>
            <a:off x="3240000" y="541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3660000" y="541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4080000" y="541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4500000" y="541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920000" y="541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340000" y="541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760000" y="541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180000" y="541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600000" y="541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540000" y="5688000"/>
            <a:ext cx="270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12000" y="568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フェーズ7：現場テストプレイ</a:t>
            </a:r>
          </a:p>
        </p:txBody>
      </p:sp>
      <p:sp>
        <p:nvSpPr>
          <p:cNvPr id="108" name="Rectangle 107"/>
          <p:cNvSpPr/>
          <p:nvPr/>
        </p:nvSpPr>
        <p:spPr>
          <a:xfrm>
            <a:off x="3240000" y="568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3660000" y="568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4080000" y="568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4500000" y="568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920000" y="568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340000" y="568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760000" y="568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180000" y="568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600000" y="5688000"/>
            <a:ext cx="420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540000" y="5958000"/>
            <a:ext cx="270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12000" y="5958000"/>
            <a:ext cx="2628000" cy="270000"/>
          </a:xfrm>
          <a:prstGeom prst="rect">
            <a:avLst/>
          </a:prstGeom>
          <a:noFill/>
          <a:ln>
            <a:noFill/>
          </a:ln>
        </p:spPr>
        <p:txBody>
          <a:bodyPr wrap="square" lIns="54000" rIns="54000" tIns="36000" bIns="36000" anchor="ctr">
            <a:spAutoFit/>
          </a:bodyPr>
          <a:lstStyle/>
          <a:p>
            <a:pPr algn="l">
              <a:lnSpc>
                <a:spcPct val="115000"/>
              </a:lnSpc>
            </a:pPr>
            <a:r>
              <a:rPr sz="900" b="0">
                <a:solidFill>
                  <a:srgbClr val="1E232D"/>
                </a:solidFill>
                <a:latin typeface="Meiryo"/>
              </a:rPr>
              <a:t>フェーズ8：最終修正・納品</a:t>
            </a:r>
          </a:p>
        </p:txBody>
      </p:sp>
      <p:sp>
        <p:nvSpPr>
          <p:cNvPr id="119" name="Rectangle 118"/>
          <p:cNvSpPr/>
          <p:nvPr/>
        </p:nvSpPr>
        <p:spPr>
          <a:xfrm>
            <a:off x="3240000" y="595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3660000" y="595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4080000" y="595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4500000" y="595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4920000" y="595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340000" y="595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5760000" y="595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180000" y="5958000"/>
            <a:ext cx="420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6600000" y="5958000"/>
            <a:ext cx="420000" cy="270000"/>
          </a:xfrm>
          <a:prstGeom prst="rect">
            <a:avLst/>
          </a:prstGeom>
          <a:solidFill>
            <a:srgbClr val="D28C32"/>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40000" y="6415200"/>
            <a:ext cx="216000" cy="144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828000" y="6372000"/>
            <a:ext cx="5760000" cy="251999"/>
          </a:xfrm>
          <a:prstGeom prst="rect">
            <a:avLst/>
          </a:prstGeom>
          <a:noFill/>
          <a:ln>
            <a:noFill/>
          </a:ln>
        </p:spPr>
        <p:txBody>
          <a:bodyPr wrap="square" lIns="54000" rIns="54000" tIns="36000" bIns="36000" anchor="ctr">
            <a:spAutoFit/>
          </a:bodyPr>
          <a:lstStyle/>
          <a:p>
            <a:pPr algn="l">
              <a:lnSpc>
                <a:spcPct val="115000"/>
              </a:lnSpc>
            </a:pPr>
            <a:r>
              <a:rPr sz="900" b="0">
                <a:solidFill>
                  <a:srgbClr val="6E7682"/>
                </a:solidFill>
                <a:latin typeface="Meiryo"/>
              </a:rPr>
              <a:t>＝ 当該フェーズの主担当期間（前後フェーズとは一部オーバーラップして進行）</a:t>
            </a:r>
          </a:p>
        </p:txBody>
      </p:sp>
      <p:sp>
        <p:nvSpPr>
          <p:cNvPr id="130" name="Rectangle 129"/>
          <p:cNvSpPr/>
          <p:nvPr/>
        </p:nvSpPr>
        <p:spPr>
          <a:xfrm>
            <a:off x="540000" y="6786000"/>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648000" y="6732000"/>
            <a:ext cx="6840000" cy="324000"/>
          </a:xfrm>
          <a:prstGeom prst="rect">
            <a:avLst/>
          </a:prstGeom>
          <a:noFill/>
          <a:ln>
            <a:noFill/>
          </a:ln>
        </p:spPr>
        <p:txBody>
          <a:bodyPr wrap="square" lIns="54000" rIns="54000" tIns="36000" bIns="36000" anchor="t">
            <a:spAutoFit/>
          </a:bodyPr>
          <a:lstStyle/>
          <a:p>
            <a:pPr algn="l">
              <a:lnSpc>
                <a:spcPct val="115000"/>
              </a:lnSpc>
            </a:pPr>
            <a:r>
              <a:rPr sz="1400" b="1">
                <a:solidFill>
                  <a:srgbClr val="203A60"/>
                </a:solidFill>
                <a:latin typeface="Meiryo"/>
              </a:rPr>
              <a:t>2つのマイルストーン</a:t>
            </a:r>
          </a:p>
        </p:txBody>
      </p:sp>
      <p:sp>
        <p:nvSpPr>
          <p:cNvPr id="132" name="Rectangle 131"/>
          <p:cNvSpPr/>
          <p:nvPr/>
        </p:nvSpPr>
        <p:spPr>
          <a:xfrm>
            <a:off x="540000" y="7092000"/>
            <a:ext cx="3168000" cy="108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852000" y="7092000"/>
            <a:ext cx="3168000" cy="108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48000" y="7128000"/>
            <a:ext cx="2952000" cy="251999"/>
          </a:xfrm>
          <a:prstGeom prst="rect">
            <a:avLst/>
          </a:prstGeom>
          <a:noFill/>
          <a:ln>
            <a:noFill/>
          </a:ln>
        </p:spPr>
        <p:txBody>
          <a:bodyPr wrap="square" lIns="54000" rIns="54000" tIns="36000" bIns="36000" anchor="t">
            <a:spAutoFit/>
          </a:bodyPr>
          <a:lstStyle/>
          <a:p>
            <a:pPr algn="l">
              <a:lnSpc>
                <a:spcPct val="115000"/>
              </a:lnSpc>
            </a:pPr>
            <a:r>
              <a:rPr sz="1100" b="1">
                <a:solidFill>
                  <a:srgbClr val="203A60"/>
                </a:solidFill>
                <a:latin typeface="Meiryo"/>
              </a:rPr>
              <a:t>① ワールド完成（2026年8月末）</a:t>
            </a:r>
          </a:p>
        </p:txBody>
      </p:sp>
      <p:sp>
        <p:nvSpPr>
          <p:cNvPr id="135" name="TextBox 134"/>
          <p:cNvSpPr txBox="1"/>
          <p:nvPr/>
        </p:nvSpPr>
        <p:spPr>
          <a:xfrm>
            <a:off x="648000" y="7416000"/>
            <a:ext cx="2952000" cy="720000"/>
          </a:xfrm>
          <a:prstGeom prst="rect">
            <a:avLst/>
          </a:prstGeom>
          <a:noFill/>
          <a:ln>
            <a:noFill/>
          </a:ln>
        </p:spPr>
        <p:txBody>
          <a:bodyPr wrap="square" lIns="54000" rIns="54000" tIns="36000" bIns="36000" anchor="t">
            <a:spAutoFit/>
          </a:bodyPr>
          <a:lstStyle/>
          <a:p>
            <a:pPr algn="l">
              <a:lnSpc>
                <a:spcPct val="140000"/>
              </a:lnSpc>
            </a:pPr>
            <a:r>
              <a:rPr sz="1000" b="0">
                <a:solidFill>
                  <a:srgbClr val="1E232D"/>
                </a:solidFill>
                <a:latin typeface="Meiryo"/>
              </a:rPr>
              <a:t>全15ミッション + ハブ拠点を収録した .mcworld を完成。</a:t>
            </a:r>
          </a:p>
          <a:p>
            <a:pPr algn="l">
              <a:lnSpc>
                <a:spcPct val="140000"/>
              </a:lnSpc>
            </a:pPr>
            <a:r>
              <a:rPr sz="1000" b="0">
                <a:solidFill>
                  <a:srgbClr val="1E232D"/>
                </a:solidFill>
                <a:latin typeface="Meiryo"/>
              </a:rPr>
              <a:t>クライアント様とのレビューを経て、ワールド単体の動作を確定。</a:t>
            </a:r>
          </a:p>
        </p:txBody>
      </p:sp>
      <p:sp>
        <p:nvSpPr>
          <p:cNvPr id="136" name="TextBox 135"/>
          <p:cNvSpPr txBox="1"/>
          <p:nvPr/>
        </p:nvSpPr>
        <p:spPr>
          <a:xfrm>
            <a:off x="3960000" y="7128000"/>
            <a:ext cx="2952000" cy="251999"/>
          </a:xfrm>
          <a:prstGeom prst="rect">
            <a:avLst/>
          </a:prstGeom>
          <a:noFill/>
          <a:ln>
            <a:noFill/>
          </a:ln>
        </p:spPr>
        <p:txBody>
          <a:bodyPr wrap="square" lIns="54000" rIns="54000" tIns="36000" bIns="36000" anchor="t">
            <a:spAutoFit/>
          </a:bodyPr>
          <a:lstStyle/>
          <a:p>
            <a:pPr algn="l">
              <a:lnSpc>
                <a:spcPct val="115000"/>
              </a:lnSpc>
            </a:pPr>
            <a:r>
              <a:rPr sz="1100" b="1">
                <a:solidFill>
                  <a:srgbClr val="203A60"/>
                </a:solidFill>
                <a:latin typeface="Meiryo"/>
              </a:rPr>
              <a:t>② プロジェクト完了（2026年12月末）</a:t>
            </a:r>
          </a:p>
        </p:txBody>
      </p:sp>
      <p:sp>
        <p:nvSpPr>
          <p:cNvPr id="137" name="TextBox 136"/>
          <p:cNvSpPr txBox="1"/>
          <p:nvPr/>
        </p:nvSpPr>
        <p:spPr>
          <a:xfrm>
            <a:off x="3960000" y="7416000"/>
            <a:ext cx="2952000" cy="720000"/>
          </a:xfrm>
          <a:prstGeom prst="rect">
            <a:avLst/>
          </a:prstGeom>
          <a:noFill/>
          <a:ln>
            <a:noFill/>
          </a:ln>
        </p:spPr>
        <p:txBody>
          <a:bodyPr wrap="square" lIns="54000" rIns="54000" tIns="36000" bIns="36000" anchor="t">
            <a:spAutoFit/>
          </a:bodyPr>
          <a:lstStyle/>
          <a:p>
            <a:pPr algn="l">
              <a:lnSpc>
                <a:spcPct val="140000"/>
              </a:lnSpc>
            </a:pPr>
            <a:r>
              <a:rPr sz="1000" b="0">
                <a:solidFill>
                  <a:srgbClr val="1E232D"/>
                </a:solidFill>
                <a:latin typeface="Meiryo"/>
              </a:rPr>
              <a:t>PDF教材15セット + 運用マニュアル の仕上げと、</a:t>
            </a:r>
          </a:p>
          <a:p>
            <a:pPr algn="l">
              <a:lnSpc>
                <a:spcPct val="140000"/>
              </a:lnSpc>
            </a:pPr>
            <a:r>
              <a:rPr sz="1000" b="0">
                <a:solidFill>
                  <a:srgbClr val="1E232D"/>
                </a:solidFill>
                <a:latin typeface="Meiryo"/>
              </a:rPr>
              <a:t>スタッフ・児童によるテストプレイの反映を経て最終納品。</a:t>
            </a:r>
          </a:p>
        </p:txBody>
      </p:sp>
      <p:sp>
        <p:nvSpPr>
          <p:cNvPr id="138" name="TextBox 137"/>
          <p:cNvSpPr txBox="1"/>
          <p:nvPr/>
        </p:nvSpPr>
        <p:spPr>
          <a:xfrm>
            <a:off x="540000" y="10332000"/>
            <a:ext cx="6480000" cy="216000"/>
          </a:xfrm>
          <a:prstGeom prst="rect">
            <a:avLst/>
          </a:prstGeom>
          <a:noFill/>
          <a:ln>
            <a:noFill/>
          </a:ln>
        </p:spPr>
        <p:txBody>
          <a:bodyPr wrap="square" lIns="54000" rIns="54000" tIns="36000" bIns="36000" anchor="t">
            <a:spAutoFit/>
          </a:bodyPr>
          <a:lstStyle/>
          <a:p>
            <a:pPr algn="ctr">
              <a:lnSpc>
                <a:spcPct val="115000"/>
              </a:lnSpc>
            </a:pPr>
            <a:r>
              <a:rPr sz="800" b="0">
                <a:solidFill>
                  <a:srgbClr val="6E7682"/>
                </a:solidFill>
                <a:latin typeface="Meiryo"/>
              </a:rPr>
              <a:t>ワンライフ様 Minecraft学習コンテンツ 完成計画書    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432000"/>
            <a:ext cx="6480000" cy="360000"/>
          </a:xfrm>
          <a:prstGeom prst="rect">
            <a:avLst/>
          </a:prstGeom>
          <a:noFill/>
          <a:ln>
            <a:noFill/>
          </a:ln>
        </p:spPr>
        <p:txBody>
          <a:bodyPr wrap="square" lIns="54000" rIns="54000" tIns="36000" bIns="36000" anchor="t">
            <a:spAutoFit/>
          </a:bodyPr>
          <a:lstStyle/>
          <a:p>
            <a:pPr algn="l">
              <a:lnSpc>
                <a:spcPct val="115000"/>
              </a:lnSpc>
            </a:pPr>
            <a:r>
              <a:rPr sz="1800" b="1">
                <a:solidFill>
                  <a:srgbClr val="203A60"/>
                </a:solidFill>
                <a:latin typeface="Meiryo"/>
              </a:rPr>
              <a:t>2. フェーズ別 詳細スケジュール（前半：4月〜8月）</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0000" y="1080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000" y="1080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フェーズ0｜方針確定・クライアント合意</a:t>
            </a:r>
          </a:p>
        </p:txBody>
      </p:sp>
      <p:sp>
        <p:nvSpPr>
          <p:cNvPr id="6" name="Rectangle 5"/>
          <p:cNvSpPr/>
          <p:nvPr/>
        </p:nvSpPr>
        <p:spPr>
          <a:xfrm>
            <a:off x="540000" y="1386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000" y="1386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8" name="Rectangle 7"/>
          <p:cNvSpPr/>
          <p:nvPr/>
        </p:nvSpPr>
        <p:spPr>
          <a:xfrm>
            <a:off x="1296000" y="1386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68000" y="1386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2026年4月21日 〜 4月30日（約1.5週）</a:t>
            </a:r>
          </a:p>
        </p:txBody>
      </p:sp>
      <p:sp>
        <p:nvSpPr>
          <p:cNvPr id="10" name="Rectangle 9"/>
          <p:cNvSpPr/>
          <p:nvPr/>
        </p:nvSpPr>
        <p:spPr>
          <a:xfrm>
            <a:off x="540000" y="1656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000" y="1656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12" name="Rectangle 11"/>
          <p:cNvSpPr/>
          <p:nvPr/>
        </p:nvSpPr>
        <p:spPr>
          <a:xfrm>
            <a:off x="1296000" y="1656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8000" y="1656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ミッション型構成・スコープについて合意し、開発着手の前提を揃える。</a:t>
            </a:r>
          </a:p>
        </p:txBody>
      </p:sp>
      <p:sp>
        <p:nvSpPr>
          <p:cNvPr id="14" name="Rectangle 13"/>
          <p:cNvSpPr/>
          <p:nvPr/>
        </p:nvSpPr>
        <p:spPr>
          <a:xfrm>
            <a:off x="540000" y="1926000"/>
            <a:ext cx="756000" cy="100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000" y="1926000"/>
            <a:ext cx="684000" cy="100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16" name="Rectangle 15"/>
          <p:cNvSpPr/>
          <p:nvPr/>
        </p:nvSpPr>
        <p:spPr>
          <a:xfrm>
            <a:off x="1296000" y="1926000"/>
            <a:ext cx="5724000" cy="100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68000" y="1926000"/>
            <a:ext cx="5616000" cy="100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・本計画書・方針すり合わせ資料に基づくご確認と承認取得</a:t>
            </a:r>
          </a:p>
          <a:p>
            <a:pPr algn="l">
              <a:lnSpc>
                <a:spcPct val="130000"/>
              </a:lnSpc>
            </a:pPr>
            <a:r>
              <a:rPr sz="950" b="0">
                <a:solidFill>
                  <a:srgbClr val="1E232D"/>
                </a:solidFill>
                <a:latin typeface="Meiryo"/>
              </a:rPr>
              <a:t>・ミッション名称（15本）の最終確定</a:t>
            </a:r>
          </a:p>
          <a:p>
            <a:pPr algn="l">
              <a:lnSpc>
                <a:spcPct val="130000"/>
              </a:lnSpc>
            </a:pPr>
            <a:r>
              <a:rPr sz="950" b="0">
                <a:solidFill>
                  <a:srgbClr val="1E232D"/>
                </a:solidFill>
                <a:latin typeface="Meiryo"/>
              </a:rPr>
              <a:t>・MakeCodeの位置づけ（段階導入／必須／お任せ）の決定</a:t>
            </a:r>
          </a:p>
          <a:p>
            <a:pPr algn="l">
              <a:lnSpc>
                <a:spcPct val="130000"/>
              </a:lnSpc>
            </a:pPr>
            <a:r>
              <a:rPr sz="950" b="0">
                <a:solidFill>
                  <a:srgbClr val="1E232D"/>
                </a:solidFill>
                <a:latin typeface="Meiryo"/>
              </a:rPr>
              <a:t>・「せかいをのぞこう（海外都市）」の今回スコープ可否の決定</a:t>
            </a:r>
          </a:p>
          <a:p>
            <a:pPr algn="l">
              <a:lnSpc>
                <a:spcPct val="130000"/>
              </a:lnSpc>
            </a:pPr>
            <a:r>
              <a:rPr sz="950" b="0">
                <a:solidFill>
                  <a:srgbClr val="1E232D"/>
                </a:solidFill>
                <a:latin typeface="Meiryo"/>
              </a:rPr>
              <a:t>・ハブ拠点の舞台地コンセプトの決定</a:t>
            </a:r>
          </a:p>
        </p:txBody>
      </p:sp>
      <p:sp>
        <p:nvSpPr>
          <p:cNvPr id="18" name="Rectangle 17"/>
          <p:cNvSpPr/>
          <p:nvPr/>
        </p:nvSpPr>
        <p:spPr>
          <a:xfrm>
            <a:off x="540000" y="2934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000" y="2934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20" name="Rectangle 19"/>
          <p:cNvSpPr/>
          <p:nvPr/>
        </p:nvSpPr>
        <p:spPr>
          <a:xfrm>
            <a:off x="1296000" y="2934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68000" y="2934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ご承認済み要件定義書（第6版）</a:t>
            </a:r>
          </a:p>
        </p:txBody>
      </p:sp>
      <p:sp>
        <p:nvSpPr>
          <p:cNvPr id="22" name="Rectangle 21"/>
          <p:cNvSpPr/>
          <p:nvPr/>
        </p:nvSpPr>
        <p:spPr>
          <a:xfrm>
            <a:off x="540000" y="3294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000" y="3294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フェーズ1｜ハブ拠点 + 第1ミッション（品質基準の確立）</a:t>
            </a:r>
          </a:p>
        </p:txBody>
      </p:sp>
      <p:sp>
        <p:nvSpPr>
          <p:cNvPr id="24" name="Rectangle 23"/>
          <p:cNvSpPr/>
          <p:nvPr/>
        </p:nvSpPr>
        <p:spPr>
          <a:xfrm>
            <a:off x="540000" y="3600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000" y="3600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26" name="Rectangle 25"/>
          <p:cNvSpPr/>
          <p:nvPr/>
        </p:nvSpPr>
        <p:spPr>
          <a:xfrm>
            <a:off x="1296000" y="3600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68000" y="3600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2026年5月1日 〜 5月31日（約4週）</a:t>
            </a:r>
          </a:p>
        </p:txBody>
      </p:sp>
      <p:sp>
        <p:nvSpPr>
          <p:cNvPr id="28" name="Rectangle 27"/>
          <p:cNvSpPr/>
          <p:nvPr/>
        </p:nvSpPr>
        <p:spPr>
          <a:xfrm>
            <a:off x="540000" y="3870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000" y="3870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30" name="Rectangle 29"/>
          <p:cNvSpPr/>
          <p:nvPr/>
        </p:nvSpPr>
        <p:spPr>
          <a:xfrm>
            <a:off x="1296000" y="3870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68000" y="3870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完成形の型を1本作り、以降の横展開用テンプレートを固める。</a:t>
            </a:r>
          </a:p>
        </p:txBody>
      </p:sp>
      <p:sp>
        <p:nvSpPr>
          <p:cNvPr id="32" name="Rectangle 31"/>
          <p:cNvSpPr/>
          <p:nvPr/>
        </p:nvSpPr>
        <p:spPr>
          <a:xfrm>
            <a:off x="540000" y="4140000"/>
            <a:ext cx="756000" cy="100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000" y="4140000"/>
            <a:ext cx="684000" cy="100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34" name="Rectangle 33"/>
          <p:cNvSpPr/>
          <p:nvPr/>
        </p:nvSpPr>
        <p:spPr>
          <a:xfrm>
            <a:off x="1296000" y="4140000"/>
            <a:ext cx="5724000" cy="100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68000" y="4140000"/>
            <a:ext cx="5616000" cy="100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・ハブ拠点：チュートリアル神殿／5ゲート／マイルーム／テレポート機構</a:t>
            </a:r>
          </a:p>
          <a:p>
            <a:pPr algn="l">
              <a:lnSpc>
                <a:spcPct val="130000"/>
              </a:lnSpc>
            </a:pPr>
            <a:r>
              <a:rPr sz="950" b="0">
                <a:solidFill>
                  <a:srgbClr val="1E232D"/>
                </a:solidFill>
                <a:latin typeface="Meiryo"/>
              </a:rPr>
              <a:t>・「まちをつくろう／やさしい：公園に花壇を設計しよう」完成</a:t>
            </a:r>
          </a:p>
          <a:p>
            <a:pPr algn="l">
              <a:lnSpc>
                <a:spcPct val="130000"/>
              </a:lnSpc>
            </a:pPr>
            <a:r>
              <a:rPr sz="950" b="0">
                <a:solidFill>
                  <a:srgbClr val="1E232D"/>
                </a:solidFill>
                <a:latin typeface="Meiryo"/>
              </a:rPr>
              <a:t>・探求学習9ステップを全実装し、動作確認</a:t>
            </a:r>
          </a:p>
          <a:p>
            <a:pPr algn="l">
              <a:lnSpc>
                <a:spcPct val="130000"/>
              </a:lnSpc>
            </a:pPr>
            <a:r>
              <a:rPr sz="950" b="0">
                <a:solidFill>
                  <a:srgbClr val="1E232D"/>
                </a:solidFill>
                <a:latin typeface="Meiryo"/>
              </a:rPr>
              <a:t>・PDF教材テンプレート策定 + 第1号ドラフト作成</a:t>
            </a:r>
          </a:p>
          <a:p>
            <a:pPr algn="l">
              <a:lnSpc>
                <a:spcPct val="130000"/>
              </a:lnSpc>
            </a:pPr>
            <a:r>
              <a:rPr sz="950" b="0">
                <a:solidFill>
                  <a:srgbClr val="1E232D"/>
                </a:solidFill>
                <a:latin typeface="Meiryo"/>
              </a:rPr>
              <a:t>・試作版をクライアント様に共有・フィードバック取得</a:t>
            </a:r>
          </a:p>
        </p:txBody>
      </p:sp>
      <p:sp>
        <p:nvSpPr>
          <p:cNvPr id="36" name="Rectangle 35"/>
          <p:cNvSpPr/>
          <p:nvPr/>
        </p:nvSpPr>
        <p:spPr>
          <a:xfrm>
            <a:off x="540000" y="5148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000" y="5148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38" name="Rectangle 37"/>
          <p:cNvSpPr/>
          <p:nvPr/>
        </p:nvSpPr>
        <p:spPr>
          <a:xfrm>
            <a:off x="1296000" y="5148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68000" y="5148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試作ワールド（ハブ + 第1ミッション）、PDF教材テンプレ + サンプル1セット</a:t>
            </a:r>
          </a:p>
        </p:txBody>
      </p:sp>
      <p:sp>
        <p:nvSpPr>
          <p:cNvPr id="40" name="Rectangle 39"/>
          <p:cNvSpPr/>
          <p:nvPr/>
        </p:nvSpPr>
        <p:spPr>
          <a:xfrm>
            <a:off x="540000" y="5508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000" y="5508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フェーズ2｜「まちをつくろう」「自然を探ろう」完成</a:t>
            </a:r>
          </a:p>
        </p:txBody>
      </p:sp>
      <p:sp>
        <p:nvSpPr>
          <p:cNvPr id="42" name="Rectangle 41"/>
          <p:cNvSpPr/>
          <p:nvPr/>
        </p:nvSpPr>
        <p:spPr>
          <a:xfrm>
            <a:off x="540000" y="5814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000" y="5814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44" name="Rectangle 43"/>
          <p:cNvSpPr/>
          <p:nvPr/>
        </p:nvSpPr>
        <p:spPr>
          <a:xfrm>
            <a:off x="1296000" y="5814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68000" y="5814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2026年6月1日 〜 6月30日（約4週）</a:t>
            </a:r>
          </a:p>
        </p:txBody>
      </p:sp>
      <p:sp>
        <p:nvSpPr>
          <p:cNvPr id="46" name="Rectangle 45"/>
          <p:cNvSpPr/>
          <p:nvPr/>
        </p:nvSpPr>
        <p:spPr>
          <a:xfrm>
            <a:off x="540000" y="6084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000" y="6084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48" name="Rectangle 47"/>
          <p:cNvSpPr/>
          <p:nvPr/>
        </p:nvSpPr>
        <p:spPr>
          <a:xfrm>
            <a:off x="1296000" y="6084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68000" y="6084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2カテゴリ×3難易度（計6ミッション）を完成させ、ワールドの半分を仕上げる。</a:t>
            </a:r>
          </a:p>
        </p:txBody>
      </p:sp>
      <p:sp>
        <p:nvSpPr>
          <p:cNvPr id="50" name="Rectangle 49"/>
          <p:cNvSpPr/>
          <p:nvPr/>
        </p:nvSpPr>
        <p:spPr>
          <a:xfrm>
            <a:off x="540000" y="6354000"/>
            <a:ext cx="756000" cy="82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000" y="6354000"/>
            <a:ext cx="684000" cy="82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52" name="Rectangle 51"/>
          <p:cNvSpPr/>
          <p:nvPr/>
        </p:nvSpPr>
        <p:spPr>
          <a:xfrm>
            <a:off x="1296000" y="6354000"/>
            <a:ext cx="5724000" cy="82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368000" y="6354000"/>
            <a:ext cx="5616000" cy="82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・まちをつくろう（ふつう：駅前広場リデザイン／むずかしい：商店街再開発）</a:t>
            </a:r>
          </a:p>
          <a:p>
            <a:pPr algn="l">
              <a:lnSpc>
                <a:spcPct val="130000"/>
              </a:lnSpc>
            </a:pPr>
            <a:r>
              <a:rPr sz="950" b="0">
                <a:solidFill>
                  <a:srgbClr val="1E232D"/>
                </a:solidFill>
                <a:latin typeface="Meiryo"/>
              </a:rPr>
              <a:t>・自然を探ろう（易：赤城山観察／中：利根川の洪水対策／上：気候と農業）</a:t>
            </a:r>
          </a:p>
          <a:p>
            <a:pPr algn="l">
              <a:lnSpc>
                <a:spcPct val="130000"/>
              </a:lnSpc>
            </a:pPr>
            <a:r>
              <a:rPr sz="950" b="0">
                <a:solidFill>
                  <a:srgbClr val="1E232D"/>
                </a:solidFill>
                <a:latin typeface="Meiryo"/>
              </a:rPr>
              <a:t>・各ミッションのPDF教材ドラフト（計6セット）作成</a:t>
            </a:r>
          </a:p>
          <a:p>
            <a:pPr algn="l">
              <a:lnSpc>
                <a:spcPct val="130000"/>
              </a:lnSpc>
            </a:pPr>
            <a:r>
              <a:rPr sz="950" b="0">
                <a:solidFill>
                  <a:srgbClr val="1E232D"/>
                </a:solidFill>
                <a:latin typeface="Meiryo"/>
              </a:rPr>
              <a:t>・ハブ⇔各ミッションのテレポート・戻り動線 全体テスト</a:t>
            </a:r>
          </a:p>
        </p:txBody>
      </p:sp>
      <p:sp>
        <p:nvSpPr>
          <p:cNvPr id="54" name="Rectangle 53"/>
          <p:cNvSpPr/>
          <p:nvPr/>
        </p:nvSpPr>
        <p:spPr>
          <a:xfrm>
            <a:off x="540000" y="7182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000" y="7182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56" name="Rectangle 55"/>
          <p:cNvSpPr/>
          <p:nvPr/>
        </p:nvSpPr>
        <p:spPr>
          <a:xfrm>
            <a:off x="1296000" y="7182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68000" y="7182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6ミッション完成版、PDF教材ドラフト 6セット</a:t>
            </a:r>
          </a:p>
        </p:txBody>
      </p:sp>
      <p:sp>
        <p:nvSpPr>
          <p:cNvPr id="58" name="Rectangle 57"/>
          <p:cNvSpPr/>
          <p:nvPr/>
        </p:nvSpPr>
        <p:spPr>
          <a:xfrm>
            <a:off x="540000" y="7542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000" y="7542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フェーズ3｜「ものをつくろう」「ことばで伝えよう」完成</a:t>
            </a:r>
          </a:p>
        </p:txBody>
      </p:sp>
      <p:sp>
        <p:nvSpPr>
          <p:cNvPr id="60" name="Rectangle 59"/>
          <p:cNvSpPr/>
          <p:nvPr/>
        </p:nvSpPr>
        <p:spPr>
          <a:xfrm>
            <a:off x="540000" y="7848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000" y="7848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62" name="Rectangle 61"/>
          <p:cNvSpPr/>
          <p:nvPr/>
        </p:nvSpPr>
        <p:spPr>
          <a:xfrm>
            <a:off x="1296000" y="7848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368000" y="7848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2026年7月1日 〜 7月31日（約4週）</a:t>
            </a:r>
          </a:p>
        </p:txBody>
      </p:sp>
      <p:sp>
        <p:nvSpPr>
          <p:cNvPr id="64" name="Rectangle 63"/>
          <p:cNvSpPr/>
          <p:nvPr/>
        </p:nvSpPr>
        <p:spPr>
          <a:xfrm>
            <a:off x="540000" y="8118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000" y="8118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66" name="Rectangle 65"/>
          <p:cNvSpPr/>
          <p:nvPr/>
        </p:nvSpPr>
        <p:spPr>
          <a:xfrm>
            <a:off x="1296000" y="8118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368000" y="8118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残り2カテゴリを完成させ、国内向け12ミッションを揃える。</a:t>
            </a:r>
          </a:p>
        </p:txBody>
      </p:sp>
      <p:sp>
        <p:nvSpPr>
          <p:cNvPr id="68" name="Rectangle 67"/>
          <p:cNvSpPr/>
          <p:nvPr/>
        </p:nvSpPr>
        <p:spPr>
          <a:xfrm>
            <a:off x="540000" y="8388000"/>
            <a:ext cx="756000" cy="64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4000" y="8388000"/>
            <a:ext cx="684000" cy="64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70" name="Rectangle 69"/>
          <p:cNvSpPr/>
          <p:nvPr/>
        </p:nvSpPr>
        <p:spPr>
          <a:xfrm>
            <a:off x="1296000" y="8388000"/>
            <a:ext cx="5724000" cy="64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368000" y="8388000"/>
            <a:ext cx="5616000" cy="64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・ものをつくろう（易：木の橋／中：耐震住宅／上：太陽光発電建物）</a:t>
            </a:r>
          </a:p>
          <a:p>
            <a:pPr algn="l">
              <a:lnSpc>
                <a:spcPct val="130000"/>
              </a:lnSpc>
            </a:pPr>
            <a:r>
              <a:rPr sz="950" b="0">
                <a:solidFill>
                  <a:srgbClr val="1E232D"/>
                </a:solidFill>
                <a:latin typeface="Meiryo"/>
              </a:rPr>
              <a:t>・ことばで伝えよう（易：案内看板／中：観光マップ／上：市長への提案書）</a:t>
            </a:r>
          </a:p>
          <a:p>
            <a:pPr algn="l">
              <a:lnSpc>
                <a:spcPct val="130000"/>
              </a:lnSpc>
            </a:pPr>
            <a:r>
              <a:rPr sz="950" b="0">
                <a:solidFill>
                  <a:srgbClr val="1E232D"/>
                </a:solidFill>
                <a:latin typeface="Meiryo"/>
              </a:rPr>
              <a:t>・各ミッションのPDF教材ドラフト（計6セット）作成</a:t>
            </a:r>
          </a:p>
        </p:txBody>
      </p:sp>
      <p:sp>
        <p:nvSpPr>
          <p:cNvPr id="72" name="Rectangle 71"/>
          <p:cNvSpPr/>
          <p:nvPr/>
        </p:nvSpPr>
        <p:spPr>
          <a:xfrm>
            <a:off x="540000" y="9036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4000" y="9036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74" name="Rectangle 73"/>
          <p:cNvSpPr/>
          <p:nvPr/>
        </p:nvSpPr>
        <p:spPr>
          <a:xfrm>
            <a:off x="1296000" y="9036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368000" y="9036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6ミッション完成版、PDF教材ドラフト 6セット</a:t>
            </a:r>
          </a:p>
        </p:txBody>
      </p:sp>
      <p:sp>
        <p:nvSpPr>
          <p:cNvPr id="76" name="Rectangle 75"/>
          <p:cNvSpPr/>
          <p:nvPr/>
        </p:nvSpPr>
        <p:spPr>
          <a:xfrm>
            <a:off x="540000" y="9396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30000" y="9396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フェーズ4｜「せかいをのぞこう」完成 + ワールド統合 ★ワールド完成</a:t>
            </a:r>
          </a:p>
        </p:txBody>
      </p:sp>
      <p:sp>
        <p:nvSpPr>
          <p:cNvPr id="78" name="Rectangle 77"/>
          <p:cNvSpPr/>
          <p:nvPr/>
        </p:nvSpPr>
        <p:spPr>
          <a:xfrm>
            <a:off x="540000" y="9702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94000" y="9702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80" name="Rectangle 79"/>
          <p:cNvSpPr/>
          <p:nvPr/>
        </p:nvSpPr>
        <p:spPr>
          <a:xfrm>
            <a:off x="1296000" y="9702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368000" y="9702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2026年8月1日 〜 8月31日（約4週）</a:t>
            </a:r>
          </a:p>
        </p:txBody>
      </p:sp>
      <p:sp>
        <p:nvSpPr>
          <p:cNvPr id="82" name="Rectangle 81"/>
          <p:cNvSpPr/>
          <p:nvPr/>
        </p:nvSpPr>
        <p:spPr>
          <a:xfrm>
            <a:off x="540000" y="9972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4000" y="9972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84" name="Rectangle 83"/>
          <p:cNvSpPr/>
          <p:nvPr/>
        </p:nvSpPr>
        <p:spPr>
          <a:xfrm>
            <a:off x="1296000" y="9972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368000" y="9972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最後のカテゴリを仕上げ、全ミッションを統合した .mcworld を完成させる。</a:t>
            </a:r>
          </a:p>
        </p:txBody>
      </p:sp>
      <p:sp>
        <p:nvSpPr>
          <p:cNvPr id="86" name="Rectangle 85"/>
          <p:cNvSpPr/>
          <p:nvPr/>
        </p:nvSpPr>
        <p:spPr>
          <a:xfrm>
            <a:off x="540000" y="10242000"/>
            <a:ext cx="756000" cy="82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94000" y="10242000"/>
            <a:ext cx="684000" cy="82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88" name="Rectangle 87"/>
          <p:cNvSpPr/>
          <p:nvPr/>
        </p:nvSpPr>
        <p:spPr>
          <a:xfrm>
            <a:off x="1296000" y="10242000"/>
            <a:ext cx="5724000" cy="82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368000" y="10242000"/>
            <a:ext cx="5616000" cy="82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・せかいをのぞこう（易：他都市比較／中：ロンドン／上：NYC × 前橋）</a:t>
            </a:r>
          </a:p>
          <a:p>
            <a:pPr algn="l">
              <a:lnSpc>
                <a:spcPct val="130000"/>
              </a:lnSpc>
            </a:pPr>
            <a:r>
              <a:rPr sz="950" b="0">
                <a:solidFill>
                  <a:srgbClr val="1E232D"/>
                </a:solidFill>
                <a:latin typeface="Meiryo"/>
              </a:rPr>
              <a:t>・PDF教材ドラフト 残り3セット作成</a:t>
            </a:r>
          </a:p>
          <a:p>
            <a:pPr algn="l">
              <a:lnSpc>
                <a:spcPct val="130000"/>
              </a:lnSpc>
            </a:pPr>
            <a:r>
              <a:rPr sz="950" b="0">
                <a:solidFill>
                  <a:srgbClr val="1E232D"/>
                </a:solidFill>
                <a:latin typeface="Meiryo"/>
              </a:rPr>
              <a:t>・全15ミッションの統合テスト、.mcworld ファイルサイズ最終確認</a:t>
            </a:r>
          </a:p>
          <a:p>
            <a:pPr algn="l">
              <a:lnSpc>
                <a:spcPct val="130000"/>
              </a:lnSpc>
            </a:pPr>
            <a:r>
              <a:rPr sz="950" b="0">
                <a:solidFill>
                  <a:srgbClr val="1E232D"/>
                </a:solidFill>
                <a:latin typeface="Meiryo"/>
              </a:rPr>
              <a:t>・クライアント様にワールド完成版をご報告・中間レビュー</a:t>
            </a:r>
          </a:p>
        </p:txBody>
      </p:sp>
      <p:sp>
        <p:nvSpPr>
          <p:cNvPr id="90" name="Rectangle 89"/>
          <p:cNvSpPr/>
          <p:nvPr/>
        </p:nvSpPr>
        <p:spPr>
          <a:xfrm>
            <a:off x="540000" y="11070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94000" y="11070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92" name="Rectangle 91"/>
          <p:cNvSpPr/>
          <p:nvPr/>
        </p:nvSpPr>
        <p:spPr>
          <a:xfrm>
            <a:off x="1296000" y="11070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368000" y="11070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 Minecraftワールド完成版（.mcworld × 1、全15ミッション収録）</a:t>
            </a:r>
          </a:p>
        </p:txBody>
      </p:sp>
      <p:sp>
        <p:nvSpPr>
          <p:cNvPr id="94" name="TextBox 93"/>
          <p:cNvSpPr txBox="1"/>
          <p:nvPr/>
        </p:nvSpPr>
        <p:spPr>
          <a:xfrm>
            <a:off x="540000" y="10332000"/>
            <a:ext cx="6480000" cy="216000"/>
          </a:xfrm>
          <a:prstGeom prst="rect">
            <a:avLst/>
          </a:prstGeom>
          <a:noFill/>
          <a:ln>
            <a:noFill/>
          </a:ln>
        </p:spPr>
        <p:txBody>
          <a:bodyPr wrap="square" lIns="54000" rIns="54000" tIns="36000" bIns="36000" anchor="t">
            <a:spAutoFit/>
          </a:bodyPr>
          <a:lstStyle/>
          <a:p>
            <a:pPr algn="ctr">
              <a:lnSpc>
                <a:spcPct val="115000"/>
              </a:lnSpc>
            </a:pPr>
            <a:r>
              <a:rPr sz="800" b="0">
                <a:solidFill>
                  <a:srgbClr val="6E7682"/>
                </a:solidFill>
                <a:latin typeface="Meiryo"/>
              </a:rPr>
              <a:t>ワンライフ様 Minecraft学習コンテンツ 完成計画書    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432000"/>
            <a:ext cx="6480000" cy="360000"/>
          </a:xfrm>
          <a:prstGeom prst="rect">
            <a:avLst/>
          </a:prstGeom>
          <a:noFill/>
          <a:ln>
            <a:noFill/>
          </a:ln>
        </p:spPr>
        <p:txBody>
          <a:bodyPr wrap="square" lIns="54000" rIns="54000" tIns="36000" bIns="36000" anchor="t">
            <a:spAutoFit/>
          </a:bodyPr>
          <a:lstStyle/>
          <a:p>
            <a:pPr algn="l">
              <a:lnSpc>
                <a:spcPct val="115000"/>
              </a:lnSpc>
            </a:pPr>
            <a:r>
              <a:rPr sz="1800" b="1">
                <a:solidFill>
                  <a:srgbClr val="203A60"/>
                </a:solidFill>
                <a:latin typeface="Meiryo"/>
              </a:rPr>
              <a:t>2. フェーズ別 詳細スケジュール（後半：9月〜12月）</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0000" y="1080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000" y="1080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フェーズ5｜PDF教材 全量仕上げ・校正</a:t>
            </a:r>
          </a:p>
        </p:txBody>
      </p:sp>
      <p:sp>
        <p:nvSpPr>
          <p:cNvPr id="6" name="Rectangle 5"/>
          <p:cNvSpPr/>
          <p:nvPr/>
        </p:nvSpPr>
        <p:spPr>
          <a:xfrm>
            <a:off x="540000" y="1386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000" y="1386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8" name="Rectangle 7"/>
          <p:cNvSpPr/>
          <p:nvPr/>
        </p:nvSpPr>
        <p:spPr>
          <a:xfrm>
            <a:off x="1296000" y="1386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68000" y="1386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2026年9月1日 〜 9月30日（約4週）</a:t>
            </a:r>
          </a:p>
        </p:txBody>
      </p:sp>
      <p:sp>
        <p:nvSpPr>
          <p:cNvPr id="10" name="Rectangle 9"/>
          <p:cNvSpPr/>
          <p:nvPr/>
        </p:nvSpPr>
        <p:spPr>
          <a:xfrm>
            <a:off x="540000" y="1656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000" y="1656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12" name="Rectangle 11"/>
          <p:cNvSpPr/>
          <p:nvPr/>
        </p:nvSpPr>
        <p:spPr>
          <a:xfrm>
            <a:off x="1296000" y="1656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8000" y="1656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ドラフト状態のPDF教材を製本レベルまで仕上げる。</a:t>
            </a:r>
          </a:p>
        </p:txBody>
      </p:sp>
      <p:sp>
        <p:nvSpPr>
          <p:cNvPr id="14" name="Rectangle 13"/>
          <p:cNvSpPr/>
          <p:nvPr/>
        </p:nvSpPr>
        <p:spPr>
          <a:xfrm>
            <a:off x="540000" y="1926000"/>
            <a:ext cx="756000" cy="82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000" y="1926000"/>
            <a:ext cx="684000" cy="82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16" name="Rectangle 15"/>
          <p:cNvSpPr/>
          <p:nvPr/>
        </p:nvSpPr>
        <p:spPr>
          <a:xfrm>
            <a:off x="1296000" y="1926000"/>
            <a:ext cx="5724000" cy="82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68000" y="1926000"/>
            <a:ext cx="5616000" cy="82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・PDF教材 全15セットの本文校正・体裁統一（児童用・スタッフ用）</a:t>
            </a:r>
          </a:p>
          <a:p>
            <a:pPr algn="l">
              <a:lnSpc>
                <a:spcPct val="130000"/>
              </a:lnSpc>
            </a:pPr>
            <a:r>
              <a:rPr sz="950" b="0">
                <a:solidFill>
                  <a:srgbClr val="1E232D"/>
                </a:solidFill>
                <a:latin typeface="Meiryo"/>
              </a:rPr>
              <a:t>・挿絵・スクリーンショット差し替え、用語統一</a:t>
            </a:r>
          </a:p>
          <a:p>
            <a:pPr algn="l">
              <a:lnSpc>
                <a:spcPct val="130000"/>
              </a:lnSpc>
            </a:pPr>
            <a:r>
              <a:rPr sz="950" b="0">
                <a:solidFill>
                  <a:srgbClr val="1E232D"/>
                </a:solidFill>
                <a:latin typeface="Meiryo"/>
              </a:rPr>
              <a:t>・誤字脱字・発達特性配慮表現のチェック</a:t>
            </a:r>
          </a:p>
          <a:p>
            <a:pPr algn="l">
              <a:lnSpc>
                <a:spcPct val="130000"/>
              </a:lnSpc>
            </a:pPr>
            <a:r>
              <a:rPr sz="950" b="0">
                <a:solidFill>
                  <a:srgbClr val="1E232D"/>
                </a:solidFill>
                <a:latin typeface="Meiryo"/>
              </a:rPr>
              <a:t>・クライアント様にPDF一式をご確認依頼</a:t>
            </a:r>
          </a:p>
        </p:txBody>
      </p:sp>
      <p:sp>
        <p:nvSpPr>
          <p:cNvPr id="18" name="Rectangle 17"/>
          <p:cNvSpPr/>
          <p:nvPr/>
        </p:nvSpPr>
        <p:spPr>
          <a:xfrm>
            <a:off x="540000" y="2754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000" y="2754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20" name="Rectangle 19"/>
          <p:cNvSpPr/>
          <p:nvPr/>
        </p:nvSpPr>
        <p:spPr>
          <a:xfrm>
            <a:off x="1296000" y="2754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68000" y="2754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PDF教材 全15セット（最終版候補）</a:t>
            </a:r>
          </a:p>
        </p:txBody>
      </p:sp>
      <p:sp>
        <p:nvSpPr>
          <p:cNvPr id="22" name="Rectangle 21"/>
          <p:cNvSpPr/>
          <p:nvPr/>
        </p:nvSpPr>
        <p:spPr>
          <a:xfrm>
            <a:off x="540000" y="3132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000" y="3132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フェーズ6｜スタッフ向け運用マニュアル + 内部テスト</a:t>
            </a:r>
          </a:p>
        </p:txBody>
      </p:sp>
      <p:sp>
        <p:nvSpPr>
          <p:cNvPr id="24" name="Rectangle 23"/>
          <p:cNvSpPr/>
          <p:nvPr/>
        </p:nvSpPr>
        <p:spPr>
          <a:xfrm>
            <a:off x="540000" y="3438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000" y="3438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26" name="Rectangle 25"/>
          <p:cNvSpPr/>
          <p:nvPr/>
        </p:nvSpPr>
        <p:spPr>
          <a:xfrm>
            <a:off x="1296000" y="3438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68000" y="3438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2026年10月1日 〜 10月31日（約4週）</a:t>
            </a:r>
          </a:p>
        </p:txBody>
      </p:sp>
      <p:sp>
        <p:nvSpPr>
          <p:cNvPr id="28" name="Rectangle 27"/>
          <p:cNvSpPr/>
          <p:nvPr/>
        </p:nvSpPr>
        <p:spPr>
          <a:xfrm>
            <a:off x="540000" y="3708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000" y="3708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30" name="Rectangle 29"/>
          <p:cNvSpPr/>
          <p:nvPr/>
        </p:nvSpPr>
        <p:spPr>
          <a:xfrm>
            <a:off x="1296000" y="3708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68000" y="3708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現場で「ワールドを開くだけで運用できる」状態に仕上げる。</a:t>
            </a:r>
          </a:p>
        </p:txBody>
      </p:sp>
      <p:sp>
        <p:nvSpPr>
          <p:cNvPr id="32" name="Rectangle 31"/>
          <p:cNvSpPr/>
          <p:nvPr/>
        </p:nvSpPr>
        <p:spPr>
          <a:xfrm>
            <a:off x="540000" y="3978000"/>
            <a:ext cx="756000" cy="82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000" y="3978000"/>
            <a:ext cx="684000" cy="82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34" name="Rectangle 33"/>
          <p:cNvSpPr/>
          <p:nvPr/>
        </p:nvSpPr>
        <p:spPr>
          <a:xfrm>
            <a:off x="1296000" y="3978000"/>
            <a:ext cx="5724000" cy="82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68000" y="3978000"/>
            <a:ext cx="5616000" cy="82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・スタッフ向け運用マニュアル作成（開閉・バックアップ・トラブル対応）</a:t>
            </a:r>
          </a:p>
          <a:p>
            <a:pPr algn="l">
              <a:lnSpc>
                <a:spcPct val="130000"/>
              </a:lnSpc>
            </a:pPr>
            <a:r>
              <a:rPr sz="950" b="0">
                <a:solidFill>
                  <a:srgbClr val="1E232D"/>
                </a:solidFill>
                <a:latin typeface="Meiryo"/>
              </a:rPr>
              <a:t>・OneDriveバックアップ運用の動作確認</a:t>
            </a:r>
          </a:p>
          <a:p>
            <a:pPr algn="l">
              <a:lnSpc>
                <a:spcPct val="130000"/>
              </a:lnSpc>
            </a:pPr>
            <a:r>
              <a:rPr sz="950" b="0">
                <a:solidFill>
                  <a:srgbClr val="1E232D"/>
                </a:solidFill>
                <a:latin typeface="Meiryo"/>
              </a:rPr>
              <a:t>・受託者側での操作テスト（ハブ〜全ミッション〜戻り動線）</a:t>
            </a:r>
          </a:p>
          <a:p>
            <a:pPr algn="l">
              <a:lnSpc>
                <a:spcPct val="130000"/>
              </a:lnSpc>
            </a:pPr>
            <a:r>
              <a:rPr sz="950" b="0">
                <a:solidFill>
                  <a:srgbClr val="1E232D"/>
                </a:solidFill>
                <a:latin typeface="Meiryo"/>
              </a:rPr>
              <a:t>・フィードバック反映・軽微な不具合修正</a:t>
            </a:r>
          </a:p>
        </p:txBody>
      </p:sp>
      <p:sp>
        <p:nvSpPr>
          <p:cNvPr id="36" name="Rectangle 35"/>
          <p:cNvSpPr/>
          <p:nvPr/>
        </p:nvSpPr>
        <p:spPr>
          <a:xfrm>
            <a:off x="540000" y="4806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000" y="4806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38" name="Rectangle 37"/>
          <p:cNvSpPr/>
          <p:nvPr/>
        </p:nvSpPr>
        <p:spPr>
          <a:xfrm>
            <a:off x="1296000" y="4806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68000" y="4806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運用マニュアル ver.1、バグ修正済みワールド</a:t>
            </a:r>
          </a:p>
        </p:txBody>
      </p:sp>
      <p:sp>
        <p:nvSpPr>
          <p:cNvPr id="40" name="Rectangle 39"/>
          <p:cNvSpPr/>
          <p:nvPr/>
        </p:nvSpPr>
        <p:spPr>
          <a:xfrm>
            <a:off x="540000" y="5184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000" y="5184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フェーズ7｜現場テストプレイ（スタッフ・児童）</a:t>
            </a:r>
          </a:p>
        </p:txBody>
      </p:sp>
      <p:sp>
        <p:nvSpPr>
          <p:cNvPr id="42" name="Rectangle 41"/>
          <p:cNvSpPr/>
          <p:nvPr/>
        </p:nvSpPr>
        <p:spPr>
          <a:xfrm>
            <a:off x="540000" y="5490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000" y="5490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44" name="Rectangle 43"/>
          <p:cNvSpPr/>
          <p:nvPr/>
        </p:nvSpPr>
        <p:spPr>
          <a:xfrm>
            <a:off x="1296000" y="5490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68000" y="5490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2026年11月1日 〜 11月30日（約4週）</a:t>
            </a:r>
          </a:p>
        </p:txBody>
      </p:sp>
      <p:sp>
        <p:nvSpPr>
          <p:cNvPr id="46" name="Rectangle 45"/>
          <p:cNvSpPr/>
          <p:nvPr/>
        </p:nvSpPr>
        <p:spPr>
          <a:xfrm>
            <a:off x="540000" y="5760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000" y="5760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48" name="Rectangle 47"/>
          <p:cNvSpPr/>
          <p:nvPr/>
        </p:nvSpPr>
        <p:spPr>
          <a:xfrm>
            <a:off x="1296000" y="5760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68000" y="5760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実際の運用環境で試し、詰まる箇所や改善点を洗い出す。</a:t>
            </a:r>
          </a:p>
        </p:txBody>
      </p:sp>
      <p:sp>
        <p:nvSpPr>
          <p:cNvPr id="50" name="Rectangle 49"/>
          <p:cNvSpPr/>
          <p:nvPr/>
        </p:nvSpPr>
        <p:spPr>
          <a:xfrm>
            <a:off x="540000" y="6030000"/>
            <a:ext cx="756000" cy="82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000" y="6030000"/>
            <a:ext cx="684000" cy="82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52" name="Rectangle 51"/>
          <p:cNvSpPr/>
          <p:nvPr/>
        </p:nvSpPr>
        <p:spPr>
          <a:xfrm>
            <a:off x="1296000" y="6030000"/>
            <a:ext cx="5724000" cy="82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368000" y="6030000"/>
            <a:ext cx="5616000" cy="82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・スタッフ様による操作テスト（マニュアルだけで起動できるか確認）</a:t>
            </a:r>
          </a:p>
          <a:p>
            <a:pPr algn="l">
              <a:lnSpc>
                <a:spcPct val="130000"/>
              </a:lnSpc>
            </a:pPr>
            <a:r>
              <a:rPr sz="950" b="0">
                <a:solidFill>
                  <a:srgbClr val="1E232D"/>
                </a:solidFill>
                <a:latin typeface="Meiryo"/>
              </a:rPr>
              <a:t>・児童によるテストプレイ（9ステップが機能しているか）</a:t>
            </a:r>
          </a:p>
          <a:p>
            <a:pPr algn="l">
              <a:lnSpc>
                <a:spcPct val="130000"/>
              </a:lnSpc>
            </a:pPr>
            <a:r>
              <a:rPr sz="950" b="0">
                <a:solidFill>
                  <a:srgbClr val="1E232D"/>
                </a:solidFill>
                <a:latin typeface="Meiryo"/>
              </a:rPr>
              <a:t>・詰まる箇所・ストレスポイントの抽出と記録</a:t>
            </a:r>
          </a:p>
          <a:p>
            <a:pPr algn="l">
              <a:lnSpc>
                <a:spcPct val="130000"/>
              </a:lnSpc>
            </a:pPr>
            <a:r>
              <a:rPr sz="950" b="0">
                <a:solidFill>
                  <a:srgbClr val="1E232D"/>
                </a:solidFill>
                <a:latin typeface="Meiryo"/>
              </a:rPr>
              <a:t>・優先度付けした修正リストの作成</a:t>
            </a:r>
          </a:p>
        </p:txBody>
      </p:sp>
      <p:sp>
        <p:nvSpPr>
          <p:cNvPr id="54" name="Rectangle 53"/>
          <p:cNvSpPr/>
          <p:nvPr/>
        </p:nvSpPr>
        <p:spPr>
          <a:xfrm>
            <a:off x="540000" y="6858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000" y="6858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56" name="Rectangle 55"/>
          <p:cNvSpPr/>
          <p:nvPr/>
        </p:nvSpPr>
        <p:spPr>
          <a:xfrm>
            <a:off x="1296000" y="6858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368000" y="6858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テスト結果レポート、修正優先リスト</a:t>
            </a:r>
          </a:p>
        </p:txBody>
      </p:sp>
      <p:sp>
        <p:nvSpPr>
          <p:cNvPr id="58" name="Rectangle 57"/>
          <p:cNvSpPr/>
          <p:nvPr/>
        </p:nvSpPr>
        <p:spPr>
          <a:xfrm>
            <a:off x="540000" y="7236000"/>
            <a:ext cx="64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000" y="7236000"/>
            <a:ext cx="6300000" cy="306000"/>
          </a:xfrm>
          <a:prstGeom prst="rect">
            <a:avLst/>
          </a:prstGeom>
          <a:noFill/>
          <a:ln>
            <a:noFill/>
          </a:ln>
        </p:spPr>
        <p:txBody>
          <a:bodyPr wrap="square" lIns="54000" rIns="54000" tIns="36000" bIns="36000" anchor="ctr">
            <a:spAutoFit/>
          </a:bodyPr>
          <a:lstStyle/>
          <a:p>
            <a:pPr algn="l">
              <a:lnSpc>
                <a:spcPct val="115000"/>
              </a:lnSpc>
            </a:pPr>
            <a:r>
              <a:rPr sz="1050" b="1">
                <a:solidFill>
                  <a:srgbClr val="FFFFFF"/>
                </a:solidFill>
                <a:latin typeface="Meiryo"/>
              </a:rPr>
              <a:t>フェーズ8｜最終修正・最終納品 ★プロジェクト完了</a:t>
            </a:r>
          </a:p>
        </p:txBody>
      </p:sp>
      <p:sp>
        <p:nvSpPr>
          <p:cNvPr id="60" name="Rectangle 59"/>
          <p:cNvSpPr/>
          <p:nvPr/>
        </p:nvSpPr>
        <p:spPr>
          <a:xfrm>
            <a:off x="540000" y="7542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000" y="7542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期間</a:t>
            </a:r>
          </a:p>
        </p:txBody>
      </p:sp>
      <p:sp>
        <p:nvSpPr>
          <p:cNvPr id="62" name="Rectangle 61"/>
          <p:cNvSpPr/>
          <p:nvPr/>
        </p:nvSpPr>
        <p:spPr>
          <a:xfrm>
            <a:off x="1296000" y="7542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368000" y="7542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2026年12月1日 〜 12月下旬（約3〜4週）</a:t>
            </a:r>
          </a:p>
        </p:txBody>
      </p:sp>
      <p:sp>
        <p:nvSpPr>
          <p:cNvPr id="64" name="Rectangle 63"/>
          <p:cNvSpPr/>
          <p:nvPr/>
        </p:nvSpPr>
        <p:spPr>
          <a:xfrm>
            <a:off x="540000" y="7812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000" y="7812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目的</a:t>
            </a:r>
          </a:p>
        </p:txBody>
      </p:sp>
      <p:sp>
        <p:nvSpPr>
          <p:cNvPr id="66" name="Rectangle 65"/>
          <p:cNvSpPr/>
          <p:nvPr/>
        </p:nvSpPr>
        <p:spPr>
          <a:xfrm>
            <a:off x="1296000" y="7812000"/>
            <a:ext cx="5724000" cy="27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368000" y="7812000"/>
            <a:ext cx="5616000" cy="270000"/>
          </a:xfrm>
          <a:prstGeom prst="rect">
            <a:avLst/>
          </a:prstGeom>
          <a:noFill/>
          <a:ln>
            <a:noFill/>
          </a:ln>
        </p:spPr>
        <p:txBody>
          <a:bodyPr wrap="square" lIns="54000" rIns="54000" tIns="36000" bIns="36000" anchor="ctr">
            <a:spAutoFit/>
          </a:bodyPr>
          <a:lstStyle/>
          <a:p>
            <a:pPr algn="l">
              <a:lnSpc>
                <a:spcPct val="130000"/>
              </a:lnSpc>
            </a:pPr>
            <a:r>
              <a:rPr sz="950" b="0">
                <a:solidFill>
                  <a:srgbClr val="1E232D"/>
                </a:solidFill>
                <a:latin typeface="Meiryo"/>
              </a:rPr>
              <a:t>テスト結果を反映し、安心して現場で使える状態で納品する。</a:t>
            </a:r>
          </a:p>
        </p:txBody>
      </p:sp>
      <p:sp>
        <p:nvSpPr>
          <p:cNvPr id="68" name="Rectangle 67"/>
          <p:cNvSpPr/>
          <p:nvPr/>
        </p:nvSpPr>
        <p:spPr>
          <a:xfrm>
            <a:off x="540000" y="8082000"/>
            <a:ext cx="756000" cy="828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4000" y="8082000"/>
            <a:ext cx="684000" cy="828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主タスク</a:t>
            </a:r>
          </a:p>
        </p:txBody>
      </p:sp>
      <p:sp>
        <p:nvSpPr>
          <p:cNvPr id="70" name="Rectangle 69"/>
          <p:cNvSpPr/>
          <p:nvPr/>
        </p:nvSpPr>
        <p:spPr>
          <a:xfrm>
            <a:off x="1296000" y="8082000"/>
            <a:ext cx="5724000" cy="828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368000" y="8082000"/>
            <a:ext cx="5616000" cy="828000"/>
          </a:xfrm>
          <a:prstGeom prst="rect">
            <a:avLst/>
          </a:prstGeom>
          <a:noFill/>
          <a:ln>
            <a:noFill/>
          </a:ln>
        </p:spPr>
        <p:txBody>
          <a:bodyPr wrap="square" lIns="54000" rIns="54000" tIns="36000" bIns="36000" anchor="t">
            <a:spAutoFit/>
          </a:bodyPr>
          <a:lstStyle/>
          <a:p>
            <a:pPr algn="l">
              <a:lnSpc>
                <a:spcPct val="130000"/>
              </a:lnSpc>
            </a:pPr>
            <a:r>
              <a:rPr sz="950" b="0">
                <a:solidFill>
                  <a:srgbClr val="1E232D"/>
                </a:solidFill>
                <a:latin typeface="Meiryo"/>
              </a:rPr>
              <a:t>・テスト結果に基づく修正（ワールド・PDF・マニュアル）</a:t>
            </a:r>
          </a:p>
          <a:p>
            <a:pPr algn="l">
              <a:lnSpc>
                <a:spcPct val="130000"/>
              </a:lnSpc>
            </a:pPr>
            <a:r>
              <a:rPr sz="950" b="0">
                <a:solidFill>
                  <a:srgbClr val="1E232D"/>
                </a:solidFill>
                <a:latin typeface="Meiryo"/>
              </a:rPr>
              <a:t>・最終版 .mcworld のファイルサイズ・動作確認</a:t>
            </a:r>
          </a:p>
          <a:p>
            <a:pPr algn="l">
              <a:lnSpc>
                <a:spcPct val="130000"/>
              </a:lnSpc>
            </a:pPr>
            <a:r>
              <a:rPr sz="950" b="0">
                <a:solidFill>
                  <a:srgbClr val="1E232D"/>
                </a:solidFill>
                <a:latin typeface="Meiryo"/>
              </a:rPr>
              <a:t>・納品パッケージの整備（ファイル構成・README）</a:t>
            </a:r>
          </a:p>
          <a:p>
            <a:pPr algn="l">
              <a:lnSpc>
                <a:spcPct val="130000"/>
              </a:lnSpc>
            </a:pPr>
            <a:r>
              <a:rPr sz="950" b="0">
                <a:solidFill>
                  <a:srgbClr val="1E232D"/>
                </a:solidFill>
                <a:latin typeface="Meiryo"/>
              </a:rPr>
              <a:t>・最終納品とお引き渡し、納品後のフォロー方針確定</a:t>
            </a:r>
          </a:p>
        </p:txBody>
      </p:sp>
      <p:sp>
        <p:nvSpPr>
          <p:cNvPr id="72" name="Rectangle 71"/>
          <p:cNvSpPr/>
          <p:nvPr/>
        </p:nvSpPr>
        <p:spPr>
          <a:xfrm>
            <a:off x="540000" y="8910000"/>
            <a:ext cx="756000" cy="270000"/>
          </a:xfrm>
          <a:prstGeom prst="rect">
            <a:avLst/>
          </a:prstGeom>
          <a:solidFill>
            <a:srgbClr val="EEF0F4"/>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4000" y="8910000"/>
            <a:ext cx="684000" cy="270000"/>
          </a:xfrm>
          <a:prstGeom prst="rect">
            <a:avLst/>
          </a:prstGeom>
          <a:noFill/>
          <a:ln>
            <a:noFill/>
          </a:ln>
        </p:spPr>
        <p:txBody>
          <a:bodyPr wrap="square" lIns="54000" rIns="54000" tIns="36000" bIns="36000" anchor="ctr">
            <a:spAutoFit/>
          </a:bodyPr>
          <a:lstStyle/>
          <a:p>
            <a:pPr algn="l">
              <a:lnSpc>
                <a:spcPct val="115000"/>
              </a:lnSpc>
            </a:pPr>
            <a:r>
              <a:rPr sz="950" b="1">
                <a:solidFill>
                  <a:srgbClr val="203A60"/>
                </a:solidFill>
                <a:latin typeface="Meiryo"/>
              </a:rPr>
              <a:t>成果物</a:t>
            </a:r>
          </a:p>
        </p:txBody>
      </p:sp>
      <p:sp>
        <p:nvSpPr>
          <p:cNvPr id="74" name="Rectangle 73"/>
          <p:cNvSpPr/>
          <p:nvPr/>
        </p:nvSpPr>
        <p:spPr>
          <a:xfrm>
            <a:off x="1296000" y="8910000"/>
            <a:ext cx="5724000" cy="27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368000" y="8910000"/>
            <a:ext cx="5616000" cy="270000"/>
          </a:xfrm>
          <a:prstGeom prst="rect">
            <a:avLst/>
          </a:prstGeom>
          <a:noFill/>
          <a:ln>
            <a:noFill/>
          </a:ln>
        </p:spPr>
        <p:txBody>
          <a:bodyPr wrap="square" lIns="54000" rIns="54000" tIns="36000" bIns="36000" anchor="ctr">
            <a:spAutoFit/>
          </a:bodyPr>
          <a:lstStyle/>
          <a:p>
            <a:pPr algn="l">
              <a:lnSpc>
                <a:spcPct val="130000"/>
              </a:lnSpc>
            </a:pPr>
            <a:r>
              <a:rPr sz="950" b="1">
                <a:solidFill>
                  <a:srgbClr val="203A60"/>
                </a:solidFill>
                <a:latin typeface="Meiryo"/>
              </a:rPr>
              <a:t>★ 最終納品パッケージ一式（.mcworld × 1 / PDF × 15 / 運用マニュアル × 1）</a:t>
            </a:r>
          </a:p>
        </p:txBody>
      </p:sp>
      <p:sp>
        <p:nvSpPr>
          <p:cNvPr id="76" name="TextBox 75"/>
          <p:cNvSpPr txBox="1"/>
          <p:nvPr/>
        </p:nvSpPr>
        <p:spPr>
          <a:xfrm>
            <a:off x="540000" y="10332000"/>
            <a:ext cx="6480000" cy="216000"/>
          </a:xfrm>
          <a:prstGeom prst="rect">
            <a:avLst/>
          </a:prstGeom>
          <a:noFill/>
          <a:ln>
            <a:noFill/>
          </a:ln>
        </p:spPr>
        <p:txBody>
          <a:bodyPr wrap="square" lIns="54000" rIns="54000" tIns="36000" bIns="36000" anchor="t">
            <a:spAutoFit/>
          </a:bodyPr>
          <a:lstStyle/>
          <a:p>
            <a:pPr algn="ctr">
              <a:lnSpc>
                <a:spcPct val="115000"/>
              </a:lnSpc>
            </a:pPr>
            <a:r>
              <a:rPr sz="800" b="0">
                <a:solidFill>
                  <a:srgbClr val="6E7682"/>
                </a:solidFill>
                <a:latin typeface="Meiryo"/>
              </a:rPr>
              <a:t>ワンライフ様 Minecraft学習コンテンツ 完成計画書    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432000"/>
            <a:ext cx="6480000" cy="360000"/>
          </a:xfrm>
          <a:prstGeom prst="rect">
            <a:avLst/>
          </a:prstGeom>
          <a:noFill/>
          <a:ln>
            <a:noFill/>
          </a:ln>
        </p:spPr>
        <p:txBody>
          <a:bodyPr wrap="square" lIns="54000" rIns="54000" tIns="36000" bIns="36000" anchor="t">
            <a:spAutoFit/>
          </a:bodyPr>
          <a:lstStyle/>
          <a:p>
            <a:pPr algn="l">
              <a:lnSpc>
                <a:spcPct val="115000"/>
              </a:lnSpc>
            </a:pPr>
            <a:r>
              <a:rPr sz="1800" b="1">
                <a:solidFill>
                  <a:srgbClr val="203A60"/>
                </a:solidFill>
                <a:latin typeface="Meiryo"/>
              </a:rPr>
              <a:t>3. クライアント様とのチェックポイント</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0000" y="1007999"/>
            <a:ext cx="6480000" cy="540000"/>
          </a:xfrm>
          <a:prstGeom prst="rect">
            <a:avLst/>
          </a:prstGeom>
          <a:noFill/>
          <a:ln>
            <a:noFill/>
          </a:ln>
        </p:spPr>
        <p:txBody>
          <a:bodyPr wrap="square" lIns="54000" rIns="54000" tIns="36000" bIns="36000" anchor="t">
            <a:spAutoFit/>
          </a:bodyPr>
          <a:lstStyle/>
          <a:p>
            <a:pPr algn="l">
              <a:lnSpc>
                <a:spcPct val="150000"/>
              </a:lnSpc>
            </a:pPr>
            <a:r>
              <a:rPr sz="1050" b="0">
                <a:solidFill>
                  <a:srgbClr val="1E232D"/>
                </a:solidFill>
                <a:latin typeface="Meiryo"/>
              </a:rPr>
              <a:t>各フェーズ末に、クライアント様へ進捗報告と成果物の共有を行います。</a:t>
            </a:r>
          </a:p>
          <a:p>
            <a:pPr algn="l">
              <a:lnSpc>
                <a:spcPct val="150000"/>
              </a:lnSpc>
            </a:pPr>
            <a:r>
              <a:rPr sz="1050" b="0">
                <a:solidFill>
                  <a:srgbClr val="1E232D"/>
                </a:solidFill>
                <a:latin typeface="Meiryo"/>
              </a:rPr>
              <a:t>確認いただく内容と想定スケジュールは以下の通りです。</a:t>
            </a:r>
          </a:p>
        </p:txBody>
      </p:sp>
      <p:sp>
        <p:nvSpPr>
          <p:cNvPr id="5" name="Rectangle 4"/>
          <p:cNvSpPr/>
          <p:nvPr/>
        </p:nvSpPr>
        <p:spPr>
          <a:xfrm>
            <a:off x="540000" y="1728000"/>
            <a:ext cx="792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728000"/>
            <a:ext cx="792000" cy="288000"/>
          </a:xfrm>
          <a:prstGeom prst="rect">
            <a:avLst/>
          </a:prstGeom>
          <a:noFill/>
          <a:ln>
            <a:noFill/>
          </a:ln>
        </p:spPr>
        <p:txBody>
          <a:bodyPr wrap="square" lIns="36000" rIns="36000" tIns="36000" bIns="36000" anchor="ctr">
            <a:spAutoFit/>
          </a:bodyPr>
          <a:lstStyle/>
          <a:p>
            <a:pPr algn="ctr">
              <a:lnSpc>
                <a:spcPct val="115000"/>
              </a:lnSpc>
            </a:pPr>
            <a:r>
              <a:rPr sz="1000" b="1">
                <a:solidFill>
                  <a:srgbClr val="FFFFFF"/>
                </a:solidFill>
                <a:latin typeface="Meiryo"/>
              </a:rPr>
              <a:t>時期</a:t>
            </a:r>
          </a:p>
        </p:txBody>
      </p:sp>
      <p:sp>
        <p:nvSpPr>
          <p:cNvPr id="7" name="Rectangle 6"/>
          <p:cNvSpPr/>
          <p:nvPr/>
        </p:nvSpPr>
        <p:spPr>
          <a:xfrm>
            <a:off x="1332000" y="1728000"/>
            <a:ext cx="1152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32000" y="1728000"/>
            <a:ext cx="1152000" cy="288000"/>
          </a:xfrm>
          <a:prstGeom prst="rect">
            <a:avLst/>
          </a:prstGeom>
          <a:noFill/>
          <a:ln>
            <a:noFill/>
          </a:ln>
        </p:spPr>
        <p:txBody>
          <a:bodyPr wrap="square" lIns="36000" rIns="36000" tIns="36000" bIns="36000" anchor="ctr">
            <a:spAutoFit/>
          </a:bodyPr>
          <a:lstStyle/>
          <a:p>
            <a:pPr algn="ctr">
              <a:lnSpc>
                <a:spcPct val="115000"/>
              </a:lnSpc>
            </a:pPr>
            <a:r>
              <a:rPr sz="1000" b="1">
                <a:solidFill>
                  <a:srgbClr val="FFFFFF"/>
                </a:solidFill>
                <a:latin typeface="Meiryo"/>
              </a:rPr>
              <a:t>区切り</a:t>
            </a:r>
          </a:p>
        </p:txBody>
      </p:sp>
      <p:sp>
        <p:nvSpPr>
          <p:cNvPr id="9" name="Rectangle 8"/>
          <p:cNvSpPr/>
          <p:nvPr/>
        </p:nvSpPr>
        <p:spPr>
          <a:xfrm>
            <a:off x="2484000" y="1728000"/>
            <a:ext cx="2520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84000" y="1728000"/>
            <a:ext cx="2520000" cy="288000"/>
          </a:xfrm>
          <a:prstGeom prst="rect">
            <a:avLst/>
          </a:prstGeom>
          <a:noFill/>
          <a:ln>
            <a:noFill/>
          </a:ln>
        </p:spPr>
        <p:txBody>
          <a:bodyPr wrap="square" lIns="36000" rIns="36000" tIns="36000" bIns="36000" anchor="ctr">
            <a:spAutoFit/>
          </a:bodyPr>
          <a:lstStyle/>
          <a:p>
            <a:pPr algn="ctr">
              <a:lnSpc>
                <a:spcPct val="115000"/>
              </a:lnSpc>
            </a:pPr>
            <a:r>
              <a:rPr sz="1000" b="1">
                <a:solidFill>
                  <a:srgbClr val="FFFFFF"/>
                </a:solidFill>
                <a:latin typeface="Meiryo"/>
              </a:rPr>
              <a:t>確認内容</a:t>
            </a:r>
          </a:p>
        </p:txBody>
      </p:sp>
      <p:sp>
        <p:nvSpPr>
          <p:cNvPr id="11" name="Rectangle 10"/>
          <p:cNvSpPr/>
          <p:nvPr/>
        </p:nvSpPr>
        <p:spPr>
          <a:xfrm>
            <a:off x="5004000" y="1728000"/>
            <a:ext cx="2016000" cy="288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04000" y="1728000"/>
            <a:ext cx="2016000" cy="288000"/>
          </a:xfrm>
          <a:prstGeom prst="rect">
            <a:avLst/>
          </a:prstGeom>
          <a:noFill/>
          <a:ln>
            <a:noFill/>
          </a:ln>
        </p:spPr>
        <p:txBody>
          <a:bodyPr wrap="square" lIns="36000" rIns="36000" tIns="36000" bIns="36000" anchor="ctr">
            <a:spAutoFit/>
          </a:bodyPr>
          <a:lstStyle/>
          <a:p>
            <a:pPr algn="ctr">
              <a:lnSpc>
                <a:spcPct val="115000"/>
              </a:lnSpc>
            </a:pPr>
            <a:r>
              <a:rPr sz="1000" b="1">
                <a:solidFill>
                  <a:srgbClr val="FFFFFF"/>
                </a:solidFill>
                <a:latin typeface="Meiryo"/>
              </a:rPr>
              <a:t>想定形式</a:t>
            </a:r>
          </a:p>
        </p:txBody>
      </p:sp>
      <p:sp>
        <p:nvSpPr>
          <p:cNvPr id="13" name="Rectangle 12"/>
          <p:cNvSpPr/>
          <p:nvPr/>
        </p:nvSpPr>
        <p:spPr>
          <a:xfrm>
            <a:off x="540000" y="2016000"/>
            <a:ext cx="79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000" y="2016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4月末</a:t>
            </a:r>
          </a:p>
        </p:txBody>
      </p:sp>
      <p:sp>
        <p:nvSpPr>
          <p:cNvPr id="15" name="Rectangle 14"/>
          <p:cNvSpPr/>
          <p:nvPr/>
        </p:nvSpPr>
        <p:spPr>
          <a:xfrm>
            <a:off x="1332000" y="2016000"/>
            <a:ext cx="115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86000" y="2016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フェーズ0末</a:t>
            </a:r>
          </a:p>
        </p:txBody>
      </p:sp>
      <p:sp>
        <p:nvSpPr>
          <p:cNvPr id="17" name="Rectangle 16"/>
          <p:cNvSpPr/>
          <p:nvPr/>
        </p:nvSpPr>
        <p:spPr>
          <a:xfrm>
            <a:off x="2484000" y="2016000"/>
            <a:ext cx="25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38000" y="2016000"/>
            <a:ext cx="2448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本計画書・方針すり合わせ資料のご承認</a:t>
            </a:r>
          </a:p>
        </p:txBody>
      </p:sp>
      <p:sp>
        <p:nvSpPr>
          <p:cNvPr id="19" name="Rectangle 18"/>
          <p:cNvSpPr/>
          <p:nvPr/>
        </p:nvSpPr>
        <p:spPr>
          <a:xfrm>
            <a:off x="5004000" y="2016000"/>
            <a:ext cx="2016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58000" y="2016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メール返信 / オンライン30分</a:t>
            </a:r>
          </a:p>
        </p:txBody>
      </p:sp>
      <p:sp>
        <p:nvSpPr>
          <p:cNvPr id="21" name="Rectangle 20"/>
          <p:cNvSpPr/>
          <p:nvPr/>
        </p:nvSpPr>
        <p:spPr>
          <a:xfrm>
            <a:off x="540000" y="2322000"/>
            <a:ext cx="792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000" y="2322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5月末</a:t>
            </a:r>
          </a:p>
        </p:txBody>
      </p:sp>
      <p:sp>
        <p:nvSpPr>
          <p:cNvPr id="23" name="Rectangle 22"/>
          <p:cNvSpPr/>
          <p:nvPr/>
        </p:nvSpPr>
        <p:spPr>
          <a:xfrm>
            <a:off x="1332000" y="2322000"/>
            <a:ext cx="1152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86000" y="2322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フェーズ1末</a:t>
            </a:r>
          </a:p>
        </p:txBody>
      </p:sp>
      <p:sp>
        <p:nvSpPr>
          <p:cNvPr id="25" name="Rectangle 24"/>
          <p:cNvSpPr/>
          <p:nvPr/>
        </p:nvSpPr>
        <p:spPr>
          <a:xfrm>
            <a:off x="2484000" y="2322000"/>
            <a:ext cx="25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38000" y="2322000"/>
            <a:ext cx="2448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ハブ + 第1ミッション試作版レビュー</a:t>
            </a:r>
          </a:p>
        </p:txBody>
      </p:sp>
      <p:sp>
        <p:nvSpPr>
          <p:cNvPr id="27" name="Rectangle 26"/>
          <p:cNvSpPr/>
          <p:nvPr/>
        </p:nvSpPr>
        <p:spPr>
          <a:xfrm>
            <a:off x="5004000" y="2322000"/>
            <a:ext cx="2016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58000" y="2322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Minecraft体験 + 方向性確認(60分)</a:t>
            </a:r>
          </a:p>
        </p:txBody>
      </p:sp>
      <p:sp>
        <p:nvSpPr>
          <p:cNvPr id="29" name="Rectangle 28"/>
          <p:cNvSpPr/>
          <p:nvPr/>
        </p:nvSpPr>
        <p:spPr>
          <a:xfrm>
            <a:off x="540000" y="2628000"/>
            <a:ext cx="79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000" y="2628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6月末</a:t>
            </a:r>
          </a:p>
        </p:txBody>
      </p:sp>
      <p:sp>
        <p:nvSpPr>
          <p:cNvPr id="31" name="Rectangle 30"/>
          <p:cNvSpPr/>
          <p:nvPr/>
        </p:nvSpPr>
        <p:spPr>
          <a:xfrm>
            <a:off x="1332000" y="2628000"/>
            <a:ext cx="115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6000" y="2628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フェーズ2末</a:t>
            </a:r>
          </a:p>
        </p:txBody>
      </p:sp>
      <p:sp>
        <p:nvSpPr>
          <p:cNvPr id="33" name="Rectangle 32"/>
          <p:cNvSpPr/>
          <p:nvPr/>
        </p:nvSpPr>
        <p:spPr>
          <a:xfrm>
            <a:off x="2484000" y="2628000"/>
            <a:ext cx="25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38000" y="2628000"/>
            <a:ext cx="2448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6ミッション + PDF教材ドラフトの中間確認</a:t>
            </a:r>
          </a:p>
        </p:txBody>
      </p:sp>
      <p:sp>
        <p:nvSpPr>
          <p:cNvPr id="35" name="Rectangle 34"/>
          <p:cNvSpPr/>
          <p:nvPr/>
        </p:nvSpPr>
        <p:spPr>
          <a:xfrm>
            <a:off x="5004000" y="2628000"/>
            <a:ext cx="2016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58000" y="2628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動画共有 + フィードバック</a:t>
            </a:r>
          </a:p>
        </p:txBody>
      </p:sp>
      <p:sp>
        <p:nvSpPr>
          <p:cNvPr id="37" name="Rectangle 36"/>
          <p:cNvSpPr/>
          <p:nvPr/>
        </p:nvSpPr>
        <p:spPr>
          <a:xfrm>
            <a:off x="540000" y="2934000"/>
            <a:ext cx="792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000" y="2934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7月末</a:t>
            </a:r>
          </a:p>
        </p:txBody>
      </p:sp>
      <p:sp>
        <p:nvSpPr>
          <p:cNvPr id="39" name="Rectangle 38"/>
          <p:cNvSpPr/>
          <p:nvPr/>
        </p:nvSpPr>
        <p:spPr>
          <a:xfrm>
            <a:off x="1332000" y="2934000"/>
            <a:ext cx="1152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86000" y="2934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フェーズ3末</a:t>
            </a:r>
          </a:p>
        </p:txBody>
      </p:sp>
      <p:sp>
        <p:nvSpPr>
          <p:cNvPr id="41" name="Rectangle 40"/>
          <p:cNvSpPr/>
          <p:nvPr/>
        </p:nvSpPr>
        <p:spPr>
          <a:xfrm>
            <a:off x="2484000" y="2934000"/>
            <a:ext cx="25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38000" y="2934000"/>
            <a:ext cx="2448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12ミッション完成状況のご報告</a:t>
            </a:r>
          </a:p>
        </p:txBody>
      </p:sp>
      <p:sp>
        <p:nvSpPr>
          <p:cNvPr id="43" name="Rectangle 42"/>
          <p:cNvSpPr/>
          <p:nvPr/>
        </p:nvSpPr>
        <p:spPr>
          <a:xfrm>
            <a:off x="5004000" y="2934000"/>
            <a:ext cx="2016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58000" y="2934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進捗レポート（文書）</a:t>
            </a:r>
          </a:p>
        </p:txBody>
      </p:sp>
      <p:sp>
        <p:nvSpPr>
          <p:cNvPr id="45" name="Rectangle 44"/>
          <p:cNvSpPr/>
          <p:nvPr/>
        </p:nvSpPr>
        <p:spPr>
          <a:xfrm>
            <a:off x="540000" y="3240000"/>
            <a:ext cx="79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000" y="3240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8月末</a:t>
            </a:r>
          </a:p>
        </p:txBody>
      </p:sp>
      <p:sp>
        <p:nvSpPr>
          <p:cNvPr id="47" name="Rectangle 46"/>
          <p:cNvSpPr/>
          <p:nvPr/>
        </p:nvSpPr>
        <p:spPr>
          <a:xfrm>
            <a:off x="1332000" y="3240000"/>
            <a:ext cx="115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86000" y="3240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ワールド完成</a:t>
            </a:r>
          </a:p>
        </p:txBody>
      </p:sp>
      <p:sp>
        <p:nvSpPr>
          <p:cNvPr id="49" name="Rectangle 48"/>
          <p:cNvSpPr/>
          <p:nvPr/>
        </p:nvSpPr>
        <p:spPr>
          <a:xfrm>
            <a:off x="2484000" y="3240000"/>
            <a:ext cx="25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38000" y="3240000"/>
            <a:ext cx="2448000" cy="306000"/>
          </a:xfrm>
          <a:prstGeom prst="rect">
            <a:avLst/>
          </a:prstGeom>
          <a:noFill/>
          <a:ln>
            <a:noFill/>
          </a:ln>
        </p:spPr>
        <p:txBody>
          <a:bodyPr wrap="square" lIns="18000" rIns="18000" tIns="36000" bIns="36000" anchor="ctr">
            <a:spAutoFit/>
          </a:bodyPr>
          <a:lstStyle/>
          <a:p>
            <a:pPr algn="l">
              <a:lnSpc>
                <a:spcPct val="115000"/>
              </a:lnSpc>
            </a:pPr>
            <a:r>
              <a:rPr sz="950" b="1">
                <a:solidFill>
                  <a:srgbClr val="203A60"/>
                </a:solidFill>
                <a:latin typeface="Meiryo"/>
              </a:rPr>
              <a:t>★ 全15ミッション収録ワールドの確認</a:t>
            </a:r>
          </a:p>
        </p:txBody>
      </p:sp>
      <p:sp>
        <p:nvSpPr>
          <p:cNvPr id="51" name="Rectangle 50"/>
          <p:cNvSpPr/>
          <p:nvPr/>
        </p:nvSpPr>
        <p:spPr>
          <a:xfrm>
            <a:off x="5004000" y="3240000"/>
            <a:ext cx="2016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58000" y="3240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オンライン説明(60分) + .mcworld共有</a:t>
            </a:r>
          </a:p>
        </p:txBody>
      </p:sp>
      <p:sp>
        <p:nvSpPr>
          <p:cNvPr id="53" name="Rectangle 52"/>
          <p:cNvSpPr/>
          <p:nvPr/>
        </p:nvSpPr>
        <p:spPr>
          <a:xfrm>
            <a:off x="540000" y="3546000"/>
            <a:ext cx="792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000" y="3546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9月末</a:t>
            </a:r>
          </a:p>
        </p:txBody>
      </p:sp>
      <p:sp>
        <p:nvSpPr>
          <p:cNvPr id="55" name="Rectangle 54"/>
          <p:cNvSpPr/>
          <p:nvPr/>
        </p:nvSpPr>
        <p:spPr>
          <a:xfrm>
            <a:off x="1332000" y="3546000"/>
            <a:ext cx="1152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386000" y="3546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フェーズ5末</a:t>
            </a:r>
          </a:p>
        </p:txBody>
      </p:sp>
      <p:sp>
        <p:nvSpPr>
          <p:cNvPr id="57" name="Rectangle 56"/>
          <p:cNvSpPr/>
          <p:nvPr/>
        </p:nvSpPr>
        <p:spPr>
          <a:xfrm>
            <a:off x="2484000" y="3546000"/>
            <a:ext cx="25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538000" y="3546000"/>
            <a:ext cx="2448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PDF教材 全15セット（最終版候補）の確認</a:t>
            </a:r>
          </a:p>
        </p:txBody>
      </p:sp>
      <p:sp>
        <p:nvSpPr>
          <p:cNvPr id="59" name="Rectangle 58"/>
          <p:cNvSpPr/>
          <p:nvPr/>
        </p:nvSpPr>
        <p:spPr>
          <a:xfrm>
            <a:off x="5004000" y="3546000"/>
            <a:ext cx="2016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58000" y="3546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PDF共有 + フィードバック</a:t>
            </a:r>
          </a:p>
        </p:txBody>
      </p:sp>
      <p:sp>
        <p:nvSpPr>
          <p:cNvPr id="61" name="Rectangle 60"/>
          <p:cNvSpPr/>
          <p:nvPr/>
        </p:nvSpPr>
        <p:spPr>
          <a:xfrm>
            <a:off x="540000" y="3852000"/>
            <a:ext cx="79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000" y="3852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10月末</a:t>
            </a:r>
          </a:p>
        </p:txBody>
      </p:sp>
      <p:sp>
        <p:nvSpPr>
          <p:cNvPr id="63" name="Rectangle 62"/>
          <p:cNvSpPr/>
          <p:nvPr/>
        </p:nvSpPr>
        <p:spPr>
          <a:xfrm>
            <a:off x="1332000" y="3852000"/>
            <a:ext cx="115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386000" y="3852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フェーズ6末</a:t>
            </a:r>
          </a:p>
        </p:txBody>
      </p:sp>
      <p:sp>
        <p:nvSpPr>
          <p:cNvPr id="65" name="Rectangle 64"/>
          <p:cNvSpPr/>
          <p:nvPr/>
        </p:nvSpPr>
        <p:spPr>
          <a:xfrm>
            <a:off x="2484000" y="3852000"/>
            <a:ext cx="25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538000" y="3852000"/>
            <a:ext cx="2448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運用マニュアルの確認</a:t>
            </a:r>
          </a:p>
        </p:txBody>
      </p:sp>
      <p:sp>
        <p:nvSpPr>
          <p:cNvPr id="67" name="Rectangle 66"/>
          <p:cNvSpPr/>
          <p:nvPr/>
        </p:nvSpPr>
        <p:spPr>
          <a:xfrm>
            <a:off x="5004000" y="3852000"/>
            <a:ext cx="2016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58000" y="3852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マニュアル共有</a:t>
            </a:r>
          </a:p>
        </p:txBody>
      </p:sp>
      <p:sp>
        <p:nvSpPr>
          <p:cNvPr id="69" name="Rectangle 68"/>
          <p:cNvSpPr/>
          <p:nvPr/>
        </p:nvSpPr>
        <p:spPr>
          <a:xfrm>
            <a:off x="540000" y="4158000"/>
            <a:ext cx="792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94000" y="4158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11月中</a:t>
            </a:r>
          </a:p>
        </p:txBody>
      </p:sp>
      <p:sp>
        <p:nvSpPr>
          <p:cNvPr id="71" name="Rectangle 70"/>
          <p:cNvSpPr/>
          <p:nvPr/>
        </p:nvSpPr>
        <p:spPr>
          <a:xfrm>
            <a:off x="1332000" y="4158000"/>
            <a:ext cx="1152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386000" y="4158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テストプレイ</a:t>
            </a:r>
          </a:p>
        </p:txBody>
      </p:sp>
      <p:sp>
        <p:nvSpPr>
          <p:cNvPr id="73" name="Rectangle 72"/>
          <p:cNvSpPr/>
          <p:nvPr/>
        </p:nvSpPr>
        <p:spPr>
          <a:xfrm>
            <a:off x="2484000" y="4158000"/>
            <a:ext cx="2520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538000" y="4158000"/>
            <a:ext cx="2448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スタッフ様・児童様によるテストご協力</a:t>
            </a:r>
          </a:p>
        </p:txBody>
      </p:sp>
      <p:sp>
        <p:nvSpPr>
          <p:cNvPr id="75" name="Rectangle 74"/>
          <p:cNvSpPr/>
          <p:nvPr/>
        </p:nvSpPr>
        <p:spPr>
          <a:xfrm>
            <a:off x="5004000" y="4158000"/>
            <a:ext cx="2016000" cy="306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58000" y="4158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現場立会い または リモート</a:t>
            </a:r>
          </a:p>
        </p:txBody>
      </p:sp>
      <p:sp>
        <p:nvSpPr>
          <p:cNvPr id="77" name="Rectangle 76"/>
          <p:cNvSpPr/>
          <p:nvPr/>
        </p:nvSpPr>
        <p:spPr>
          <a:xfrm>
            <a:off x="540000" y="4464000"/>
            <a:ext cx="79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94000" y="4464000"/>
            <a:ext cx="72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12月</a:t>
            </a:r>
          </a:p>
        </p:txBody>
      </p:sp>
      <p:sp>
        <p:nvSpPr>
          <p:cNvPr id="79" name="Rectangle 78"/>
          <p:cNvSpPr/>
          <p:nvPr/>
        </p:nvSpPr>
        <p:spPr>
          <a:xfrm>
            <a:off x="1332000" y="4464000"/>
            <a:ext cx="1152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386000" y="4464000"/>
            <a:ext cx="1080000" cy="306000"/>
          </a:xfrm>
          <a:prstGeom prst="rect">
            <a:avLst/>
          </a:prstGeom>
          <a:noFill/>
          <a:ln>
            <a:noFill/>
          </a:ln>
        </p:spPr>
        <p:txBody>
          <a:bodyPr wrap="square" lIns="18000" rIns="18000" tIns="36000" bIns="36000" anchor="ctr">
            <a:spAutoFit/>
          </a:bodyPr>
          <a:lstStyle/>
          <a:p>
            <a:pPr algn="ctr">
              <a:lnSpc>
                <a:spcPct val="115000"/>
              </a:lnSpc>
            </a:pPr>
            <a:r>
              <a:rPr sz="950" b="0">
                <a:solidFill>
                  <a:srgbClr val="1E232D"/>
                </a:solidFill>
                <a:latin typeface="Meiryo"/>
              </a:rPr>
              <a:t>最終納品</a:t>
            </a:r>
          </a:p>
        </p:txBody>
      </p:sp>
      <p:sp>
        <p:nvSpPr>
          <p:cNvPr id="81" name="Rectangle 80"/>
          <p:cNvSpPr/>
          <p:nvPr/>
        </p:nvSpPr>
        <p:spPr>
          <a:xfrm>
            <a:off x="2484000" y="4464000"/>
            <a:ext cx="2520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538000" y="4464000"/>
            <a:ext cx="2448000" cy="306000"/>
          </a:xfrm>
          <a:prstGeom prst="rect">
            <a:avLst/>
          </a:prstGeom>
          <a:noFill/>
          <a:ln>
            <a:noFill/>
          </a:ln>
        </p:spPr>
        <p:txBody>
          <a:bodyPr wrap="square" lIns="18000" rIns="18000" tIns="36000" bIns="36000" anchor="ctr">
            <a:spAutoFit/>
          </a:bodyPr>
          <a:lstStyle/>
          <a:p>
            <a:pPr algn="l">
              <a:lnSpc>
                <a:spcPct val="115000"/>
              </a:lnSpc>
            </a:pPr>
            <a:r>
              <a:rPr sz="950" b="1">
                <a:solidFill>
                  <a:srgbClr val="203A60"/>
                </a:solidFill>
                <a:latin typeface="Meiryo"/>
              </a:rPr>
              <a:t>★ 最終納品パッケージのお渡し・受領確認</a:t>
            </a:r>
          </a:p>
        </p:txBody>
      </p:sp>
      <p:sp>
        <p:nvSpPr>
          <p:cNvPr id="83" name="Rectangle 82"/>
          <p:cNvSpPr/>
          <p:nvPr/>
        </p:nvSpPr>
        <p:spPr>
          <a:xfrm>
            <a:off x="5004000" y="4464000"/>
            <a:ext cx="2016000" cy="306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58000" y="4464000"/>
            <a:ext cx="1944000" cy="306000"/>
          </a:xfrm>
          <a:prstGeom prst="rect">
            <a:avLst/>
          </a:prstGeom>
          <a:noFill/>
          <a:ln>
            <a:noFill/>
          </a:ln>
        </p:spPr>
        <p:txBody>
          <a:bodyPr wrap="square" lIns="18000" rIns="18000" tIns="36000" bIns="36000" anchor="ctr">
            <a:spAutoFit/>
          </a:bodyPr>
          <a:lstStyle/>
          <a:p>
            <a:pPr algn="l">
              <a:lnSpc>
                <a:spcPct val="115000"/>
              </a:lnSpc>
            </a:pPr>
            <a:r>
              <a:rPr sz="950" b="0">
                <a:solidFill>
                  <a:srgbClr val="1E232D"/>
                </a:solidFill>
                <a:latin typeface="Meiryo"/>
              </a:rPr>
              <a:t>対面 または オンライン</a:t>
            </a:r>
          </a:p>
        </p:txBody>
      </p:sp>
      <p:sp>
        <p:nvSpPr>
          <p:cNvPr id="85" name="Rectangle 84"/>
          <p:cNvSpPr/>
          <p:nvPr/>
        </p:nvSpPr>
        <p:spPr>
          <a:xfrm>
            <a:off x="540000" y="5075999"/>
            <a:ext cx="54000" cy="198000"/>
          </a:xfrm>
          <a:prstGeom prst="rect">
            <a:avLst/>
          </a:prstGeom>
          <a:solidFill>
            <a:srgbClr val="D28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48000" y="5021999"/>
            <a:ext cx="6840000" cy="324000"/>
          </a:xfrm>
          <a:prstGeom prst="rect">
            <a:avLst/>
          </a:prstGeom>
          <a:noFill/>
          <a:ln>
            <a:noFill/>
          </a:ln>
        </p:spPr>
        <p:txBody>
          <a:bodyPr wrap="square" lIns="54000" rIns="54000" tIns="36000" bIns="36000" anchor="t">
            <a:spAutoFit/>
          </a:bodyPr>
          <a:lstStyle/>
          <a:p>
            <a:pPr algn="l">
              <a:lnSpc>
                <a:spcPct val="115000"/>
              </a:lnSpc>
            </a:pPr>
            <a:r>
              <a:rPr sz="1400" b="1">
                <a:solidFill>
                  <a:srgbClr val="203A60"/>
                </a:solidFill>
                <a:latin typeface="Meiryo"/>
              </a:rPr>
              <a:t>クライアント様にご協力いただきたいこと</a:t>
            </a:r>
          </a:p>
        </p:txBody>
      </p:sp>
      <p:sp>
        <p:nvSpPr>
          <p:cNvPr id="87" name="TextBox 86"/>
          <p:cNvSpPr txBox="1"/>
          <p:nvPr/>
        </p:nvSpPr>
        <p:spPr>
          <a:xfrm>
            <a:off x="540000" y="5381999"/>
            <a:ext cx="6480000" cy="1800000"/>
          </a:xfrm>
          <a:prstGeom prst="rect">
            <a:avLst/>
          </a:prstGeom>
          <a:noFill/>
          <a:ln>
            <a:noFill/>
          </a:ln>
        </p:spPr>
        <p:txBody>
          <a:bodyPr wrap="square" lIns="54000" rIns="54000" tIns="36000" bIns="36000" anchor="t">
            <a:spAutoFit/>
          </a:bodyPr>
          <a:lstStyle/>
          <a:p>
            <a:pPr algn="l">
              <a:lnSpc>
                <a:spcPct val="150000"/>
              </a:lnSpc>
            </a:pPr>
            <a:r>
              <a:rPr sz="1050" b="0">
                <a:solidFill>
                  <a:srgbClr val="1E232D"/>
                </a:solidFill>
                <a:latin typeface="Meiryo"/>
              </a:rPr>
              <a:t>・各チェックポイントでの1〜2営業日以内のご回答</a:t>
            </a:r>
          </a:p>
          <a:p>
            <a:pPr algn="l">
              <a:lnSpc>
                <a:spcPct val="150000"/>
              </a:lnSpc>
            </a:pPr>
            <a:r>
              <a:rPr sz="1050" b="0">
                <a:solidFill>
                  <a:srgbClr val="1E232D"/>
                </a:solidFill>
                <a:latin typeface="Meiryo"/>
              </a:rPr>
              <a:t>・フェーズ1末（5月末）試作版への率直なフィードバック</a:t>
            </a:r>
          </a:p>
          <a:p>
            <a:pPr algn="l">
              <a:lnSpc>
                <a:spcPct val="150000"/>
              </a:lnSpc>
            </a:pPr>
            <a:r>
              <a:rPr sz="1050" b="0">
                <a:solidFill>
                  <a:srgbClr val="1E232D"/>
                </a:solidFill>
                <a:latin typeface="Meiryo"/>
              </a:rPr>
              <a:t>　　→ 方向性が固まる最重要タイミングのため、特に丁寧にお願いできますと幸いです</a:t>
            </a:r>
          </a:p>
          <a:p>
            <a:pPr algn="l">
              <a:lnSpc>
                <a:spcPct val="150000"/>
              </a:lnSpc>
            </a:pPr>
            <a:r>
              <a:rPr sz="1050" b="0">
                <a:solidFill>
                  <a:srgbClr val="1E232D"/>
                </a:solidFill>
                <a:latin typeface="Meiryo"/>
              </a:rPr>
              <a:t>・11月のテストプレイ期間における現場での試遊機会のご提供</a:t>
            </a:r>
          </a:p>
          <a:p>
            <a:pPr algn="l">
              <a:lnSpc>
                <a:spcPct val="150000"/>
              </a:lnSpc>
            </a:pPr>
            <a:r>
              <a:rPr sz="1050" b="0">
                <a:solidFill>
                  <a:srgbClr val="1E232D"/>
                </a:solidFill>
                <a:latin typeface="Meiryo"/>
              </a:rPr>
              <a:t>・児童向け表現・禁則事項など、発達特性配慮に関するご助言</a:t>
            </a:r>
          </a:p>
        </p:txBody>
      </p:sp>
      <p:sp>
        <p:nvSpPr>
          <p:cNvPr id="88" name="TextBox 87"/>
          <p:cNvSpPr txBox="1"/>
          <p:nvPr/>
        </p:nvSpPr>
        <p:spPr>
          <a:xfrm>
            <a:off x="540000" y="10332000"/>
            <a:ext cx="6480000" cy="216000"/>
          </a:xfrm>
          <a:prstGeom prst="rect">
            <a:avLst/>
          </a:prstGeom>
          <a:noFill/>
          <a:ln>
            <a:noFill/>
          </a:ln>
        </p:spPr>
        <p:txBody>
          <a:bodyPr wrap="square" lIns="54000" rIns="54000" tIns="36000" bIns="36000" anchor="t">
            <a:spAutoFit/>
          </a:bodyPr>
          <a:lstStyle/>
          <a:p>
            <a:pPr algn="ctr">
              <a:lnSpc>
                <a:spcPct val="115000"/>
              </a:lnSpc>
            </a:pPr>
            <a:r>
              <a:rPr sz="800" b="0">
                <a:solidFill>
                  <a:srgbClr val="6E7682"/>
                </a:solidFill>
                <a:latin typeface="Meiryo"/>
              </a:rPr>
              <a:t>ワンライフ様 Minecraft学習コンテンツ 完成計画書    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432000"/>
            <a:ext cx="6480000" cy="360000"/>
          </a:xfrm>
          <a:prstGeom prst="rect">
            <a:avLst/>
          </a:prstGeom>
          <a:noFill/>
          <a:ln>
            <a:noFill/>
          </a:ln>
        </p:spPr>
        <p:txBody>
          <a:bodyPr wrap="square" lIns="54000" rIns="54000" tIns="36000" bIns="36000" anchor="t">
            <a:spAutoFit/>
          </a:bodyPr>
          <a:lstStyle/>
          <a:p>
            <a:pPr algn="l">
              <a:lnSpc>
                <a:spcPct val="115000"/>
              </a:lnSpc>
            </a:pPr>
            <a:r>
              <a:rPr sz="1800" b="1">
                <a:solidFill>
                  <a:srgbClr val="203A60"/>
                </a:solidFill>
                <a:latin typeface="Meiryo"/>
              </a:rPr>
              <a:t>4. リスクと対応方針</a:t>
            </a:r>
          </a:p>
        </p:txBody>
      </p:sp>
      <p:sp>
        <p:nvSpPr>
          <p:cNvPr id="3" name="Rectangle 2"/>
          <p:cNvSpPr/>
          <p:nvPr/>
        </p:nvSpPr>
        <p:spPr>
          <a:xfrm>
            <a:off x="540000" y="792000"/>
            <a:ext cx="2160000" cy="288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0000" y="1080000"/>
            <a:ext cx="270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0000" y="1080000"/>
            <a:ext cx="2700000" cy="306000"/>
          </a:xfrm>
          <a:prstGeom prst="rect">
            <a:avLst/>
          </a:prstGeom>
          <a:noFill/>
          <a:ln>
            <a:noFill/>
          </a:ln>
        </p:spPr>
        <p:txBody>
          <a:bodyPr wrap="square" lIns="54000" rIns="54000" tIns="36000" bIns="36000" anchor="ctr">
            <a:spAutoFit/>
          </a:bodyPr>
          <a:lstStyle/>
          <a:p>
            <a:pPr algn="ctr">
              <a:lnSpc>
                <a:spcPct val="115000"/>
              </a:lnSpc>
            </a:pPr>
            <a:r>
              <a:rPr sz="1100" b="1">
                <a:solidFill>
                  <a:srgbClr val="FFFFFF"/>
                </a:solidFill>
                <a:latin typeface="Meiryo"/>
              </a:rPr>
              <a:t>リスク</a:t>
            </a:r>
          </a:p>
        </p:txBody>
      </p:sp>
      <p:sp>
        <p:nvSpPr>
          <p:cNvPr id="6" name="Rectangle 5"/>
          <p:cNvSpPr/>
          <p:nvPr/>
        </p:nvSpPr>
        <p:spPr>
          <a:xfrm>
            <a:off x="3240000" y="1080000"/>
            <a:ext cx="3780000" cy="306000"/>
          </a:xfrm>
          <a:prstGeom prst="rect">
            <a:avLst/>
          </a:prstGeom>
          <a:solidFill>
            <a:srgbClr val="20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40000" y="1080000"/>
            <a:ext cx="3780000" cy="306000"/>
          </a:xfrm>
          <a:prstGeom prst="rect">
            <a:avLst/>
          </a:prstGeom>
          <a:noFill/>
          <a:ln>
            <a:noFill/>
          </a:ln>
        </p:spPr>
        <p:txBody>
          <a:bodyPr wrap="square" lIns="54000" rIns="54000" tIns="36000" bIns="36000" anchor="ctr">
            <a:spAutoFit/>
          </a:bodyPr>
          <a:lstStyle/>
          <a:p>
            <a:pPr algn="ctr">
              <a:lnSpc>
                <a:spcPct val="115000"/>
              </a:lnSpc>
            </a:pPr>
            <a:r>
              <a:rPr sz="1100" b="1">
                <a:solidFill>
                  <a:srgbClr val="FFFFFF"/>
                </a:solidFill>
                <a:latin typeface="Meiryo"/>
              </a:rPr>
              <a:t>対応方針</a:t>
            </a:r>
          </a:p>
        </p:txBody>
      </p:sp>
      <p:sp>
        <p:nvSpPr>
          <p:cNvPr id="8" name="Rectangle 7"/>
          <p:cNvSpPr/>
          <p:nvPr/>
        </p:nvSpPr>
        <p:spPr>
          <a:xfrm>
            <a:off x="540000" y="1386000"/>
            <a:ext cx="270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1386000"/>
            <a:ext cx="259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Arnisによる海外都市地形の生成に時間がかかる</a:t>
            </a:r>
          </a:p>
        </p:txBody>
      </p:sp>
      <p:sp>
        <p:nvSpPr>
          <p:cNvPr id="10" name="Rectangle 9"/>
          <p:cNvSpPr/>
          <p:nvPr/>
        </p:nvSpPr>
        <p:spPr>
          <a:xfrm>
            <a:off x="3240000" y="1386000"/>
            <a:ext cx="378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2000" y="1386000"/>
            <a:ext cx="367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「せかいをのぞこう」をフェーズ4（8月）に配置。生成遅延時は『景観のみ』にスコープ縮退。</a:t>
            </a:r>
          </a:p>
        </p:txBody>
      </p:sp>
      <p:sp>
        <p:nvSpPr>
          <p:cNvPr id="12" name="Rectangle 11"/>
          <p:cNvSpPr/>
          <p:nvPr/>
        </p:nvSpPr>
        <p:spPr>
          <a:xfrm>
            <a:off x="540000" y="2106000"/>
            <a:ext cx="270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000" y="2106000"/>
            <a:ext cx="259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.mcworld のファイルサイズが肥大化し動作が重くなる</a:t>
            </a:r>
          </a:p>
        </p:txBody>
      </p:sp>
      <p:sp>
        <p:nvSpPr>
          <p:cNvPr id="14" name="Rectangle 13"/>
          <p:cNvSpPr/>
          <p:nvPr/>
        </p:nvSpPr>
        <p:spPr>
          <a:xfrm>
            <a:off x="3240000" y="2106000"/>
            <a:ext cx="378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2000" y="2106000"/>
            <a:ext cx="367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各フェーズ終了時にサイズ計測。必要に応じ地形精度の段階的ダウン調整で対応。</a:t>
            </a:r>
          </a:p>
        </p:txBody>
      </p:sp>
      <p:sp>
        <p:nvSpPr>
          <p:cNvPr id="16" name="Rectangle 15"/>
          <p:cNvSpPr/>
          <p:nvPr/>
        </p:nvSpPr>
        <p:spPr>
          <a:xfrm>
            <a:off x="540000" y="2826000"/>
            <a:ext cx="270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000" y="2826000"/>
            <a:ext cx="259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フェーズ1試作後に方針変更の要望が入る</a:t>
            </a:r>
          </a:p>
        </p:txBody>
      </p:sp>
      <p:sp>
        <p:nvSpPr>
          <p:cNvPr id="18" name="Rectangle 17"/>
          <p:cNvSpPr/>
          <p:nvPr/>
        </p:nvSpPr>
        <p:spPr>
          <a:xfrm>
            <a:off x="3240000" y="2826000"/>
            <a:ext cx="378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2000" y="2826000"/>
            <a:ext cx="367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フェーズ1を最小プロトタイプと位置づけ、早期に方向性を固定。以降は差分調整に留める。</a:t>
            </a:r>
          </a:p>
        </p:txBody>
      </p:sp>
      <p:sp>
        <p:nvSpPr>
          <p:cNvPr id="20" name="Rectangle 19"/>
          <p:cNvSpPr/>
          <p:nvPr/>
        </p:nvSpPr>
        <p:spPr>
          <a:xfrm>
            <a:off x="540000" y="3546000"/>
            <a:ext cx="270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000" y="3546000"/>
            <a:ext cx="259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PDF教材15セットの作成工数が膨らむ</a:t>
            </a:r>
          </a:p>
        </p:txBody>
      </p:sp>
      <p:sp>
        <p:nvSpPr>
          <p:cNvPr id="22" name="Rectangle 21"/>
          <p:cNvSpPr/>
          <p:nvPr/>
        </p:nvSpPr>
        <p:spPr>
          <a:xfrm>
            <a:off x="3240000" y="3546000"/>
            <a:ext cx="378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12000" y="3546000"/>
            <a:ext cx="367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スタッフ用スクリプトを共通テンプレート化し、ミッション差分のみ記述する形式で効率化。</a:t>
            </a:r>
          </a:p>
        </p:txBody>
      </p:sp>
      <p:sp>
        <p:nvSpPr>
          <p:cNvPr id="24" name="Rectangle 23"/>
          <p:cNvSpPr/>
          <p:nvPr/>
        </p:nvSpPr>
        <p:spPr>
          <a:xfrm>
            <a:off x="540000" y="4266000"/>
            <a:ext cx="270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000" y="4266000"/>
            <a:ext cx="259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11月のテストプレイ機会が確保できない</a:t>
            </a:r>
          </a:p>
        </p:txBody>
      </p:sp>
      <p:sp>
        <p:nvSpPr>
          <p:cNvPr id="26" name="Rectangle 25"/>
          <p:cNvSpPr/>
          <p:nvPr/>
        </p:nvSpPr>
        <p:spPr>
          <a:xfrm>
            <a:off x="3240000" y="4266000"/>
            <a:ext cx="3780000" cy="720000"/>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12000" y="4266000"/>
            <a:ext cx="367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リモート動画共有／内部代替テストでの補完を併用し、12月納期を死守。</a:t>
            </a:r>
          </a:p>
        </p:txBody>
      </p:sp>
      <p:sp>
        <p:nvSpPr>
          <p:cNvPr id="28" name="Rectangle 27"/>
          <p:cNvSpPr/>
          <p:nvPr/>
        </p:nvSpPr>
        <p:spPr>
          <a:xfrm>
            <a:off x="540000" y="4986000"/>
            <a:ext cx="270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000" y="4986000"/>
            <a:ext cx="259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年末の最終納品タイミングが関係者の都合で取りづらい</a:t>
            </a:r>
          </a:p>
        </p:txBody>
      </p:sp>
      <p:sp>
        <p:nvSpPr>
          <p:cNvPr id="30" name="Rectangle 29"/>
          <p:cNvSpPr/>
          <p:nvPr/>
        </p:nvSpPr>
        <p:spPr>
          <a:xfrm>
            <a:off x="3240000" y="4986000"/>
            <a:ext cx="3780000" cy="720000"/>
          </a:xfrm>
          <a:prstGeom prst="rect">
            <a:avLst/>
          </a:prstGeom>
          <a:solidFill>
            <a:srgbClr val="FFFFFF"/>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12000" y="4986000"/>
            <a:ext cx="3672000" cy="720000"/>
          </a:xfrm>
          <a:prstGeom prst="rect">
            <a:avLst/>
          </a:prstGeom>
          <a:noFill/>
          <a:ln>
            <a:noFill/>
          </a:ln>
        </p:spPr>
        <p:txBody>
          <a:bodyPr wrap="square" lIns="54000" rIns="54000" tIns="36000" bIns="36000" anchor="ctr">
            <a:spAutoFit/>
          </a:bodyPr>
          <a:lstStyle/>
          <a:p>
            <a:pPr algn="l">
              <a:lnSpc>
                <a:spcPct val="130000"/>
              </a:lnSpc>
            </a:pPr>
            <a:r>
              <a:rPr sz="1000" b="0">
                <a:solidFill>
                  <a:srgbClr val="1E232D"/>
                </a:solidFill>
                <a:latin typeface="Meiryo"/>
              </a:rPr>
              <a:t>12月前半に最終版を完成させ、後半2週間を受け渡しバッファとして確保。</a:t>
            </a:r>
          </a:p>
        </p:txBody>
      </p:sp>
      <p:sp>
        <p:nvSpPr>
          <p:cNvPr id="32" name="Rectangle 31"/>
          <p:cNvSpPr/>
          <p:nvPr/>
        </p:nvSpPr>
        <p:spPr>
          <a:xfrm>
            <a:off x="540000" y="6066000"/>
            <a:ext cx="6480000" cy="1007999"/>
          </a:xfrm>
          <a:prstGeom prst="rect">
            <a:avLst/>
          </a:prstGeom>
          <a:solidFill>
            <a:srgbClr val="F7F9FC"/>
          </a:solidFill>
          <a:ln w="6350">
            <a:solidFill>
              <a:srgbClr val="BEC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4000" y="6174000"/>
            <a:ext cx="6192000" cy="792000"/>
          </a:xfrm>
          <a:prstGeom prst="rect">
            <a:avLst/>
          </a:prstGeom>
          <a:noFill/>
          <a:ln>
            <a:noFill/>
          </a:ln>
        </p:spPr>
        <p:txBody>
          <a:bodyPr wrap="square" lIns="54000" rIns="54000" tIns="36000" bIns="36000" anchor="ctr">
            <a:spAutoFit/>
          </a:bodyPr>
          <a:lstStyle/>
          <a:p>
            <a:pPr algn="l">
              <a:lnSpc>
                <a:spcPct val="150000"/>
              </a:lnSpc>
            </a:pPr>
            <a:r>
              <a:rPr sz="1050" b="0">
                <a:solidFill>
                  <a:srgbClr val="1E232D"/>
                </a:solidFill>
                <a:latin typeface="Meiryo"/>
              </a:rPr>
              <a:t>本計画はあくまで現時点のベストプランであり、試作フェーズでの気づきや</a:t>
            </a:r>
          </a:p>
          <a:p>
            <a:pPr algn="l">
              <a:lnSpc>
                <a:spcPct val="150000"/>
              </a:lnSpc>
            </a:pPr>
            <a:r>
              <a:rPr sz="1050" b="0">
                <a:solidFill>
                  <a:srgbClr val="1E232D"/>
                </a:solidFill>
                <a:latin typeface="Meiryo"/>
              </a:rPr>
              <a:t>クライアント様からのご要望を踏まえ、柔軟に調整してまいります。</a:t>
            </a:r>
          </a:p>
          <a:p>
            <a:pPr algn="l">
              <a:lnSpc>
                <a:spcPct val="150000"/>
              </a:lnSpc>
            </a:pPr>
            <a:r>
              <a:rPr sz="1050" b="0">
                <a:solidFill>
                  <a:srgbClr val="1E232D"/>
                </a:solidFill>
                <a:latin typeface="Meiryo"/>
              </a:rPr>
              <a:t>ご不明点・ご相談事項がございましたらお気軽にご連絡ください。</a:t>
            </a:r>
          </a:p>
        </p:txBody>
      </p:sp>
      <p:sp>
        <p:nvSpPr>
          <p:cNvPr id="34" name="TextBox 33"/>
          <p:cNvSpPr txBox="1"/>
          <p:nvPr/>
        </p:nvSpPr>
        <p:spPr>
          <a:xfrm>
            <a:off x="540000" y="10332000"/>
            <a:ext cx="6480000" cy="216000"/>
          </a:xfrm>
          <a:prstGeom prst="rect">
            <a:avLst/>
          </a:prstGeom>
          <a:noFill/>
          <a:ln>
            <a:noFill/>
          </a:ln>
        </p:spPr>
        <p:txBody>
          <a:bodyPr wrap="square" lIns="54000" rIns="54000" tIns="36000" bIns="36000" anchor="t">
            <a:spAutoFit/>
          </a:bodyPr>
          <a:lstStyle/>
          <a:p>
            <a:pPr algn="ctr">
              <a:lnSpc>
                <a:spcPct val="115000"/>
              </a:lnSpc>
            </a:pPr>
            <a:r>
              <a:rPr sz="800" b="0">
                <a:solidFill>
                  <a:srgbClr val="6E7682"/>
                </a:solidFill>
                <a:latin typeface="Meiryo"/>
              </a:rPr>
              <a:t>ワンライフ様 Minecraft学習コンテンツ 完成計画書    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