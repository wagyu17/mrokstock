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7559675" cy="1069181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254" y="-6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0000" cy="198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0000" y="360000"/>
            <a:ext cx="6480000" cy="288000"/>
          </a:xfrm>
          <a:prstGeom prst="rect">
            <a:avLst/>
          </a:prstGeom>
          <a:noFill/>
          <a:ln>
            <a:noFill/>
          </a:ln>
        </p:spPr>
        <p:txBody>
          <a:bodyPr wrap="square" lIns="54000" tIns="28800" rIns="54000" bIns="28800" anchor="t">
            <a:spAutoFit/>
          </a:bodyPr>
          <a:lstStyle/>
          <a:p>
            <a:pPr algn="l">
              <a:lnSpc>
                <a:spcPct val="120000"/>
              </a:lnSpc>
            </a:pPr>
            <a:r>
              <a:rPr sz="1100" b="1">
                <a:solidFill>
                  <a:srgbClr val="FFFFFF"/>
                </a:solidFill>
                <a:latin typeface="Meiryo"/>
              </a:rPr>
              <a:t>株式会社ワンライフ 御中</a:t>
            </a:r>
          </a:p>
        </p:txBody>
      </p:sp>
      <p:sp>
        <p:nvSpPr>
          <p:cNvPr id="4" name="TextBox 3"/>
          <p:cNvSpPr txBox="1"/>
          <p:nvPr/>
        </p:nvSpPr>
        <p:spPr>
          <a:xfrm>
            <a:off x="540000" y="720000"/>
            <a:ext cx="6480000" cy="503999"/>
          </a:xfrm>
          <a:prstGeom prst="rect">
            <a:avLst/>
          </a:prstGeom>
          <a:noFill/>
          <a:ln>
            <a:noFill/>
          </a:ln>
        </p:spPr>
        <p:txBody>
          <a:bodyPr wrap="square" lIns="54000" tIns="28800" rIns="54000" bIns="28800" anchor="t">
            <a:spAutoFit/>
          </a:bodyPr>
          <a:lstStyle/>
          <a:p>
            <a:pPr algn="l">
              <a:lnSpc>
                <a:spcPct val="120000"/>
              </a:lnSpc>
            </a:pPr>
            <a:r>
              <a:rPr sz="2400" b="1">
                <a:solidFill>
                  <a:srgbClr val="FFFFFF"/>
                </a:solidFill>
                <a:latin typeface="Meiryo"/>
              </a:rPr>
              <a:t>Minecraft学習プログラム</a:t>
            </a:r>
          </a:p>
        </p:txBody>
      </p:sp>
      <p:sp>
        <p:nvSpPr>
          <p:cNvPr id="5" name="TextBox 4"/>
          <p:cNvSpPr txBox="1"/>
          <p:nvPr/>
        </p:nvSpPr>
        <p:spPr>
          <a:xfrm>
            <a:off x="540000" y="1188000"/>
            <a:ext cx="6480000" cy="376711"/>
          </a:xfrm>
          <a:prstGeom prst="rect">
            <a:avLst/>
          </a:prstGeom>
          <a:noFill/>
          <a:ln>
            <a:noFill/>
          </a:ln>
        </p:spPr>
        <p:txBody>
          <a:bodyPr wrap="square" lIns="54000" tIns="28800" rIns="54000" bIns="28800" anchor="t">
            <a:spAutoFit/>
          </a:bodyPr>
          <a:lstStyle/>
          <a:p>
            <a:pPr algn="l">
              <a:lnSpc>
                <a:spcPct val="120000"/>
              </a:lnSpc>
            </a:pPr>
            <a:r>
              <a:rPr sz="1800" b="1" dirty="0" err="1">
                <a:solidFill>
                  <a:srgbClr val="FFFFFF"/>
                </a:solidFill>
                <a:latin typeface="Meiryo"/>
              </a:rPr>
              <a:t>開発提案書</a:t>
            </a:r>
            <a:endParaRPr sz="1800" b="1" dirty="0">
              <a:solidFill>
                <a:srgbClr val="FFFFFF"/>
              </a:solidFill>
              <a:latin typeface="Meiryo"/>
            </a:endParaRPr>
          </a:p>
        </p:txBody>
      </p:sp>
      <p:sp>
        <p:nvSpPr>
          <p:cNvPr id="6" name="TextBox 5"/>
          <p:cNvSpPr txBox="1"/>
          <p:nvPr/>
        </p:nvSpPr>
        <p:spPr>
          <a:xfrm>
            <a:off x="540000" y="1584000"/>
            <a:ext cx="6480000" cy="288000"/>
          </a:xfrm>
          <a:prstGeom prst="rect">
            <a:avLst/>
          </a:prstGeom>
          <a:noFill/>
          <a:ln>
            <a:noFill/>
          </a:ln>
        </p:spPr>
        <p:txBody>
          <a:bodyPr wrap="square" lIns="54000" tIns="28800" rIns="54000" bIns="28800" anchor="t">
            <a:spAutoFit/>
          </a:bodyPr>
          <a:lstStyle/>
          <a:p>
            <a:pPr algn="l">
              <a:lnSpc>
                <a:spcPct val="120000"/>
              </a:lnSpc>
            </a:pPr>
            <a:r>
              <a:rPr sz="1100" b="0">
                <a:solidFill>
                  <a:srgbClr val="FFFFFF"/>
                </a:solidFill>
                <a:latin typeface="Meiryo"/>
              </a:rPr>
              <a:t>〜 子どもの自律的な学びへ点火するプログラム 〜</a:t>
            </a:r>
          </a:p>
        </p:txBody>
      </p:sp>
      <p:sp>
        <p:nvSpPr>
          <p:cNvPr id="7" name="Rectangle 6"/>
          <p:cNvSpPr/>
          <p:nvPr/>
        </p:nvSpPr>
        <p:spPr>
          <a:xfrm>
            <a:off x="540000" y="2520000"/>
            <a:ext cx="6480000" cy="226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4000" y="2628000"/>
            <a:ext cx="6192000" cy="288000"/>
          </a:xfrm>
          <a:prstGeom prst="rect">
            <a:avLst/>
          </a:prstGeom>
          <a:noFill/>
          <a:ln>
            <a:noFill/>
          </a:ln>
        </p:spPr>
        <p:txBody>
          <a:bodyPr wrap="square" lIns="54000" tIns="28800" rIns="54000" bIns="28800" anchor="t">
            <a:spAutoFit/>
          </a:bodyPr>
          <a:lstStyle/>
          <a:p>
            <a:pPr algn="l">
              <a:lnSpc>
                <a:spcPct val="120000"/>
              </a:lnSpc>
            </a:pPr>
            <a:r>
              <a:rPr sz="1200" b="1">
                <a:solidFill>
                  <a:srgbClr val="203A60"/>
                </a:solidFill>
                <a:latin typeface="Meiryo"/>
              </a:rPr>
              <a:t>本提案書について</a:t>
            </a:r>
          </a:p>
        </p:txBody>
      </p:sp>
      <p:sp>
        <p:nvSpPr>
          <p:cNvPr id="9" name="TextBox 8"/>
          <p:cNvSpPr txBox="1"/>
          <p:nvPr/>
        </p:nvSpPr>
        <p:spPr>
          <a:xfrm>
            <a:off x="684000" y="2916000"/>
            <a:ext cx="6192000" cy="1800000"/>
          </a:xfrm>
          <a:prstGeom prst="rect">
            <a:avLst/>
          </a:prstGeom>
          <a:noFill/>
          <a:ln>
            <a:noFill/>
          </a:ln>
        </p:spPr>
        <p:txBody>
          <a:bodyPr wrap="square" lIns="54000" tIns="28800" rIns="54000" bIns="28800" anchor="t">
            <a:spAutoFit/>
          </a:bodyPr>
          <a:lstStyle/>
          <a:p>
            <a:pPr algn="l">
              <a:lnSpc>
                <a:spcPct val="140000"/>
              </a:lnSpc>
            </a:pPr>
            <a:r>
              <a:rPr sz="1050" b="0" dirty="0" err="1">
                <a:solidFill>
                  <a:srgbClr val="1E232D"/>
                </a:solidFill>
                <a:latin typeface="Meiryo"/>
              </a:rPr>
              <a:t>本提案書は、放課後等デイサービス向け</a:t>
            </a:r>
            <a:r>
              <a:rPr sz="1050" b="0" dirty="0">
                <a:solidFill>
                  <a:srgbClr val="1E232D"/>
                </a:solidFill>
                <a:latin typeface="Meiryo"/>
              </a:rPr>
              <a:t> </a:t>
            </a:r>
            <a:r>
              <a:rPr sz="1050" b="0" dirty="0" err="1">
                <a:solidFill>
                  <a:srgbClr val="1E232D"/>
                </a:solidFill>
                <a:latin typeface="Meiryo"/>
              </a:rPr>
              <a:t>Minecraft学習プログラムの開発方針と</a:t>
            </a:r>
            <a:endParaRPr sz="1050" b="0" dirty="0">
              <a:solidFill>
                <a:srgbClr val="1E232D"/>
              </a:solidFill>
              <a:latin typeface="Meiryo"/>
            </a:endParaRPr>
          </a:p>
          <a:p>
            <a:pPr algn="l">
              <a:lnSpc>
                <a:spcPct val="140000"/>
              </a:lnSpc>
            </a:pPr>
            <a:r>
              <a:rPr sz="1050" b="0" dirty="0" err="1">
                <a:solidFill>
                  <a:srgbClr val="1E232D"/>
                </a:solidFill>
                <a:latin typeface="Meiryo"/>
              </a:rPr>
              <a:t>スケジュールをまとめたものです。初版からの大きな変更点として</a:t>
            </a:r>
            <a:r>
              <a:rPr sz="1050" b="0" dirty="0">
                <a:solidFill>
                  <a:srgbClr val="1E232D"/>
                </a:solidFill>
                <a:latin typeface="Meiryo"/>
              </a:rPr>
              <a:t>、</a:t>
            </a:r>
          </a:p>
          <a:p>
            <a:pPr algn="l">
              <a:lnSpc>
                <a:spcPct val="140000"/>
              </a:lnSpc>
            </a:pPr>
            <a:r>
              <a:rPr sz="1050" b="0" dirty="0">
                <a:solidFill>
                  <a:srgbClr val="1E232D"/>
                </a:solidFill>
                <a:latin typeface="Meiryo"/>
              </a:rPr>
              <a:t>「</a:t>
            </a:r>
            <a:r>
              <a:rPr sz="1050" b="0" dirty="0" err="1">
                <a:solidFill>
                  <a:srgbClr val="1E232D"/>
                </a:solidFill>
                <a:latin typeface="Meiryo"/>
              </a:rPr>
              <a:t>児童の自律的な学びを点火するゲートウェイ設計思想」を正面に据え</a:t>
            </a:r>
            <a:r>
              <a:rPr sz="1050" b="0" dirty="0">
                <a:solidFill>
                  <a:srgbClr val="1E232D"/>
                </a:solidFill>
                <a:latin typeface="Meiryo"/>
              </a:rPr>
              <a:t>、</a:t>
            </a:r>
          </a:p>
          <a:p>
            <a:pPr algn="l">
              <a:lnSpc>
                <a:spcPct val="140000"/>
              </a:lnSpc>
            </a:pPr>
            <a:r>
              <a:rPr sz="1050" b="0" dirty="0" err="1">
                <a:solidFill>
                  <a:srgbClr val="1E232D"/>
                </a:solidFill>
                <a:latin typeface="Meiryo"/>
              </a:rPr>
              <a:t>Minecraftワールドと連動Webサイト・PDF教材を一体運用する設計としています</a:t>
            </a:r>
            <a:r>
              <a:rPr sz="1050" b="0" dirty="0">
                <a:solidFill>
                  <a:srgbClr val="1E232D"/>
                </a:solidFill>
                <a:latin typeface="Meiryo"/>
              </a:rPr>
              <a:t>。</a:t>
            </a:r>
          </a:p>
          <a:p>
            <a:pPr algn="l">
              <a:lnSpc>
                <a:spcPct val="140000"/>
              </a:lnSpc>
            </a:pPr>
            <a:r>
              <a:rPr sz="1050" b="0" dirty="0">
                <a:solidFill>
                  <a:srgbClr val="1E232D"/>
                </a:solidFill>
                <a:latin typeface="Meiryo"/>
              </a:rPr>
              <a:t>ご確認の上、方針のご判断（後述2点）と、進行についてのご合意をお願い申し上げます。</a:t>
            </a:r>
          </a:p>
        </p:txBody>
      </p:sp>
      <p:sp>
        <p:nvSpPr>
          <p:cNvPr id="10" name="Rectangle 9"/>
          <p:cNvSpPr/>
          <p:nvPr/>
        </p:nvSpPr>
        <p:spPr>
          <a:xfrm>
            <a:off x="540000" y="514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20000" y="514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000" y="514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プロジェクト名</a:t>
            </a:r>
          </a:p>
        </p:txBody>
      </p:sp>
      <p:sp>
        <p:nvSpPr>
          <p:cNvPr id="13" name="TextBox 12"/>
          <p:cNvSpPr txBox="1"/>
          <p:nvPr/>
        </p:nvSpPr>
        <p:spPr>
          <a:xfrm>
            <a:off x="2592000" y="514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Minecraft学習プログラム（ワンライフ様専用）</a:t>
            </a:r>
          </a:p>
        </p:txBody>
      </p:sp>
      <p:sp>
        <p:nvSpPr>
          <p:cNvPr id="14" name="Rectangle 13"/>
          <p:cNvSpPr/>
          <p:nvPr/>
        </p:nvSpPr>
        <p:spPr>
          <a:xfrm>
            <a:off x="540000" y="550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20000" y="550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000" y="550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委託者</a:t>
            </a:r>
          </a:p>
        </p:txBody>
      </p:sp>
      <p:sp>
        <p:nvSpPr>
          <p:cNvPr id="17" name="TextBox 16"/>
          <p:cNvSpPr txBox="1"/>
          <p:nvPr/>
        </p:nvSpPr>
        <p:spPr>
          <a:xfrm>
            <a:off x="2592000" y="550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株式会社ワンライフ</a:t>
            </a:r>
          </a:p>
        </p:txBody>
      </p:sp>
      <p:sp>
        <p:nvSpPr>
          <p:cNvPr id="18" name="Rectangle 17"/>
          <p:cNvSpPr/>
          <p:nvPr/>
        </p:nvSpPr>
        <p:spPr>
          <a:xfrm>
            <a:off x="540000" y="586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20000" y="586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000" y="586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受託者</a:t>
            </a:r>
          </a:p>
        </p:txBody>
      </p:sp>
      <p:sp>
        <p:nvSpPr>
          <p:cNvPr id="21" name="TextBox 20"/>
          <p:cNvSpPr txBox="1"/>
          <p:nvPr/>
        </p:nvSpPr>
        <p:spPr>
          <a:xfrm>
            <a:off x="2592000" y="586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丸岡 大也</a:t>
            </a:r>
          </a:p>
        </p:txBody>
      </p:sp>
      <p:sp>
        <p:nvSpPr>
          <p:cNvPr id="22" name="Rectangle 21"/>
          <p:cNvSpPr/>
          <p:nvPr/>
        </p:nvSpPr>
        <p:spPr>
          <a:xfrm>
            <a:off x="540000" y="622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20000" y="622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000" y="622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対象</a:t>
            </a:r>
          </a:p>
        </p:txBody>
      </p:sp>
      <p:sp>
        <p:nvSpPr>
          <p:cNvPr id="25" name="TextBox 24"/>
          <p:cNvSpPr txBox="1"/>
          <p:nvPr/>
        </p:nvSpPr>
        <p:spPr>
          <a:xfrm>
            <a:off x="2592000" y="622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放課後等デイサービス利用児童（小1〜高校生）</a:t>
            </a:r>
          </a:p>
        </p:txBody>
      </p:sp>
      <p:sp>
        <p:nvSpPr>
          <p:cNvPr id="26" name="Rectangle 25"/>
          <p:cNvSpPr/>
          <p:nvPr/>
        </p:nvSpPr>
        <p:spPr>
          <a:xfrm>
            <a:off x="540000" y="658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520000" y="658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000" y="658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ワールド完成目標</a:t>
            </a:r>
          </a:p>
        </p:txBody>
      </p:sp>
      <p:sp>
        <p:nvSpPr>
          <p:cNvPr id="29" name="TextBox 28"/>
          <p:cNvSpPr txBox="1"/>
          <p:nvPr/>
        </p:nvSpPr>
        <p:spPr>
          <a:xfrm>
            <a:off x="2592000" y="658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2026年8月末</a:t>
            </a:r>
          </a:p>
        </p:txBody>
      </p:sp>
      <p:sp>
        <p:nvSpPr>
          <p:cNvPr id="30" name="Rectangle 29"/>
          <p:cNvSpPr/>
          <p:nvPr/>
        </p:nvSpPr>
        <p:spPr>
          <a:xfrm>
            <a:off x="540000" y="694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20000" y="694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000" y="694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プロジェクト完了目標</a:t>
            </a:r>
          </a:p>
        </p:txBody>
      </p:sp>
      <p:sp>
        <p:nvSpPr>
          <p:cNvPr id="33" name="TextBox 32"/>
          <p:cNvSpPr txBox="1"/>
          <p:nvPr/>
        </p:nvSpPr>
        <p:spPr>
          <a:xfrm>
            <a:off x="2592000" y="694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2026年12月末（最終納品）</a:t>
            </a:r>
          </a:p>
        </p:txBody>
      </p:sp>
      <p:sp>
        <p:nvSpPr>
          <p:cNvPr id="34" name="Rectangle 33"/>
          <p:cNvSpPr/>
          <p:nvPr/>
        </p:nvSpPr>
        <p:spPr>
          <a:xfrm>
            <a:off x="540000" y="730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520000" y="730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2000" y="730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本提案書 作成日</a:t>
            </a:r>
          </a:p>
        </p:txBody>
      </p:sp>
      <p:sp>
        <p:nvSpPr>
          <p:cNvPr id="37" name="TextBox 36"/>
          <p:cNvSpPr txBox="1"/>
          <p:nvPr/>
        </p:nvSpPr>
        <p:spPr>
          <a:xfrm>
            <a:off x="2592000" y="730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2026年4月21日</a:t>
            </a:r>
          </a:p>
        </p:txBody>
      </p:sp>
      <p:sp>
        <p:nvSpPr>
          <p:cNvPr id="38" name="Rectangle 37"/>
          <p:cNvSpPr/>
          <p:nvPr/>
        </p:nvSpPr>
        <p:spPr>
          <a:xfrm>
            <a:off x="540000" y="7668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20000" y="7668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2000" y="7668000"/>
            <a:ext cx="1908000" cy="360000"/>
          </a:xfrm>
          <a:prstGeom prst="rect">
            <a:avLst/>
          </a:prstGeom>
          <a:noFill/>
          <a:ln>
            <a:noFill/>
          </a:ln>
        </p:spPr>
        <p:txBody>
          <a:bodyPr wrap="square" lIns="54000" tIns="28800" rIns="54000" bIns="28800" anchor="ctr">
            <a:spAutoFit/>
          </a:bodyPr>
          <a:lstStyle/>
          <a:p>
            <a:pPr algn="l">
              <a:lnSpc>
                <a:spcPct val="120000"/>
              </a:lnSpc>
            </a:pPr>
            <a:r>
              <a:rPr sz="1000" b="1">
                <a:solidFill>
                  <a:srgbClr val="203A60"/>
                </a:solidFill>
                <a:latin typeface="Meiryo"/>
              </a:rPr>
              <a:t>ご回答期限の目安</a:t>
            </a:r>
          </a:p>
        </p:txBody>
      </p:sp>
      <p:sp>
        <p:nvSpPr>
          <p:cNvPr id="41" name="TextBox 40"/>
          <p:cNvSpPr txBox="1"/>
          <p:nvPr/>
        </p:nvSpPr>
        <p:spPr>
          <a:xfrm>
            <a:off x="2592000" y="7668000"/>
            <a:ext cx="4428000" cy="360000"/>
          </a:xfrm>
          <a:prstGeom prst="rect">
            <a:avLst/>
          </a:prstGeom>
          <a:noFill/>
          <a:ln>
            <a:noFill/>
          </a:ln>
        </p:spPr>
        <p:txBody>
          <a:bodyPr wrap="square" lIns="54000" tIns="28800" rIns="54000" bIns="28800" anchor="ctr">
            <a:spAutoFit/>
          </a:bodyPr>
          <a:lstStyle/>
          <a:p>
            <a:pPr algn="l">
              <a:lnSpc>
                <a:spcPct val="120000"/>
              </a:lnSpc>
            </a:pPr>
            <a:r>
              <a:rPr sz="1000" b="0">
                <a:solidFill>
                  <a:srgbClr val="1E232D"/>
                </a:solidFill>
                <a:latin typeface="Meiryo"/>
              </a:rPr>
              <a:t>2026年4月30日（木）</a:t>
            </a:r>
          </a:p>
        </p:txBody>
      </p:sp>
      <p:sp>
        <p:nvSpPr>
          <p:cNvPr id="42" name="TextBox 41"/>
          <p:cNvSpPr txBox="1"/>
          <p:nvPr/>
        </p:nvSpPr>
        <p:spPr>
          <a:xfrm>
            <a:off x="540000" y="9864001"/>
            <a:ext cx="6480000" cy="238212"/>
          </a:xfrm>
          <a:prstGeom prst="rect">
            <a:avLst/>
          </a:prstGeom>
          <a:noFill/>
          <a:ln>
            <a:noFill/>
          </a:ln>
        </p:spPr>
        <p:txBody>
          <a:bodyPr wrap="square" lIns="54000" tIns="28800" rIns="54000" bIns="28800" anchor="t">
            <a:spAutoFit/>
          </a:bodyPr>
          <a:lstStyle/>
          <a:p>
            <a:pPr algn="l">
              <a:lnSpc>
                <a:spcPct val="140000"/>
              </a:lnSpc>
            </a:pPr>
            <a:r>
              <a:rPr sz="900" b="0" dirty="0">
                <a:solidFill>
                  <a:srgbClr val="6E7682"/>
                </a:solidFill>
                <a:latin typeface="Meiryo"/>
              </a:rPr>
              <a:t>※ </a:t>
            </a:r>
            <a:r>
              <a:rPr sz="900" b="0" dirty="0" err="1">
                <a:solidFill>
                  <a:srgbClr val="6E7682"/>
                </a:solidFill>
                <a:latin typeface="Meiryo"/>
              </a:rPr>
              <a:t>本資料中の「推奨」は受託者側の判断材料提供であり、クライアント様のご判断を優先します</a:t>
            </a:r>
            <a:r>
              <a:rPr sz="900" b="0" dirty="0">
                <a:solidFill>
                  <a:srgbClr val="6E7682"/>
                </a:solidFill>
                <a:latin typeface="Meiryo"/>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 本プロジェクトの真の目的</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私たちが作るもの＝「火付け役」（ゲートウェイ）</a:t>
            </a:r>
          </a:p>
        </p:txBody>
      </p:sp>
      <p:sp>
        <p:nvSpPr>
          <p:cNvPr id="6" name="TextBox 5"/>
          <p:cNvSpPr txBox="1"/>
          <p:nvPr/>
        </p:nvSpPr>
        <p:spPr>
          <a:xfrm>
            <a:off x="540000" y="1440000"/>
            <a:ext cx="6480000" cy="1800000"/>
          </a:xfrm>
          <a:prstGeom prst="rect">
            <a:avLst/>
          </a:prstGeom>
          <a:noFill/>
          <a:ln>
            <a:noFill/>
          </a:ln>
        </p:spPr>
        <p:txBody>
          <a:bodyPr wrap="square" lIns="54000" tIns="28800" rIns="54000" bIns="28800" anchor="t">
            <a:spAutoFit/>
          </a:bodyPr>
          <a:lstStyle/>
          <a:p>
            <a:pPr algn="l">
              <a:lnSpc>
                <a:spcPct val="150000"/>
              </a:lnSpc>
            </a:pPr>
            <a:r>
              <a:rPr sz="1100" b="0" dirty="0" err="1">
                <a:solidFill>
                  <a:srgbClr val="1E232D"/>
                </a:solidFill>
                <a:latin typeface="Meiryo"/>
              </a:rPr>
              <a:t>本プログラムは、児童に完結した学習を詰め込むコンテンツではなく</a:t>
            </a:r>
            <a:r>
              <a:rPr sz="1100" b="0" dirty="0">
                <a:solidFill>
                  <a:srgbClr val="1E232D"/>
                </a:solidFill>
                <a:latin typeface="Meiryo"/>
              </a:rPr>
              <a:t>、</a:t>
            </a:r>
          </a:p>
          <a:p>
            <a:pPr algn="l">
              <a:lnSpc>
                <a:spcPct val="150000"/>
              </a:lnSpc>
            </a:pPr>
            <a:r>
              <a:rPr sz="1100" b="0" dirty="0">
                <a:solidFill>
                  <a:srgbClr val="1E232D"/>
                </a:solidFill>
                <a:latin typeface="Meiryo"/>
              </a:rPr>
              <a:t>『</a:t>
            </a:r>
            <a:r>
              <a:rPr sz="1100" b="0" dirty="0" err="1">
                <a:solidFill>
                  <a:srgbClr val="1E232D"/>
                </a:solidFill>
                <a:latin typeface="Meiryo"/>
              </a:rPr>
              <a:t>学ぶって楽しい</a:t>
            </a:r>
            <a:r>
              <a:rPr sz="1100" b="0" dirty="0">
                <a:solidFill>
                  <a:srgbClr val="1E232D"/>
                </a:solidFill>
                <a:latin typeface="Meiryo"/>
              </a:rPr>
              <a:t>』『</a:t>
            </a:r>
            <a:r>
              <a:rPr sz="1100" b="0" dirty="0" err="1">
                <a:solidFill>
                  <a:srgbClr val="1E232D"/>
                </a:solidFill>
                <a:latin typeface="Meiryo"/>
              </a:rPr>
              <a:t>マイクラって楽しい』と感じてもらう火付け役です</a:t>
            </a:r>
            <a:r>
              <a:rPr sz="1100" b="0" dirty="0">
                <a:solidFill>
                  <a:srgbClr val="1E232D"/>
                </a:solidFill>
                <a:latin typeface="Meiryo"/>
              </a:rPr>
              <a:t>。</a:t>
            </a:r>
          </a:p>
          <a:p>
            <a:pPr algn="l">
              <a:lnSpc>
                <a:spcPct val="150000"/>
              </a:lnSpc>
            </a:pPr>
            <a:r>
              <a:rPr sz="1100" b="0" dirty="0" err="1">
                <a:solidFill>
                  <a:srgbClr val="1E232D"/>
                </a:solidFill>
                <a:latin typeface="Meiryo"/>
              </a:rPr>
              <a:t>火がついた後の本当の学びは、児童自身が選ぶサバイバル・マルチプレイ</a:t>
            </a:r>
            <a:r>
              <a:rPr sz="1100" b="0" dirty="0">
                <a:solidFill>
                  <a:srgbClr val="1E232D"/>
                </a:solidFill>
                <a:latin typeface="Meiryo"/>
              </a:rPr>
              <a:t>・</a:t>
            </a:r>
          </a:p>
          <a:p>
            <a:pPr algn="l">
              <a:lnSpc>
                <a:spcPct val="150000"/>
              </a:lnSpc>
            </a:pPr>
            <a:r>
              <a:rPr sz="1100" b="0" dirty="0" err="1">
                <a:solidFill>
                  <a:srgbClr val="1E232D"/>
                </a:solidFill>
                <a:latin typeface="Meiryo"/>
              </a:rPr>
              <a:t>創作・YouTube再現の中で起こります。本プログラムはそこへ向かうための</a:t>
            </a:r>
            <a:endParaRPr sz="1100" b="0" dirty="0">
              <a:solidFill>
                <a:srgbClr val="1E232D"/>
              </a:solidFill>
              <a:latin typeface="Meiryo"/>
            </a:endParaRPr>
          </a:p>
          <a:p>
            <a:pPr algn="l">
              <a:lnSpc>
                <a:spcPct val="150000"/>
              </a:lnSpc>
            </a:pPr>
            <a:r>
              <a:rPr sz="1100" b="0" dirty="0" err="1">
                <a:solidFill>
                  <a:srgbClr val="1E232D"/>
                </a:solidFill>
                <a:latin typeface="Meiryo"/>
              </a:rPr>
              <a:t>素地と自信を育てる役割を担います</a:t>
            </a:r>
            <a:r>
              <a:rPr sz="1100" b="0" dirty="0">
                <a:solidFill>
                  <a:srgbClr val="1E232D"/>
                </a:solidFill>
                <a:latin typeface="Meiryo"/>
              </a:rPr>
              <a:t>。</a:t>
            </a:r>
          </a:p>
        </p:txBody>
      </p:sp>
      <p:sp>
        <p:nvSpPr>
          <p:cNvPr id="7" name="Rectangle 6"/>
          <p:cNvSpPr/>
          <p:nvPr/>
        </p:nvSpPr>
        <p:spPr>
          <a:xfrm>
            <a:off x="540000" y="347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342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この思想を選ぶ3段の論理</a:t>
            </a:r>
          </a:p>
        </p:txBody>
      </p:sp>
      <p:sp>
        <p:nvSpPr>
          <p:cNvPr id="9" name="Rectangle 8"/>
          <p:cNvSpPr/>
          <p:nvPr/>
        </p:nvSpPr>
        <p:spPr>
          <a:xfrm>
            <a:off x="540000" y="3816000"/>
            <a:ext cx="540000" cy="1007999"/>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3816000"/>
            <a:ext cx="540000" cy="1007999"/>
          </a:xfrm>
          <a:prstGeom prst="rect">
            <a:avLst/>
          </a:prstGeom>
          <a:noFill/>
          <a:ln>
            <a:noFill/>
          </a:ln>
        </p:spPr>
        <p:txBody>
          <a:bodyPr wrap="square" lIns="54000" tIns="28800" rIns="54000" bIns="28800" anchor="ctr">
            <a:spAutoFit/>
          </a:bodyPr>
          <a:lstStyle/>
          <a:p>
            <a:pPr algn="ctr">
              <a:lnSpc>
                <a:spcPct val="120000"/>
              </a:lnSpc>
            </a:pPr>
            <a:r>
              <a:rPr sz="2200" b="1">
                <a:solidFill>
                  <a:srgbClr val="FFFFFF"/>
                </a:solidFill>
                <a:latin typeface="Meiryo"/>
              </a:rPr>
              <a:t>①</a:t>
            </a:r>
          </a:p>
        </p:txBody>
      </p:sp>
      <p:sp>
        <p:nvSpPr>
          <p:cNvPr id="11" name="Rectangle 10"/>
          <p:cNvSpPr/>
          <p:nvPr/>
        </p:nvSpPr>
        <p:spPr>
          <a:xfrm>
            <a:off x="1080000" y="3816000"/>
            <a:ext cx="5940000" cy="100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000" y="3888000"/>
            <a:ext cx="5796000" cy="288000"/>
          </a:xfrm>
          <a:prstGeom prst="rect">
            <a:avLst/>
          </a:prstGeom>
          <a:noFill/>
          <a:ln>
            <a:noFill/>
          </a:ln>
        </p:spPr>
        <p:txBody>
          <a:bodyPr wrap="square" lIns="54000" tIns="28800" rIns="54000" bIns="28800" anchor="t">
            <a:spAutoFit/>
          </a:bodyPr>
          <a:lstStyle/>
          <a:p>
            <a:pPr algn="l">
              <a:lnSpc>
                <a:spcPct val="120000"/>
              </a:lnSpc>
            </a:pPr>
            <a:r>
              <a:rPr sz="1200" b="1">
                <a:solidFill>
                  <a:srgbClr val="203A60"/>
                </a:solidFill>
                <a:latin typeface="Meiryo"/>
              </a:rPr>
              <a:t>制作するコンテンツには量的な限界がある</a:t>
            </a:r>
          </a:p>
        </p:txBody>
      </p:sp>
      <p:sp>
        <p:nvSpPr>
          <p:cNvPr id="13" name="TextBox 12"/>
          <p:cNvSpPr txBox="1"/>
          <p:nvPr/>
        </p:nvSpPr>
        <p:spPr>
          <a:xfrm>
            <a:off x="1152000" y="4176000"/>
            <a:ext cx="5796000" cy="576000"/>
          </a:xfrm>
          <a:prstGeom prst="rect">
            <a:avLst/>
          </a:prstGeom>
          <a:noFill/>
          <a:ln>
            <a:noFill/>
          </a:ln>
        </p:spPr>
        <p:txBody>
          <a:bodyPr wrap="square" lIns="54000" tIns="28800" rIns="54000" bIns="28800" anchor="t">
            <a:spAutoFit/>
          </a:bodyPr>
          <a:lstStyle/>
          <a:p>
            <a:pPr algn="l">
              <a:lnSpc>
                <a:spcPct val="140000"/>
              </a:lnSpc>
            </a:pPr>
            <a:r>
              <a:rPr sz="1000" b="0" dirty="0">
                <a:solidFill>
                  <a:srgbClr val="1E232D"/>
                </a:solidFill>
                <a:latin typeface="Meiryo"/>
              </a:rPr>
              <a:t>15ミッション全てを完璧に踏破させることは現実的ではないし、そこに価値を置きすぎると失敗体験に繋がる。</a:t>
            </a:r>
          </a:p>
        </p:txBody>
      </p:sp>
      <p:sp>
        <p:nvSpPr>
          <p:cNvPr id="14" name="Rectangle 13"/>
          <p:cNvSpPr/>
          <p:nvPr/>
        </p:nvSpPr>
        <p:spPr>
          <a:xfrm>
            <a:off x="540000" y="4932000"/>
            <a:ext cx="540000" cy="1007999"/>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0000" y="4932000"/>
            <a:ext cx="540000" cy="1007999"/>
          </a:xfrm>
          <a:prstGeom prst="rect">
            <a:avLst/>
          </a:prstGeom>
          <a:noFill/>
          <a:ln>
            <a:noFill/>
          </a:ln>
        </p:spPr>
        <p:txBody>
          <a:bodyPr wrap="square" lIns="54000" tIns="28800" rIns="54000" bIns="28800" anchor="ctr">
            <a:spAutoFit/>
          </a:bodyPr>
          <a:lstStyle/>
          <a:p>
            <a:pPr algn="ctr">
              <a:lnSpc>
                <a:spcPct val="120000"/>
              </a:lnSpc>
            </a:pPr>
            <a:r>
              <a:rPr sz="2200" b="1">
                <a:solidFill>
                  <a:srgbClr val="FFFFFF"/>
                </a:solidFill>
                <a:latin typeface="Meiryo"/>
              </a:rPr>
              <a:t>②</a:t>
            </a:r>
          </a:p>
        </p:txBody>
      </p:sp>
      <p:sp>
        <p:nvSpPr>
          <p:cNvPr id="16" name="Rectangle 15"/>
          <p:cNvSpPr/>
          <p:nvPr/>
        </p:nvSpPr>
        <p:spPr>
          <a:xfrm>
            <a:off x="1080000" y="4932000"/>
            <a:ext cx="5940000" cy="100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52000" y="5004000"/>
            <a:ext cx="5796000" cy="288000"/>
          </a:xfrm>
          <a:prstGeom prst="rect">
            <a:avLst/>
          </a:prstGeom>
          <a:noFill/>
          <a:ln>
            <a:noFill/>
          </a:ln>
        </p:spPr>
        <p:txBody>
          <a:bodyPr wrap="square" lIns="54000" tIns="28800" rIns="54000" bIns="28800" anchor="t">
            <a:spAutoFit/>
          </a:bodyPr>
          <a:lstStyle/>
          <a:p>
            <a:pPr algn="l">
              <a:lnSpc>
                <a:spcPct val="120000"/>
              </a:lnSpc>
            </a:pPr>
            <a:r>
              <a:rPr sz="1200" b="1">
                <a:solidFill>
                  <a:srgbClr val="203A60"/>
                </a:solidFill>
                <a:latin typeface="Meiryo"/>
              </a:rPr>
              <a:t>児童は結局、自発的に自由な遊びに進む</a:t>
            </a:r>
          </a:p>
        </p:txBody>
      </p:sp>
      <p:sp>
        <p:nvSpPr>
          <p:cNvPr id="18" name="TextBox 17"/>
          <p:cNvSpPr txBox="1"/>
          <p:nvPr/>
        </p:nvSpPr>
        <p:spPr>
          <a:xfrm>
            <a:off x="1152000" y="5292000"/>
            <a:ext cx="5796000" cy="576000"/>
          </a:xfrm>
          <a:prstGeom prst="rect">
            <a:avLst/>
          </a:prstGeom>
          <a:noFill/>
          <a:ln>
            <a:noFill/>
          </a:ln>
        </p:spPr>
        <p:txBody>
          <a:bodyPr wrap="square" lIns="54000" tIns="28800" rIns="54000" bIns="28800" anchor="t">
            <a:spAutoFit/>
          </a:bodyPr>
          <a:lstStyle/>
          <a:p>
            <a:pPr algn="l">
              <a:lnSpc>
                <a:spcPct val="140000"/>
              </a:lnSpc>
            </a:pPr>
            <a:r>
              <a:rPr sz="1000" b="0" dirty="0" err="1">
                <a:solidFill>
                  <a:srgbClr val="1E232D"/>
                </a:solidFill>
                <a:latin typeface="Meiryo"/>
              </a:rPr>
              <a:t>サバイバル／マルチプレイ／YouTube動画の再現など、大人が用意した枠を超えた場所で試行錯誤と協力が起こる</a:t>
            </a:r>
            <a:r>
              <a:rPr sz="1000" b="0" dirty="0">
                <a:solidFill>
                  <a:srgbClr val="1E232D"/>
                </a:solidFill>
                <a:latin typeface="Meiryo"/>
              </a:rPr>
              <a:t>。</a:t>
            </a:r>
          </a:p>
        </p:txBody>
      </p:sp>
      <p:sp>
        <p:nvSpPr>
          <p:cNvPr id="19" name="Rectangle 18"/>
          <p:cNvSpPr/>
          <p:nvPr/>
        </p:nvSpPr>
        <p:spPr>
          <a:xfrm>
            <a:off x="540000" y="6048000"/>
            <a:ext cx="540000" cy="1007999"/>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6048000"/>
            <a:ext cx="540000" cy="1007999"/>
          </a:xfrm>
          <a:prstGeom prst="rect">
            <a:avLst/>
          </a:prstGeom>
          <a:noFill/>
          <a:ln>
            <a:noFill/>
          </a:ln>
        </p:spPr>
        <p:txBody>
          <a:bodyPr wrap="square" lIns="54000" tIns="28800" rIns="54000" bIns="28800" anchor="ctr">
            <a:spAutoFit/>
          </a:bodyPr>
          <a:lstStyle/>
          <a:p>
            <a:pPr algn="ctr">
              <a:lnSpc>
                <a:spcPct val="120000"/>
              </a:lnSpc>
            </a:pPr>
            <a:r>
              <a:rPr sz="2200" b="1">
                <a:solidFill>
                  <a:srgbClr val="FFFFFF"/>
                </a:solidFill>
                <a:latin typeface="Meiryo"/>
              </a:rPr>
              <a:t>③</a:t>
            </a:r>
          </a:p>
        </p:txBody>
      </p:sp>
      <p:sp>
        <p:nvSpPr>
          <p:cNvPr id="21" name="Rectangle 20"/>
          <p:cNvSpPr/>
          <p:nvPr/>
        </p:nvSpPr>
        <p:spPr>
          <a:xfrm>
            <a:off x="1080000" y="6048000"/>
            <a:ext cx="5940000" cy="100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52000" y="6120000"/>
            <a:ext cx="5796000" cy="288000"/>
          </a:xfrm>
          <a:prstGeom prst="rect">
            <a:avLst/>
          </a:prstGeom>
          <a:noFill/>
          <a:ln>
            <a:noFill/>
          </a:ln>
        </p:spPr>
        <p:txBody>
          <a:bodyPr wrap="square" lIns="54000" tIns="28800" rIns="54000" bIns="28800" anchor="t">
            <a:spAutoFit/>
          </a:bodyPr>
          <a:lstStyle/>
          <a:p>
            <a:pPr algn="l">
              <a:lnSpc>
                <a:spcPct val="120000"/>
              </a:lnSpc>
            </a:pPr>
            <a:r>
              <a:rPr sz="1200" b="1">
                <a:solidFill>
                  <a:srgbClr val="203A60"/>
                </a:solidFill>
                <a:latin typeface="Meiryo"/>
              </a:rPr>
              <a:t>だから火付け役に徹して、自律的な学びに接続する</a:t>
            </a:r>
          </a:p>
        </p:txBody>
      </p:sp>
      <p:sp>
        <p:nvSpPr>
          <p:cNvPr id="23" name="TextBox 22"/>
          <p:cNvSpPr txBox="1"/>
          <p:nvPr/>
        </p:nvSpPr>
        <p:spPr>
          <a:xfrm>
            <a:off x="1152000" y="6408000"/>
            <a:ext cx="5796000" cy="576000"/>
          </a:xfrm>
          <a:prstGeom prst="rect">
            <a:avLst/>
          </a:prstGeom>
          <a:noFill/>
          <a:ln>
            <a:noFill/>
          </a:ln>
        </p:spPr>
        <p:txBody>
          <a:bodyPr wrap="square" lIns="54000" tIns="28800" rIns="54000" bIns="28800" anchor="t">
            <a:spAutoFit/>
          </a:bodyPr>
          <a:lstStyle/>
          <a:p>
            <a:pPr algn="l">
              <a:lnSpc>
                <a:spcPct val="140000"/>
              </a:lnSpc>
            </a:pPr>
            <a:r>
              <a:rPr sz="1000" b="0" dirty="0" err="1">
                <a:solidFill>
                  <a:srgbClr val="1E232D"/>
                </a:solidFill>
                <a:latin typeface="Meiryo"/>
              </a:rPr>
              <a:t>本プログラムは「入口」として設計し、その先の自由な学びへ繋がる素地・自信・語彙を育てる</a:t>
            </a:r>
            <a:r>
              <a:rPr sz="1000" b="0" dirty="0">
                <a:solidFill>
                  <a:srgbClr val="1E232D"/>
                </a:solidFill>
                <a:latin typeface="Meiryo"/>
              </a:rPr>
              <a:t>。</a:t>
            </a:r>
          </a:p>
        </p:txBody>
      </p:sp>
      <p:sp>
        <p:nvSpPr>
          <p:cNvPr id="24" name="Rectangle 23"/>
          <p:cNvSpPr/>
          <p:nvPr/>
        </p:nvSpPr>
        <p:spPr>
          <a:xfrm>
            <a:off x="540000" y="7290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8000" y="7236000"/>
            <a:ext cx="6840000" cy="288225"/>
          </a:xfrm>
          <a:prstGeom prst="rect">
            <a:avLst/>
          </a:prstGeom>
          <a:noFill/>
          <a:ln>
            <a:noFill/>
          </a:ln>
        </p:spPr>
        <p:txBody>
          <a:bodyPr wrap="square" lIns="54000" tIns="28800" rIns="54000" bIns="28800" anchor="t">
            <a:spAutoFit/>
          </a:bodyPr>
          <a:lstStyle/>
          <a:p>
            <a:pPr algn="l">
              <a:lnSpc>
                <a:spcPct val="120000"/>
              </a:lnSpc>
            </a:pPr>
            <a:r>
              <a:rPr sz="1300" b="1" dirty="0" err="1">
                <a:solidFill>
                  <a:srgbClr val="203A60"/>
                </a:solidFill>
                <a:latin typeface="Meiryo"/>
              </a:rPr>
              <a:t>認知機能への波及効果</a:t>
            </a:r>
            <a:r>
              <a:rPr sz="1300" b="1" dirty="0">
                <a:solidFill>
                  <a:srgbClr val="203A60"/>
                </a:solidFill>
                <a:latin typeface="Meiryo"/>
              </a:rPr>
              <a:t>（</a:t>
            </a:r>
            <a:r>
              <a:rPr lang="ja-JP" altLang="en-US" sz="1300" b="1" dirty="0">
                <a:solidFill>
                  <a:srgbClr val="203A60"/>
                </a:solidFill>
                <a:latin typeface="Meiryo"/>
              </a:rPr>
              <a:t>ワンライフ</a:t>
            </a:r>
            <a:r>
              <a:rPr sz="1300" b="1" dirty="0" err="1">
                <a:solidFill>
                  <a:srgbClr val="203A60"/>
                </a:solidFill>
                <a:latin typeface="Meiryo"/>
              </a:rPr>
              <a:t>様資料と整合</a:t>
            </a:r>
            <a:r>
              <a:rPr sz="1300" b="1" dirty="0">
                <a:solidFill>
                  <a:srgbClr val="203A60"/>
                </a:solidFill>
                <a:latin typeface="Meiryo"/>
              </a:rPr>
              <a:t>）</a:t>
            </a:r>
          </a:p>
        </p:txBody>
      </p:sp>
      <p:sp>
        <p:nvSpPr>
          <p:cNvPr id="26" name="TextBox 25"/>
          <p:cNvSpPr txBox="1"/>
          <p:nvPr/>
        </p:nvSpPr>
        <p:spPr>
          <a:xfrm>
            <a:off x="540000" y="7596000"/>
            <a:ext cx="6480000" cy="648000"/>
          </a:xfrm>
          <a:prstGeom prst="rect">
            <a:avLst/>
          </a:prstGeom>
          <a:noFill/>
          <a:ln>
            <a:noFill/>
          </a:ln>
        </p:spPr>
        <p:txBody>
          <a:bodyPr wrap="square" lIns="54000" tIns="28800" rIns="54000" bIns="28800" anchor="t">
            <a:spAutoFit/>
          </a:bodyPr>
          <a:lstStyle/>
          <a:p>
            <a:pPr algn="l">
              <a:lnSpc>
                <a:spcPct val="150000"/>
              </a:lnSpc>
            </a:pPr>
            <a:r>
              <a:rPr sz="1050" b="0" dirty="0" err="1">
                <a:solidFill>
                  <a:srgbClr val="1E232D"/>
                </a:solidFill>
                <a:latin typeface="Meiryo"/>
              </a:rPr>
              <a:t>探求サイクル『考え・試し・結果を見て・直し・伝える』を全ミッションに組み込むことで</a:t>
            </a:r>
            <a:r>
              <a:rPr sz="1050" b="0" dirty="0">
                <a:solidFill>
                  <a:srgbClr val="1E232D"/>
                </a:solidFill>
                <a:latin typeface="Meiryo"/>
              </a:rPr>
              <a:t>、</a:t>
            </a:r>
          </a:p>
          <a:p>
            <a:pPr algn="l">
              <a:lnSpc>
                <a:spcPct val="150000"/>
              </a:lnSpc>
            </a:pPr>
            <a:r>
              <a:rPr sz="1050" b="0" dirty="0" err="1">
                <a:solidFill>
                  <a:srgbClr val="1E232D"/>
                </a:solidFill>
                <a:latin typeface="Meiryo"/>
              </a:rPr>
              <a:t>高次認知機能（組織化／計画／実行機能／認知の柔軟性）の発達を促します</a:t>
            </a:r>
            <a:r>
              <a:rPr sz="1050" b="0" dirty="0">
                <a:solidFill>
                  <a:srgbClr val="1E232D"/>
                </a:solidFill>
                <a:latin typeface="Meiryo"/>
              </a:rPr>
              <a:t>。</a:t>
            </a:r>
          </a:p>
        </p:txBody>
      </p:sp>
      <p:sp>
        <p:nvSpPr>
          <p:cNvPr id="27" name="TextBox 26"/>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2 /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2. 本提案の前提・仮定</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540000"/>
          </a:xfrm>
          <a:prstGeom prst="rect">
            <a:avLst/>
          </a:prstGeom>
          <a:noFill/>
          <a:ln>
            <a:noFill/>
          </a:ln>
        </p:spPr>
        <p:txBody>
          <a:bodyPr wrap="square" lIns="54000" tIns="28800" rIns="54000" bIns="28800" anchor="t">
            <a:spAutoFit/>
          </a:bodyPr>
          <a:lstStyle/>
          <a:p>
            <a:pPr algn="l">
              <a:lnSpc>
                <a:spcPct val="140000"/>
              </a:lnSpc>
            </a:pPr>
            <a:r>
              <a:rPr sz="1000" b="0">
                <a:solidFill>
                  <a:srgbClr val="6E7682"/>
                </a:solidFill>
                <a:latin typeface="Meiryo"/>
              </a:rPr>
              <a:t>クライアント様側でも現時点で確定していない項目がいくつかあるため、</a:t>
            </a:r>
          </a:p>
          <a:p>
            <a:pPr algn="l">
              <a:lnSpc>
                <a:spcPct val="140000"/>
              </a:lnSpc>
            </a:pPr>
            <a:r>
              <a:rPr sz="1000" b="0">
                <a:solidFill>
                  <a:srgbClr val="6E7682"/>
                </a:solidFill>
                <a:latin typeface="Meiryo"/>
              </a:rPr>
              <a:t>受託者側で設計の土台となる前提を仮置きしています。フェーズ1試作後に調整可能です。</a:t>
            </a:r>
          </a:p>
        </p:txBody>
      </p:sp>
      <p:sp>
        <p:nvSpPr>
          <p:cNvPr id="5" name="Rectangle 4"/>
          <p:cNvSpPr/>
          <p:nvPr/>
        </p:nvSpPr>
        <p:spPr>
          <a:xfrm>
            <a:off x="540000" y="185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8000" y="180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1. 対象層の内訳仮定</a:t>
            </a:r>
          </a:p>
        </p:txBody>
      </p:sp>
      <p:sp>
        <p:nvSpPr>
          <p:cNvPr id="7" name="Rectangle 6"/>
          <p:cNvSpPr/>
          <p:nvPr/>
        </p:nvSpPr>
        <p:spPr>
          <a:xfrm>
            <a:off x="540000" y="2160000"/>
            <a:ext cx="270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160000"/>
            <a:ext cx="270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学年区分</a:t>
            </a:r>
          </a:p>
        </p:txBody>
      </p:sp>
      <p:sp>
        <p:nvSpPr>
          <p:cNvPr id="9" name="Rectangle 8"/>
          <p:cNvSpPr/>
          <p:nvPr/>
        </p:nvSpPr>
        <p:spPr>
          <a:xfrm>
            <a:off x="3240000" y="2160000"/>
            <a:ext cx="144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0000" y="2160000"/>
            <a:ext cx="144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想定割合</a:t>
            </a:r>
          </a:p>
        </p:txBody>
      </p:sp>
      <p:sp>
        <p:nvSpPr>
          <p:cNvPr id="11" name="Rectangle 10"/>
          <p:cNvSpPr/>
          <p:nvPr/>
        </p:nvSpPr>
        <p:spPr>
          <a:xfrm>
            <a:off x="4680000" y="2160000"/>
            <a:ext cx="234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0000" y="2160000"/>
            <a:ext cx="234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主に扱う難易度</a:t>
            </a:r>
          </a:p>
        </p:txBody>
      </p:sp>
      <p:sp>
        <p:nvSpPr>
          <p:cNvPr id="13" name="Rectangle 12"/>
          <p:cNvSpPr/>
          <p:nvPr/>
        </p:nvSpPr>
        <p:spPr>
          <a:xfrm>
            <a:off x="540000" y="244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00" y="2448000"/>
            <a:ext cx="26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小学校 低学年（小1〜2）</a:t>
            </a:r>
          </a:p>
        </p:txBody>
      </p:sp>
      <p:sp>
        <p:nvSpPr>
          <p:cNvPr id="15" name="Rectangle 14"/>
          <p:cNvSpPr/>
          <p:nvPr/>
        </p:nvSpPr>
        <p:spPr>
          <a:xfrm>
            <a:off x="3240000" y="2448000"/>
            <a:ext cx="14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76000" y="2448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30%</a:t>
            </a:r>
          </a:p>
        </p:txBody>
      </p:sp>
      <p:sp>
        <p:nvSpPr>
          <p:cNvPr id="17" name="Rectangle 16"/>
          <p:cNvSpPr/>
          <p:nvPr/>
        </p:nvSpPr>
        <p:spPr>
          <a:xfrm>
            <a:off x="4680000" y="2448000"/>
            <a:ext cx="23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16000" y="2448000"/>
            <a:ext cx="22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易 中心</a:t>
            </a:r>
          </a:p>
        </p:txBody>
      </p:sp>
      <p:sp>
        <p:nvSpPr>
          <p:cNvPr id="19" name="Rectangle 18"/>
          <p:cNvSpPr/>
          <p:nvPr/>
        </p:nvSpPr>
        <p:spPr>
          <a:xfrm>
            <a:off x="540000" y="2718000"/>
            <a:ext cx="270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00" y="2718000"/>
            <a:ext cx="26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小学校 中学年（小3〜4）</a:t>
            </a:r>
          </a:p>
        </p:txBody>
      </p:sp>
      <p:sp>
        <p:nvSpPr>
          <p:cNvPr id="21" name="Rectangle 20"/>
          <p:cNvSpPr/>
          <p:nvPr/>
        </p:nvSpPr>
        <p:spPr>
          <a:xfrm>
            <a:off x="3240000" y="2718000"/>
            <a:ext cx="144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76000" y="2718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40%</a:t>
            </a:r>
          </a:p>
        </p:txBody>
      </p:sp>
      <p:sp>
        <p:nvSpPr>
          <p:cNvPr id="23" name="Rectangle 22"/>
          <p:cNvSpPr/>
          <p:nvPr/>
        </p:nvSpPr>
        <p:spPr>
          <a:xfrm>
            <a:off x="4680000" y="2718000"/>
            <a:ext cx="234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16000" y="2718000"/>
            <a:ext cx="22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易〜中</a:t>
            </a:r>
          </a:p>
        </p:txBody>
      </p:sp>
      <p:sp>
        <p:nvSpPr>
          <p:cNvPr id="25" name="Rectangle 24"/>
          <p:cNvSpPr/>
          <p:nvPr/>
        </p:nvSpPr>
        <p:spPr>
          <a:xfrm>
            <a:off x="540000" y="298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2988000"/>
            <a:ext cx="26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小学校 高学年（小5〜6）</a:t>
            </a:r>
          </a:p>
        </p:txBody>
      </p:sp>
      <p:sp>
        <p:nvSpPr>
          <p:cNvPr id="27" name="Rectangle 26"/>
          <p:cNvSpPr/>
          <p:nvPr/>
        </p:nvSpPr>
        <p:spPr>
          <a:xfrm>
            <a:off x="3240000" y="2988000"/>
            <a:ext cx="14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76000" y="2988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20%</a:t>
            </a:r>
          </a:p>
        </p:txBody>
      </p:sp>
      <p:sp>
        <p:nvSpPr>
          <p:cNvPr id="29" name="Rectangle 28"/>
          <p:cNvSpPr/>
          <p:nvPr/>
        </p:nvSpPr>
        <p:spPr>
          <a:xfrm>
            <a:off x="4680000" y="2988000"/>
            <a:ext cx="23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16000" y="2988000"/>
            <a:ext cx="22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中〜上</a:t>
            </a:r>
          </a:p>
        </p:txBody>
      </p:sp>
      <p:sp>
        <p:nvSpPr>
          <p:cNvPr id="31" name="Rectangle 30"/>
          <p:cNvSpPr/>
          <p:nvPr/>
        </p:nvSpPr>
        <p:spPr>
          <a:xfrm>
            <a:off x="540000" y="3258000"/>
            <a:ext cx="270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6000" y="3258000"/>
            <a:ext cx="26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中学・高校</a:t>
            </a:r>
          </a:p>
        </p:txBody>
      </p:sp>
      <p:sp>
        <p:nvSpPr>
          <p:cNvPr id="33" name="Rectangle 32"/>
          <p:cNvSpPr/>
          <p:nvPr/>
        </p:nvSpPr>
        <p:spPr>
          <a:xfrm>
            <a:off x="3240000" y="3258000"/>
            <a:ext cx="144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76000" y="3258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10%</a:t>
            </a:r>
          </a:p>
        </p:txBody>
      </p:sp>
      <p:sp>
        <p:nvSpPr>
          <p:cNvPr id="35" name="Rectangle 34"/>
          <p:cNvSpPr/>
          <p:nvPr/>
        </p:nvSpPr>
        <p:spPr>
          <a:xfrm>
            <a:off x="4680000" y="3258000"/>
            <a:ext cx="234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16000" y="3258000"/>
            <a:ext cx="22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上＋自由課題</a:t>
            </a:r>
          </a:p>
        </p:txBody>
      </p:sp>
      <p:sp>
        <p:nvSpPr>
          <p:cNvPr id="37" name="Rectangle 36"/>
          <p:cNvSpPr/>
          <p:nvPr/>
        </p:nvSpPr>
        <p:spPr>
          <a:xfrm>
            <a:off x="540000" y="3725999"/>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8000" y="3671999"/>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2. 1セッションの時間想定 / 3. 1ミッションあたり問題数</a:t>
            </a:r>
          </a:p>
        </p:txBody>
      </p:sp>
      <p:sp>
        <p:nvSpPr>
          <p:cNvPr id="39" name="Rectangle 38"/>
          <p:cNvSpPr/>
          <p:nvPr/>
        </p:nvSpPr>
        <p:spPr>
          <a:xfrm>
            <a:off x="540000" y="4031999"/>
            <a:ext cx="162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0000" y="4031999"/>
            <a:ext cx="162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区分</a:t>
            </a:r>
          </a:p>
        </p:txBody>
      </p:sp>
      <p:sp>
        <p:nvSpPr>
          <p:cNvPr id="41" name="Rectangle 40"/>
          <p:cNvSpPr/>
          <p:nvPr/>
        </p:nvSpPr>
        <p:spPr>
          <a:xfrm>
            <a:off x="2160000" y="4031999"/>
            <a:ext cx="126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160000" y="4031999"/>
            <a:ext cx="126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問題数</a:t>
            </a:r>
          </a:p>
        </p:txBody>
      </p:sp>
      <p:sp>
        <p:nvSpPr>
          <p:cNvPr id="43" name="Rectangle 42"/>
          <p:cNvSpPr/>
          <p:nvPr/>
        </p:nvSpPr>
        <p:spPr>
          <a:xfrm>
            <a:off x="3420000" y="4031999"/>
            <a:ext cx="360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20000" y="4031999"/>
            <a:ext cx="360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役割</a:t>
            </a:r>
          </a:p>
        </p:txBody>
      </p:sp>
      <p:sp>
        <p:nvSpPr>
          <p:cNvPr id="45" name="Rectangle 44"/>
          <p:cNvSpPr/>
          <p:nvPr/>
        </p:nvSpPr>
        <p:spPr>
          <a:xfrm>
            <a:off x="540000" y="4319999"/>
            <a:ext cx="16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76000" y="4319999"/>
            <a:ext cx="156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ウォームアップ</a:t>
            </a:r>
          </a:p>
        </p:txBody>
      </p:sp>
      <p:sp>
        <p:nvSpPr>
          <p:cNvPr id="47" name="Rectangle 46"/>
          <p:cNvSpPr/>
          <p:nvPr/>
        </p:nvSpPr>
        <p:spPr>
          <a:xfrm>
            <a:off x="2160000" y="4319999"/>
            <a:ext cx="126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96000" y="4319999"/>
            <a:ext cx="12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2〜3問</a:t>
            </a:r>
          </a:p>
        </p:txBody>
      </p:sp>
      <p:sp>
        <p:nvSpPr>
          <p:cNvPr id="49" name="Rectangle 48"/>
          <p:cNvSpPr/>
          <p:nvPr/>
        </p:nvSpPr>
        <p:spPr>
          <a:xfrm>
            <a:off x="3420000" y="4319999"/>
            <a:ext cx="36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56000" y="4319999"/>
            <a:ext cx="35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概念の導入・成功体験</a:t>
            </a:r>
          </a:p>
        </p:txBody>
      </p:sp>
      <p:sp>
        <p:nvSpPr>
          <p:cNvPr id="51" name="Rectangle 50"/>
          <p:cNvSpPr/>
          <p:nvPr/>
        </p:nvSpPr>
        <p:spPr>
          <a:xfrm>
            <a:off x="540000" y="4589999"/>
            <a:ext cx="162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76000" y="4589999"/>
            <a:ext cx="156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コア問題</a:t>
            </a:r>
          </a:p>
        </p:txBody>
      </p:sp>
      <p:sp>
        <p:nvSpPr>
          <p:cNvPr id="53" name="Rectangle 52"/>
          <p:cNvSpPr/>
          <p:nvPr/>
        </p:nvSpPr>
        <p:spPr>
          <a:xfrm>
            <a:off x="2160000" y="4589999"/>
            <a:ext cx="126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196000" y="4589999"/>
            <a:ext cx="12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4〜5問</a:t>
            </a:r>
          </a:p>
        </p:txBody>
      </p:sp>
      <p:sp>
        <p:nvSpPr>
          <p:cNvPr id="55" name="Rectangle 54"/>
          <p:cNvSpPr/>
          <p:nvPr/>
        </p:nvSpPr>
        <p:spPr>
          <a:xfrm>
            <a:off x="3420000" y="4589999"/>
            <a:ext cx="360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456000" y="4589999"/>
            <a:ext cx="35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学習題材の中核反復</a:t>
            </a:r>
          </a:p>
        </p:txBody>
      </p:sp>
      <p:sp>
        <p:nvSpPr>
          <p:cNvPr id="57" name="Rectangle 56"/>
          <p:cNvSpPr/>
          <p:nvPr/>
        </p:nvSpPr>
        <p:spPr>
          <a:xfrm>
            <a:off x="540000" y="4859999"/>
            <a:ext cx="16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76000" y="4859999"/>
            <a:ext cx="156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応用・発展</a:t>
            </a:r>
          </a:p>
        </p:txBody>
      </p:sp>
      <p:sp>
        <p:nvSpPr>
          <p:cNvPr id="59" name="Rectangle 58"/>
          <p:cNvSpPr/>
          <p:nvPr/>
        </p:nvSpPr>
        <p:spPr>
          <a:xfrm>
            <a:off x="2160000" y="4859999"/>
            <a:ext cx="126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196000" y="4859999"/>
            <a:ext cx="12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2〜3問</a:t>
            </a:r>
          </a:p>
        </p:txBody>
      </p:sp>
      <p:sp>
        <p:nvSpPr>
          <p:cNvPr id="61" name="Rectangle 60"/>
          <p:cNvSpPr/>
          <p:nvPr/>
        </p:nvSpPr>
        <p:spPr>
          <a:xfrm>
            <a:off x="3420000" y="4859999"/>
            <a:ext cx="36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456000" y="4859999"/>
            <a:ext cx="35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試行錯誤・自由課題への予告</a:t>
            </a:r>
          </a:p>
        </p:txBody>
      </p:sp>
      <p:sp>
        <p:nvSpPr>
          <p:cNvPr id="63" name="Rectangle 62"/>
          <p:cNvSpPr/>
          <p:nvPr/>
        </p:nvSpPr>
        <p:spPr>
          <a:xfrm>
            <a:off x="540000" y="5129999"/>
            <a:ext cx="162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76000" y="5129999"/>
            <a:ext cx="156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合計</a:t>
            </a:r>
          </a:p>
        </p:txBody>
      </p:sp>
      <p:sp>
        <p:nvSpPr>
          <p:cNvPr id="65" name="Rectangle 64"/>
          <p:cNvSpPr/>
          <p:nvPr/>
        </p:nvSpPr>
        <p:spPr>
          <a:xfrm>
            <a:off x="2160000" y="5129999"/>
            <a:ext cx="126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196000" y="5129999"/>
            <a:ext cx="12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約10問</a:t>
            </a:r>
          </a:p>
        </p:txBody>
      </p:sp>
      <p:sp>
        <p:nvSpPr>
          <p:cNvPr id="67" name="Rectangle 66"/>
          <p:cNvSpPr/>
          <p:nvPr/>
        </p:nvSpPr>
        <p:spPr>
          <a:xfrm>
            <a:off x="3420000" y="5129999"/>
            <a:ext cx="360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456000" y="5129999"/>
            <a:ext cx="354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1問あたり体感2〜4分 / 全15ミッションで約150問</a:t>
            </a:r>
          </a:p>
        </p:txBody>
      </p:sp>
      <p:sp>
        <p:nvSpPr>
          <p:cNvPr id="69" name="Rectangle 68"/>
          <p:cNvSpPr/>
          <p:nvPr/>
        </p:nvSpPr>
        <p:spPr>
          <a:xfrm>
            <a:off x="540000" y="5562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8000" y="5508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4. 難易度設計の原則</a:t>
            </a:r>
          </a:p>
        </p:txBody>
      </p:sp>
      <p:sp>
        <p:nvSpPr>
          <p:cNvPr id="71" name="Rectangle 70"/>
          <p:cNvSpPr/>
          <p:nvPr/>
        </p:nvSpPr>
        <p:spPr>
          <a:xfrm>
            <a:off x="540000" y="5868000"/>
            <a:ext cx="108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40000" y="5868000"/>
            <a:ext cx="108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難易度</a:t>
            </a:r>
          </a:p>
        </p:txBody>
      </p:sp>
      <p:sp>
        <p:nvSpPr>
          <p:cNvPr id="73" name="Rectangle 72"/>
          <p:cNvSpPr/>
          <p:nvPr/>
        </p:nvSpPr>
        <p:spPr>
          <a:xfrm>
            <a:off x="1620000" y="5868000"/>
            <a:ext cx="144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620000" y="5868000"/>
            <a:ext cx="144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クリア率目安</a:t>
            </a:r>
          </a:p>
        </p:txBody>
      </p:sp>
      <p:sp>
        <p:nvSpPr>
          <p:cNvPr id="75" name="Rectangle 74"/>
          <p:cNvSpPr/>
          <p:nvPr/>
        </p:nvSpPr>
        <p:spPr>
          <a:xfrm>
            <a:off x="3060000" y="5868000"/>
            <a:ext cx="396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060000" y="5868000"/>
            <a:ext cx="396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設計方針</a:t>
            </a:r>
          </a:p>
        </p:txBody>
      </p:sp>
      <p:sp>
        <p:nvSpPr>
          <p:cNvPr id="77" name="Rectangle 76"/>
          <p:cNvSpPr/>
          <p:nvPr/>
        </p:nvSpPr>
        <p:spPr>
          <a:xfrm>
            <a:off x="540000" y="6156000"/>
            <a:ext cx="108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76000" y="6156000"/>
            <a:ext cx="102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易</a:t>
            </a:r>
          </a:p>
        </p:txBody>
      </p:sp>
      <p:sp>
        <p:nvSpPr>
          <p:cNvPr id="79" name="Rectangle 78"/>
          <p:cNvSpPr/>
          <p:nvPr/>
        </p:nvSpPr>
        <p:spPr>
          <a:xfrm>
            <a:off x="1620000" y="6156000"/>
            <a:ext cx="14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656000" y="6156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95%以上</a:t>
            </a:r>
          </a:p>
        </p:txBody>
      </p:sp>
      <p:sp>
        <p:nvSpPr>
          <p:cNvPr id="81" name="Rectangle 80"/>
          <p:cNvSpPr/>
          <p:nvPr/>
        </p:nvSpPr>
        <p:spPr>
          <a:xfrm>
            <a:off x="3060000" y="6156000"/>
            <a:ext cx="396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096000" y="6156000"/>
            <a:ext cx="39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ほぼ失敗なし／自己肯定感最優先</a:t>
            </a:r>
          </a:p>
        </p:txBody>
      </p:sp>
      <p:sp>
        <p:nvSpPr>
          <p:cNvPr id="83" name="Rectangle 82"/>
          <p:cNvSpPr/>
          <p:nvPr/>
        </p:nvSpPr>
        <p:spPr>
          <a:xfrm>
            <a:off x="540000" y="6426000"/>
            <a:ext cx="108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76000" y="6426000"/>
            <a:ext cx="102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中</a:t>
            </a:r>
          </a:p>
        </p:txBody>
      </p:sp>
      <p:sp>
        <p:nvSpPr>
          <p:cNvPr id="85" name="Rectangle 84"/>
          <p:cNvSpPr/>
          <p:nvPr/>
        </p:nvSpPr>
        <p:spPr>
          <a:xfrm>
            <a:off x="1620000" y="6426000"/>
            <a:ext cx="144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656000" y="6426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70〜85%</a:t>
            </a:r>
          </a:p>
        </p:txBody>
      </p:sp>
      <p:sp>
        <p:nvSpPr>
          <p:cNvPr id="87" name="Rectangle 86"/>
          <p:cNvSpPr/>
          <p:nvPr/>
        </p:nvSpPr>
        <p:spPr>
          <a:xfrm>
            <a:off x="3060000" y="6426000"/>
            <a:ext cx="3960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096000" y="6426000"/>
            <a:ext cx="39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2〜3問は試行錯誤を経験</a:t>
            </a:r>
          </a:p>
        </p:txBody>
      </p:sp>
      <p:sp>
        <p:nvSpPr>
          <p:cNvPr id="89" name="Rectangle 88"/>
          <p:cNvSpPr/>
          <p:nvPr/>
        </p:nvSpPr>
        <p:spPr>
          <a:xfrm>
            <a:off x="540000" y="6696000"/>
            <a:ext cx="108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76000" y="6696000"/>
            <a:ext cx="102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上</a:t>
            </a:r>
          </a:p>
        </p:txBody>
      </p:sp>
      <p:sp>
        <p:nvSpPr>
          <p:cNvPr id="91" name="Rectangle 90"/>
          <p:cNvSpPr/>
          <p:nvPr/>
        </p:nvSpPr>
        <p:spPr>
          <a:xfrm>
            <a:off x="1620000" y="6696000"/>
            <a:ext cx="144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656000" y="6696000"/>
            <a:ext cx="138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50〜70%</a:t>
            </a:r>
          </a:p>
        </p:txBody>
      </p:sp>
      <p:sp>
        <p:nvSpPr>
          <p:cNvPr id="93" name="Rectangle 92"/>
          <p:cNvSpPr/>
          <p:nvPr/>
        </p:nvSpPr>
        <p:spPr>
          <a:xfrm>
            <a:off x="3060000" y="6696000"/>
            <a:ext cx="396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096000" y="6696000"/>
            <a:ext cx="3906000" cy="270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3〜4問は応用・創造を要する</a:t>
            </a:r>
          </a:p>
        </p:txBody>
      </p:sp>
      <p:sp>
        <p:nvSpPr>
          <p:cNvPr id="95" name="Rectangle 94"/>
          <p:cNvSpPr/>
          <p:nvPr/>
        </p:nvSpPr>
        <p:spPr>
          <a:xfrm>
            <a:off x="540000" y="725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48000" y="720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5. 調整方針</a:t>
            </a:r>
          </a:p>
        </p:txBody>
      </p:sp>
      <p:sp>
        <p:nvSpPr>
          <p:cNvPr id="97" name="TextBox 96"/>
          <p:cNvSpPr txBox="1"/>
          <p:nvPr/>
        </p:nvSpPr>
        <p:spPr>
          <a:xfrm>
            <a:off x="540000" y="7560000"/>
            <a:ext cx="6480000" cy="1620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・上記はあくまで設計の土台であり、確定事項ではありません。</a:t>
            </a:r>
          </a:p>
          <a:p>
            <a:pPr algn="l">
              <a:lnSpc>
                <a:spcPct val="150000"/>
              </a:lnSpc>
            </a:pPr>
            <a:r>
              <a:rPr sz="1000" b="0">
                <a:solidFill>
                  <a:srgbClr val="1E232D"/>
                </a:solidFill>
                <a:latin typeface="Meiryo"/>
              </a:rPr>
              <a:t>・フェーズ1試作版（2026年5月末完成予定）で実際に試作し、現場フィードバックを踏まえて調整します。</a:t>
            </a:r>
          </a:p>
          <a:p>
            <a:pPr algn="l">
              <a:lnSpc>
                <a:spcPct val="150000"/>
              </a:lnSpc>
            </a:pPr>
            <a:r>
              <a:rPr sz="1000" b="0">
                <a:solidFill>
                  <a:srgbClr val="1E232D"/>
                </a:solidFill>
                <a:latin typeface="Meiryo"/>
              </a:rPr>
              <a:t>・早期のミニマムプロトタイプでテスト → 全体量産前に数字を確定 → 実装リスクを抑える進行を取ります。</a:t>
            </a:r>
          </a:p>
          <a:p>
            <a:pPr algn="l">
              <a:lnSpc>
                <a:spcPct val="150000"/>
              </a:lnSpc>
            </a:pPr>
            <a:r>
              <a:rPr sz="1000" b="0">
                <a:solidFill>
                  <a:srgbClr val="1E232D"/>
                </a:solidFill>
                <a:latin typeface="Meiryo"/>
              </a:rPr>
              <a:t>・施設の実際の学年内訳・滞在時間等をご共有いただけた場合、即座に反映いたします。</a:t>
            </a:r>
          </a:p>
        </p:txBody>
      </p:sp>
      <p:sp>
        <p:nvSpPr>
          <p:cNvPr id="98" name="TextBox 97"/>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3 /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3. 対象と4つの提供物</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対象児童・スタッフ</a:t>
            </a:r>
          </a:p>
        </p:txBody>
      </p:sp>
      <p:sp>
        <p:nvSpPr>
          <p:cNvPr id="6" name="TextBox 5"/>
          <p:cNvSpPr txBox="1"/>
          <p:nvPr/>
        </p:nvSpPr>
        <p:spPr>
          <a:xfrm>
            <a:off x="540000" y="1440000"/>
            <a:ext cx="6480000" cy="845301"/>
          </a:xfrm>
          <a:prstGeom prst="rect">
            <a:avLst/>
          </a:prstGeom>
          <a:noFill/>
          <a:ln>
            <a:noFill/>
          </a:ln>
        </p:spPr>
        <p:txBody>
          <a:bodyPr wrap="square" lIns="54000" tIns="28800" rIns="54000" bIns="28800" anchor="t">
            <a:spAutoFit/>
          </a:bodyPr>
          <a:lstStyle/>
          <a:p>
            <a:pPr algn="l">
              <a:lnSpc>
                <a:spcPct val="160000"/>
              </a:lnSpc>
            </a:pPr>
            <a:r>
              <a:rPr sz="1100" b="0" dirty="0">
                <a:solidFill>
                  <a:srgbClr val="1E232D"/>
                </a:solidFill>
                <a:latin typeface="Meiryo"/>
              </a:rPr>
              <a:t>・児童：放課後等デイサービスを利用する小学1年〜高校生（発達特性に配慮）</a:t>
            </a:r>
          </a:p>
          <a:p>
            <a:pPr algn="l">
              <a:lnSpc>
                <a:spcPct val="160000"/>
              </a:lnSpc>
            </a:pPr>
            <a:r>
              <a:rPr sz="1100" b="0" dirty="0">
                <a:solidFill>
                  <a:srgbClr val="1E232D"/>
                </a:solidFill>
                <a:latin typeface="Meiryo"/>
              </a:rPr>
              <a:t>・</a:t>
            </a:r>
            <a:r>
              <a:rPr sz="1100" b="0" dirty="0" err="1">
                <a:solidFill>
                  <a:srgbClr val="1E232D"/>
                </a:solidFill>
                <a:latin typeface="Meiryo"/>
              </a:rPr>
              <a:t>スタッフ：主に保育士（ITリテラシーゼロを前提とした運用設計</a:t>
            </a:r>
            <a:r>
              <a:rPr sz="1100" b="0" dirty="0">
                <a:solidFill>
                  <a:srgbClr val="1E232D"/>
                </a:solidFill>
                <a:latin typeface="Meiryo"/>
              </a:rPr>
              <a:t>）</a:t>
            </a:r>
          </a:p>
          <a:p>
            <a:pPr algn="l">
              <a:lnSpc>
                <a:spcPct val="160000"/>
              </a:lnSpc>
            </a:pPr>
            <a:r>
              <a:rPr sz="1100" b="0" dirty="0">
                <a:solidFill>
                  <a:srgbClr val="1E232D"/>
                </a:solidFill>
                <a:latin typeface="Meiryo"/>
              </a:rPr>
              <a:t>・</a:t>
            </a:r>
            <a:r>
              <a:rPr sz="1100" b="0" dirty="0" err="1">
                <a:solidFill>
                  <a:srgbClr val="1E232D"/>
                </a:solidFill>
                <a:latin typeface="Meiryo"/>
              </a:rPr>
              <a:t>環境：Minecraft</a:t>
            </a:r>
            <a:r>
              <a:rPr sz="1100" b="0" dirty="0">
                <a:solidFill>
                  <a:srgbClr val="1E232D"/>
                </a:solidFill>
                <a:latin typeface="Meiryo"/>
              </a:rPr>
              <a:t> Education </a:t>
            </a:r>
            <a:r>
              <a:rPr sz="1100" b="0" dirty="0" err="1">
                <a:solidFill>
                  <a:srgbClr val="1E232D"/>
                </a:solidFill>
                <a:latin typeface="Meiryo"/>
              </a:rPr>
              <a:t>Edition／支給予定のマイクラ用PC</a:t>
            </a:r>
            <a:endParaRPr sz="1100" b="0" dirty="0">
              <a:solidFill>
                <a:srgbClr val="1E232D"/>
              </a:solidFill>
              <a:latin typeface="Meiryo"/>
            </a:endParaRPr>
          </a:p>
        </p:txBody>
      </p:sp>
      <p:sp>
        <p:nvSpPr>
          <p:cNvPr id="7" name="Rectangle 6"/>
          <p:cNvSpPr/>
          <p:nvPr/>
        </p:nvSpPr>
        <p:spPr>
          <a:xfrm>
            <a:off x="540000" y="2646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2592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提供物（納品物）</a:t>
            </a:r>
          </a:p>
        </p:txBody>
      </p:sp>
      <p:sp>
        <p:nvSpPr>
          <p:cNvPr id="9" name="Rectangle 8"/>
          <p:cNvSpPr/>
          <p:nvPr/>
        </p:nvSpPr>
        <p:spPr>
          <a:xfrm>
            <a:off x="540000" y="2988000"/>
            <a:ext cx="1566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2988000"/>
            <a:ext cx="1566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① Minecraft</a:t>
            </a:r>
          </a:p>
          <a:p>
            <a:pPr algn="ctr">
              <a:lnSpc>
                <a:spcPct val="120000"/>
              </a:lnSpc>
            </a:pPr>
            <a:r>
              <a:rPr sz="1050" b="1">
                <a:solidFill>
                  <a:srgbClr val="FFFFFF"/>
                </a:solidFill>
                <a:latin typeface="Meiryo"/>
              </a:rPr>
              <a:t>統合ワールド</a:t>
            </a:r>
          </a:p>
        </p:txBody>
      </p:sp>
      <p:sp>
        <p:nvSpPr>
          <p:cNvPr id="11" name="Rectangle 10"/>
          <p:cNvSpPr/>
          <p:nvPr/>
        </p:nvSpPr>
        <p:spPr>
          <a:xfrm>
            <a:off x="540000" y="3312000"/>
            <a:ext cx="1566000" cy="16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663474"/>
            <a:ext cx="1494000" cy="917052"/>
          </a:xfrm>
          <a:prstGeom prst="rect">
            <a:avLst/>
          </a:prstGeom>
          <a:noFill/>
          <a:ln>
            <a:noFill/>
          </a:ln>
        </p:spPr>
        <p:txBody>
          <a:bodyPr wrap="square" lIns="54000" tIns="28800" rIns="54000" bIns="28800" anchor="ctr">
            <a:spAutoFit/>
          </a:bodyPr>
          <a:lstStyle/>
          <a:p>
            <a:pPr algn="ctr">
              <a:lnSpc>
                <a:spcPct val="150000"/>
              </a:lnSpc>
            </a:pPr>
            <a:r>
              <a:rPr sz="950" b="0" dirty="0">
                <a:solidFill>
                  <a:srgbClr val="1E232D"/>
                </a:solidFill>
                <a:latin typeface="Meiryo"/>
              </a:rPr>
              <a:t>.</a:t>
            </a:r>
            <a:r>
              <a:rPr sz="950" b="0" dirty="0" err="1">
                <a:solidFill>
                  <a:srgbClr val="1E232D"/>
                </a:solidFill>
                <a:latin typeface="Meiryo"/>
              </a:rPr>
              <a:t>mcworld</a:t>
            </a:r>
            <a:r>
              <a:rPr sz="950" b="0" dirty="0">
                <a:solidFill>
                  <a:srgbClr val="1E232D"/>
                </a:solidFill>
                <a:latin typeface="Meiryo"/>
              </a:rPr>
              <a:t> × 1ファイル</a:t>
            </a:r>
          </a:p>
          <a:p>
            <a:pPr algn="ctr">
              <a:lnSpc>
                <a:spcPct val="150000"/>
              </a:lnSpc>
            </a:pPr>
            <a:r>
              <a:rPr lang="ja-JP" altLang="en-US" sz="950" b="0" dirty="0">
                <a:solidFill>
                  <a:srgbClr val="1E232D"/>
                </a:solidFill>
                <a:latin typeface="Meiryo"/>
              </a:rPr>
              <a:t>（</a:t>
            </a:r>
            <a:r>
              <a:rPr sz="950" b="0" dirty="0" err="1">
                <a:solidFill>
                  <a:srgbClr val="1E232D"/>
                </a:solidFill>
                <a:latin typeface="Meiryo"/>
              </a:rPr>
              <a:t>ハブ</a:t>
            </a:r>
            <a:r>
              <a:rPr sz="950" b="0" dirty="0">
                <a:solidFill>
                  <a:srgbClr val="1E232D"/>
                </a:solidFill>
                <a:latin typeface="Meiryo"/>
              </a:rPr>
              <a:t> + 4教科エリア</a:t>
            </a:r>
          </a:p>
          <a:p>
            <a:pPr algn="ctr">
              <a:lnSpc>
                <a:spcPct val="150000"/>
              </a:lnSpc>
            </a:pPr>
            <a:r>
              <a:rPr sz="950" b="0" dirty="0">
                <a:solidFill>
                  <a:srgbClr val="1E232D"/>
                </a:solidFill>
                <a:latin typeface="Meiryo"/>
              </a:rPr>
              <a:t>+ </a:t>
            </a:r>
            <a:r>
              <a:rPr sz="950" b="0" dirty="0" err="1">
                <a:solidFill>
                  <a:srgbClr val="1E232D"/>
                </a:solidFill>
                <a:latin typeface="Meiryo"/>
              </a:rPr>
              <a:t>物理ラボ</a:t>
            </a:r>
            <a:endParaRPr sz="950" b="0" dirty="0">
              <a:solidFill>
                <a:srgbClr val="1E232D"/>
              </a:solidFill>
              <a:latin typeface="Meiryo"/>
            </a:endParaRPr>
          </a:p>
          <a:p>
            <a:pPr algn="ctr">
              <a:lnSpc>
                <a:spcPct val="150000"/>
              </a:lnSpc>
            </a:pPr>
            <a:r>
              <a:rPr sz="950" b="0" dirty="0">
                <a:solidFill>
                  <a:srgbClr val="1E232D"/>
                </a:solidFill>
                <a:latin typeface="Meiryo"/>
              </a:rPr>
              <a:t>+ </a:t>
            </a:r>
            <a:r>
              <a:rPr sz="950" b="0" dirty="0" err="1">
                <a:solidFill>
                  <a:srgbClr val="1E232D"/>
                </a:solidFill>
                <a:latin typeface="Meiryo"/>
              </a:rPr>
              <a:t>卒業エリア</a:t>
            </a:r>
            <a:r>
              <a:rPr lang="ja-JP" altLang="en-US" sz="950" b="0" dirty="0">
                <a:solidFill>
                  <a:srgbClr val="1E232D"/>
                </a:solidFill>
                <a:latin typeface="Meiryo"/>
              </a:rPr>
              <a:t>）</a:t>
            </a:r>
            <a:endParaRPr sz="950" b="0" dirty="0">
              <a:solidFill>
                <a:srgbClr val="1E232D"/>
              </a:solidFill>
              <a:latin typeface="Meiryo"/>
            </a:endParaRPr>
          </a:p>
        </p:txBody>
      </p:sp>
      <p:sp>
        <p:nvSpPr>
          <p:cNvPr id="13" name="Rectangle 12"/>
          <p:cNvSpPr/>
          <p:nvPr/>
        </p:nvSpPr>
        <p:spPr>
          <a:xfrm>
            <a:off x="2178000" y="2988000"/>
            <a:ext cx="1566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78000" y="2988000"/>
            <a:ext cx="1566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② 連動Webサイト</a:t>
            </a:r>
          </a:p>
        </p:txBody>
      </p:sp>
      <p:sp>
        <p:nvSpPr>
          <p:cNvPr id="15" name="Rectangle 14"/>
          <p:cNvSpPr/>
          <p:nvPr/>
        </p:nvSpPr>
        <p:spPr>
          <a:xfrm>
            <a:off x="2178000" y="3312000"/>
            <a:ext cx="1566000" cy="16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52838" y="3663474"/>
            <a:ext cx="1601676" cy="917052"/>
          </a:xfrm>
          <a:prstGeom prst="rect">
            <a:avLst/>
          </a:prstGeom>
          <a:noFill/>
          <a:ln>
            <a:noFill/>
          </a:ln>
        </p:spPr>
        <p:txBody>
          <a:bodyPr wrap="square" lIns="54000" tIns="28800" rIns="54000" bIns="28800" anchor="ctr">
            <a:spAutoFit/>
          </a:bodyPr>
          <a:lstStyle/>
          <a:p>
            <a:pPr algn="ctr">
              <a:lnSpc>
                <a:spcPct val="150000"/>
              </a:lnSpc>
            </a:pPr>
            <a:r>
              <a:rPr sz="950" b="0" dirty="0" err="1">
                <a:solidFill>
                  <a:srgbClr val="1E232D"/>
                </a:solidFill>
                <a:latin typeface="Meiryo"/>
              </a:rPr>
              <a:t>ブラウザで動くミニゲーム集</a:t>
            </a:r>
            <a:endParaRPr sz="950" b="0" dirty="0">
              <a:solidFill>
                <a:srgbClr val="1E232D"/>
              </a:solidFill>
              <a:latin typeface="Meiryo"/>
            </a:endParaRPr>
          </a:p>
          <a:p>
            <a:pPr algn="ctr">
              <a:lnSpc>
                <a:spcPct val="150000"/>
              </a:lnSpc>
            </a:pPr>
            <a:r>
              <a:rPr sz="950" b="0" dirty="0">
                <a:solidFill>
                  <a:srgbClr val="1E232D"/>
                </a:solidFill>
                <a:latin typeface="Meiryo"/>
              </a:rPr>
              <a:t>15本のマイクラ連動ゲーム</a:t>
            </a:r>
          </a:p>
          <a:p>
            <a:pPr algn="ctr">
              <a:lnSpc>
                <a:spcPct val="150000"/>
              </a:lnSpc>
            </a:pPr>
            <a:r>
              <a:rPr sz="950" b="0" dirty="0" err="1">
                <a:solidFill>
                  <a:srgbClr val="1E232D"/>
                </a:solidFill>
                <a:latin typeface="Meiryo"/>
              </a:rPr>
              <a:t>反復ドリル・スコア記録</a:t>
            </a:r>
            <a:endParaRPr sz="950" b="0" dirty="0">
              <a:solidFill>
                <a:srgbClr val="1E232D"/>
              </a:solidFill>
              <a:latin typeface="Meiryo"/>
            </a:endParaRPr>
          </a:p>
        </p:txBody>
      </p:sp>
      <p:sp>
        <p:nvSpPr>
          <p:cNvPr id="17" name="Rectangle 16"/>
          <p:cNvSpPr/>
          <p:nvPr/>
        </p:nvSpPr>
        <p:spPr>
          <a:xfrm>
            <a:off x="3816000" y="2988000"/>
            <a:ext cx="1566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16000" y="3028008"/>
            <a:ext cx="1566000" cy="243983"/>
          </a:xfrm>
          <a:prstGeom prst="rect">
            <a:avLst/>
          </a:prstGeom>
          <a:noFill/>
          <a:ln>
            <a:noFill/>
          </a:ln>
        </p:spPr>
        <p:txBody>
          <a:bodyPr wrap="square" lIns="54000" tIns="28800" rIns="54000" bIns="28800" anchor="ctr">
            <a:spAutoFit/>
          </a:bodyPr>
          <a:lstStyle/>
          <a:p>
            <a:pPr algn="ctr">
              <a:lnSpc>
                <a:spcPct val="120000"/>
              </a:lnSpc>
            </a:pPr>
            <a:r>
              <a:rPr sz="1050" b="1" dirty="0">
                <a:solidFill>
                  <a:srgbClr val="FFFFFF"/>
                </a:solidFill>
                <a:latin typeface="Meiryo"/>
              </a:rPr>
              <a:t>③ </a:t>
            </a:r>
            <a:r>
              <a:rPr sz="1050" b="1" dirty="0" err="1">
                <a:solidFill>
                  <a:srgbClr val="FFFFFF"/>
                </a:solidFill>
                <a:latin typeface="Meiryo"/>
              </a:rPr>
              <a:t>PDF教材</a:t>
            </a:r>
            <a:endParaRPr sz="1050" b="1" dirty="0">
              <a:solidFill>
                <a:srgbClr val="FFFFFF"/>
              </a:solidFill>
              <a:latin typeface="Meiryo"/>
            </a:endParaRPr>
          </a:p>
        </p:txBody>
      </p:sp>
      <p:sp>
        <p:nvSpPr>
          <p:cNvPr id="19" name="Rectangle 18"/>
          <p:cNvSpPr/>
          <p:nvPr/>
        </p:nvSpPr>
        <p:spPr>
          <a:xfrm>
            <a:off x="3816000" y="3312000"/>
            <a:ext cx="1566000" cy="16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52000" y="3348000"/>
            <a:ext cx="1494000" cy="1548000"/>
          </a:xfrm>
          <a:prstGeom prst="rect">
            <a:avLst/>
          </a:prstGeom>
          <a:noFill/>
          <a:ln>
            <a:noFill/>
          </a:ln>
        </p:spPr>
        <p:txBody>
          <a:bodyPr wrap="square" lIns="54000" tIns="28800" rIns="54000" bIns="28800" anchor="ctr">
            <a:spAutoFit/>
          </a:bodyPr>
          <a:lstStyle/>
          <a:p>
            <a:pPr algn="ctr">
              <a:lnSpc>
                <a:spcPct val="150000"/>
              </a:lnSpc>
            </a:pPr>
            <a:r>
              <a:rPr sz="950" b="0" dirty="0" err="1">
                <a:solidFill>
                  <a:srgbClr val="1E232D"/>
                </a:solidFill>
                <a:latin typeface="Meiryo"/>
              </a:rPr>
              <a:t>児童用ワークシート</a:t>
            </a:r>
            <a:endParaRPr sz="950" b="0" dirty="0">
              <a:solidFill>
                <a:srgbClr val="1E232D"/>
              </a:solidFill>
              <a:latin typeface="Meiryo"/>
            </a:endParaRPr>
          </a:p>
          <a:p>
            <a:pPr algn="ctr">
              <a:lnSpc>
                <a:spcPct val="150000"/>
              </a:lnSpc>
            </a:pPr>
            <a:r>
              <a:rPr sz="950" b="0" dirty="0">
                <a:solidFill>
                  <a:srgbClr val="1E232D"/>
                </a:solidFill>
                <a:latin typeface="Meiryo"/>
              </a:rPr>
              <a:t>+ </a:t>
            </a:r>
            <a:r>
              <a:rPr sz="950" b="0" dirty="0" err="1">
                <a:solidFill>
                  <a:srgbClr val="1E232D"/>
                </a:solidFill>
                <a:latin typeface="Meiryo"/>
              </a:rPr>
              <a:t>スタッフ向けガイド</a:t>
            </a:r>
            <a:endParaRPr sz="950" b="0" dirty="0">
              <a:solidFill>
                <a:srgbClr val="1E232D"/>
              </a:solidFill>
              <a:latin typeface="Meiryo"/>
            </a:endParaRPr>
          </a:p>
          <a:p>
            <a:pPr algn="ctr">
              <a:lnSpc>
                <a:spcPct val="150000"/>
              </a:lnSpc>
            </a:pPr>
            <a:r>
              <a:rPr sz="950" b="0" dirty="0">
                <a:solidFill>
                  <a:srgbClr val="1E232D"/>
                </a:solidFill>
                <a:latin typeface="Meiryo"/>
              </a:rPr>
              <a:t>（</a:t>
            </a:r>
            <a:r>
              <a:rPr sz="950" b="0" dirty="0" err="1">
                <a:solidFill>
                  <a:srgbClr val="1E232D"/>
                </a:solidFill>
                <a:latin typeface="Meiryo"/>
              </a:rPr>
              <a:t>Web・マイクラ詳細を記載</a:t>
            </a:r>
            <a:r>
              <a:rPr sz="950" b="0" dirty="0">
                <a:solidFill>
                  <a:srgbClr val="1E232D"/>
                </a:solidFill>
                <a:latin typeface="Meiryo"/>
              </a:rPr>
              <a:t>）</a:t>
            </a:r>
          </a:p>
        </p:txBody>
      </p:sp>
      <p:sp>
        <p:nvSpPr>
          <p:cNvPr id="21" name="Rectangle 20"/>
          <p:cNvSpPr/>
          <p:nvPr/>
        </p:nvSpPr>
        <p:spPr>
          <a:xfrm>
            <a:off x="5454000" y="2988000"/>
            <a:ext cx="1566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54000" y="2988000"/>
            <a:ext cx="1566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④ スタッフ運用</a:t>
            </a:r>
          </a:p>
          <a:p>
            <a:pPr algn="ctr">
              <a:lnSpc>
                <a:spcPct val="120000"/>
              </a:lnSpc>
            </a:pPr>
            <a:r>
              <a:rPr sz="1050" b="1">
                <a:solidFill>
                  <a:srgbClr val="FFFFFF"/>
                </a:solidFill>
                <a:latin typeface="Meiryo"/>
              </a:rPr>
              <a:t>マニュアル</a:t>
            </a:r>
          </a:p>
        </p:txBody>
      </p:sp>
      <p:sp>
        <p:nvSpPr>
          <p:cNvPr id="23" name="Rectangle 22"/>
          <p:cNvSpPr/>
          <p:nvPr/>
        </p:nvSpPr>
        <p:spPr>
          <a:xfrm>
            <a:off x="5454000" y="3312000"/>
            <a:ext cx="1566000" cy="16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90000" y="3348000"/>
            <a:ext cx="1494000" cy="1548000"/>
          </a:xfrm>
          <a:prstGeom prst="rect">
            <a:avLst/>
          </a:prstGeom>
          <a:noFill/>
          <a:ln>
            <a:noFill/>
          </a:ln>
        </p:spPr>
        <p:txBody>
          <a:bodyPr wrap="square" lIns="54000" tIns="28800" rIns="54000" bIns="28800" anchor="ctr">
            <a:spAutoFit/>
          </a:bodyPr>
          <a:lstStyle/>
          <a:p>
            <a:pPr algn="ctr">
              <a:lnSpc>
                <a:spcPct val="150000"/>
              </a:lnSpc>
            </a:pPr>
            <a:r>
              <a:rPr sz="950" b="0" dirty="0" err="1">
                <a:solidFill>
                  <a:srgbClr val="1E232D"/>
                </a:solidFill>
                <a:latin typeface="Meiryo"/>
              </a:rPr>
              <a:t>ワールドの開閉方法</a:t>
            </a:r>
            <a:endParaRPr sz="950" b="0" dirty="0">
              <a:solidFill>
                <a:srgbClr val="1E232D"/>
              </a:solidFill>
              <a:latin typeface="Meiryo"/>
            </a:endParaRPr>
          </a:p>
          <a:p>
            <a:pPr algn="ctr">
              <a:lnSpc>
                <a:spcPct val="150000"/>
              </a:lnSpc>
            </a:pPr>
            <a:r>
              <a:rPr sz="950" b="0" dirty="0" err="1">
                <a:solidFill>
                  <a:srgbClr val="1E232D"/>
                </a:solidFill>
                <a:latin typeface="Meiryo"/>
              </a:rPr>
              <a:t>バックアップ手順</a:t>
            </a:r>
            <a:endParaRPr sz="950" b="0" dirty="0">
              <a:solidFill>
                <a:srgbClr val="1E232D"/>
              </a:solidFill>
              <a:latin typeface="Meiryo"/>
            </a:endParaRPr>
          </a:p>
          <a:p>
            <a:pPr algn="ctr">
              <a:lnSpc>
                <a:spcPct val="150000"/>
              </a:lnSpc>
            </a:pPr>
            <a:r>
              <a:rPr sz="950" b="0" dirty="0" err="1">
                <a:solidFill>
                  <a:srgbClr val="1E232D"/>
                </a:solidFill>
                <a:latin typeface="Meiryo"/>
              </a:rPr>
              <a:t>トラブル対応</a:t>
            </a:r>
            <a:endParaRPr sz="950" b="0" dirty="0">
              <a:solidFill>
                <a:srgbClr val="1E232D"/>
              </a:solidFill>
              <a:latin typeface="Meiryo"/>
            </a:endParaRPr>
          </a:p>
        </p:txBody>
      </p:sp>
      <p:sp>
        <p:nvSpPr>
          <p:cNvPr id="25" name="Rectangle 24"/>
          <p:cNvSpPr/>
          <p:nvPr/>
        </p:nvSpPr>
        <p:spPr>
          <a:xfrm>
            <a:off x="540000" y="527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8000" y="5220000"/>
            <a:ext cx="6840000" cy="324000"/>
          </a:xfrm>
          <a:prstGeom prst="rect">
            <a:avLst/>
          </a:prstGeom>
          <a:noFill/>
          <a:ln>
            <a:noFill/>
          </a:ln>
        </p:spPr>
        <p:txBody>
          <a:bodyPr wrap="square" lIns="54000" tIns="28800" rIns="54000" bIns="28800" anchor="t">
            <a:spAutoFit/>
          </a:bodyPr>
          <a:lstStyle/>
          <a:p>
            <a:pPr algn="l">
              <a:lnSpc>
                <a:spcPct val="120000"/>
              </a:lnSpc>
            </a:pPr>
            <a:r>
              <a:rPr sz="1300" b="1" dirty="0">
                <a:solidFill>
                  <a:srgbClr val="203A60"/>
                </a:solidFill>
                <a:latin typeface="Meiryo"/>
              </a:rPr>
              <a:t>4つの関係：ゲートウェイ構造</a:t>
            </a:r>
          </a:p>
        </p:txBody>
      </p:sp>
      <p:sp>
        <p:nvSpPr>
          <p:cNvPr id="27" name="Rectangle 26"/>
          <p:cNvSpPr/>
          <p:nvPr/>
        </p:nvSpPr>
        <p:spPr>
          <a:xfrm>
            <a:off x="809675" y="6818008"/>
            <a:ext cx="1296000" cy="936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9675" y="6890008"/>
            <a:ext cx="1296000" cy="432000"/>
          </a:xfrm>
          <a:prstGeom prst="rect">
            <a:avLst/>
          </a:prstGeom>
          <a:noFill/>
          <a:ln>
            <a:noFill/>
          </a:ln>
        </p:spPr>
        <p:txBody>
          <a:bodyPr wrap="square" lIns="54000" tIns="28800" rIns="54000" bIns="28800" anchor="ctr">
            <a:spAutoFit/>
          </a:bodyPr>
          <a:lstStyle/>
          <a:p>
            <a:pPr algn="ctr">
              <a:lnSpc>
                <a:spcPct val="120000"/>
              </a:lnSpc>
            </a:pPr>
            <a:r>
              <a:rPr sz="1100" b="1" dirty="0">
                <a:solidFill>
                  <a:srgbClr val="FFFFFF"/>
                </a:solidFill>
                <a:latin typeface="Meiryo"/>
              </a:rPr>
              <a:t>Web</a:t>
            </a:r>
          </a:p>
          <a:p>
            <a:pPr algn="ctr">
              <a:lnSpc>
                <a:spcPct val="120000"/>
              </a:lnSpc>
            </a:pPr>
            <a:r>
              <a:rPr sz="1100" b="1" dirty="0" err="1">
                <a:solidFill>
                  <a:srgbClr val="FFFFFF"/>
                </a:solidFill>
                <a:latin typeface="Meiryo"/>
              </a:rPr>
              <a:t>サイト</a:t>
            </a:r>
            <a:endParaRPr sz="1100" b="1" dirty="0">
              <a:solidFill>
                <a:srgbClr val="FFFFFF"/>
              </a:solidFill>
              <a:latin typeface="Meiryo"/>
            </a:endParaRPr>
          </a:p>
        </p:txBody>
      </p:sp>
      <p:sp>
        <p:nvSpPr>
          <p:cNvPr id="29" name="TextBox 28"/>
          <p:cNvSpPr txBox="1"/>
          <p:nvPr/>
        </p:nvSpPr>
        <p:spPr>
          <a:xfrm>
            <a:off x="809675" y="7322007"/>
            <a:ext cx="1296000" cy="383636"/>
          </a:xfrm>
          <a:prstGeom prst="rect">
            <a:avLst/>
          </a:prstGeom>
          <a:noFill/>
          <a:ln>
            <a:noFill/>
          </a:ln>
        </p:spPr>
        <p:txBody>
          <a:bodyPr wrap="square" lIns="54000" tIns="28800" rIns="54000" bIns="28800" anchor="t">
            <a:spAutoFit/>
          </a:bodyPr>
          <a:lstStyle/>
          <a:p>
            <a:pPr algn="ctr">
              <a:lnSpc>
                <a:spcPct val="120000"/>
              </a:lnSpc>
            </a:pPr>
            <a:r>
              <a:rPr sz="900" b="0" dirty="0" err="1">
                <a:solidFill>
                  <a:srgbClr val="FFFFFF"/>
                </a:solidFill>
                <a:latin typeface="Meiryo"/>
              </a:rPr>
              <a:t>反復ドリル</a:t>
            </a:r>
            <a:br>
              <a:rPr lang="en-US" sz="900" b="0" dirty="0">
                <a:solidFill>
                  <a:srgbClr val="FFFFFF"/>
                </a:solidFill>
                <a:latin typeface="Meiryo"/>
              </a:rPr>
            </a:br>
            <a:r>
              <a:rPr lang="ja-JP" altLang="en-US" sz="900" b="0" dirty="0">
                <a:solidFill>
                  <a:srgbClr val="FFFFFF"/>
                </a:solidFill>
                <a:latin typeface="Meiryo"/>
              </a:rPr>
              <a:t>（四則演算練習など）</a:t>
            </a:r>
            <a:endParaRPr sz="900" b="0" dirty="0">
              <a:solidFill>
                <a:srgbClr val="FFFFFF"/>
              </a:solidFill>
              <a:latin typeface="Meiryo"/>
            </a:endParaRPr>
          </a:p>
        </p:txBody>
      </p:sp>
      <p:sp>
        <p:nvSpPr>
          <p:cNvPr id="30" name="Right Arrow 29"/>
          <p:cNvSpPr/>
          <p:nvPr/>
        </p:nvSpPr>
        <p:spPr>
          <a:xfrm>
            <a:off x="2529925" y="6588000"/>
            <a:ext cx="216000" cy="144000"/>
          </a:xfrm>
          <a:prstGeom prst="rightArrow">
            <a:avLst/>
          </a:prstGeom>
          <a:solidFill>
            <a:srgbClr val="6E7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109987" y="6228001"/>
            <a:ext cx="1296000" cy="93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109987" y="6300001"/>
            <a:ext cx="1296000" cy="432000"/>
          </a:xfrm>
          <a:prstGeom prst="rect">
            <a:avLst/>
          </a:prstGeom>
          <a:noFill/>
          <a:ln>
            <a:noFill/>
          </a:ln>
        </p:spPr>
        <p:txBody>
          <a:bodyPr wrap="square" lIns="54000" tIns="28800" rIns="54000" bIns="28800" anchor="ctr">
            <a:spAutoFit/>
          </a:bodyPr>
          <a:lstStyle/>
          <a:p>
            <a:pPr algn="ctr">
              <a:lnSpc>
                <a:spcPct val="120000"/>
              </a:lnSpc>
            </a:pPr>
            <a:r>
              <a:rPr sz="1100" b="1" dirty="0">
                <a:solidFill>
                  <a:srgbClr val="FFFFFF"/>
                </a:solidFill>
                <a:latin typeface="Meiryo"/>
              </a:rPr>
              <a:t>PDF</a:t>
            </a:r>
          </a:p>
          <a:p>
            <a:pPr algn="ctr">
              <a:lnSpc>
                <a:spcPct val="120000"/>
              </a:lnSpc>
            </a:pPr>
            <a:r>
              <a:rPr sz="1100" b="1" dirty="0" err="1">
                <a:solidFill>
                  <a:srgbClr val="FFFFFF"/>
                </a:solidFill>
                <a:latin typeface="Meiryo"/>
              </a:rPr>
              <a:t>教材</a:t>
            </a:r>
            <a:endParaRPr sz="1100" b="1" dirty="0">
              <a:solidFill>
                <a:srgbClr val="FFFFFF"/>
              </a:solidFill>
              <a:latin typeface="Meiryo"/>
            </a:endParaRPr>
          </a:p>
        </p:txBody>
      </p:sp>
      <p:sp>
        <p:nvSpPr>
          <p:cNvPr id="33" name="TextBox 32"/>
          <p:cNvSpPr txBox="1"/>
          <p:nvPr/>
        </p:nvSpPr>
        <p:spPr>
          <a:xfrm>
            <a:off x="3109987" y="6732000"/>
            <a:ext cx="1296000" cy="360000"/>
          </a:xfrm>
          <a:prstGeom prst="rect">
            <a:avLst/>
          </a:prstGeom>
          <a:noFill/>
          <a:ln>
            <a:noFill/>
          </a:ln>
        </p:spPr>
        <p:txBody>
          <a:bodyPr wrap="square" lIns="54000" tIns="28800" rIns="54000" bIns="28800" anchor="t">
            <a:spAutoFit/>
          </a:bodyPr>
          <a:lstStyle/>
          <a:p>
            <a:pPr algn="ctr">
              <a:lnSpc>
                <a:spcPct val="120000"/>
              </a:lnSpc>
            </a:pPr>
            <a:r>
              <a:rPr sz="900" b="0" dirty="0" err="1">
                <a:solidFill>
                  <a:srgbClr val="FFFFFF"/>
                </a:solidFill>
                <a:latin typeface="Meiryo"/>
              </a:rPr>
              <a:t>詳細・攻略</a:t>
            </a:r>
            <a:endParaRPr sz="900" b="0" dirty="0">
              <a:solidFill>
                <a:srgbClr val="FFFFFF"/>
              </a:solidFill>
              <a:latin typeface="Meiryo"/>
            </a:endParaRPr>
          </a:p>
          <a:p>
            <a:pPr algn="ctr">
              <a:lnSpc>
                <a:spcPct val="120000"/>
              </a:lnSpc>
            </a:pPr>
            <a:r>
              <a:rPr sz="900" b="0" dirty="0" err="1">
                <a:solidFill>
                  <a:srgbClr val="FFFFFF"/>
                </a:solidFill>
                <a:latin typeface="Meiryo"/>
              </a:rPr>
              <a:t>応用</a:t>
            </a:r>
            <a:endParaRPr sz="900" b="0" dirty="0">
              <a:solidFill>
                <a:srgbClr val="FFFFFF"/>
              </a:solidFill>
              <a:latin typeface="Meiryo"/>
            </a:endParaRPr>
          </a:p>
        </p:txBody>
      </p:sp>
      <p:sp>
        <p:nvSpPr>
          <p:cNvPr id="35" name="Rectangle 34"/>
          <p:cNvSpPr/>
          <p:nvPr/>
        </p:nvSpPr>
        <p:spPr>
          <a:xfrm>
            <a:off x="809675" y="5601994"/>
            <a:ext cx="1296000" cy="936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9675" y="5673994"/>
            <a:ext cx="1296000" cy="432000"/>
          </a:xfrm>
          <a:prstGeom prst="rect">
            <a:avLst/>
          </a:prstGeom>
          <a:noFill/>
          <a:ln>
            <a:noFill/>
          </a:ln>
        </p:spPr>
        <p:txBody>
          <a:bodyPr wrap="square" lIns="54000" tIns="28800" rIns="54000" bIns="28800" anchor="ctr">
            <a:spAutoFit/>
          </a:bodyPr>
          <a:lstStyle/>
          <a:p>
            <a:pPr algn="ctr">
              <a:lnSpc>
                <a:spcPct val="120000"/>
              </a:lnSpc>
            </a:pPr>
            <a:r>
              <a:rPr sz="1100" b="1" dirty="0" err="1">
                <a:solidFill>
                  <a:srgbClr val="FFFFFF"/>
                </a:solidFill>
                <a:latin typeface="Meiryo"/>
              </a:rPr>
              <a:t>マイクラ</a:t>
            </a:r>
            <a:endParaRPr sz="1100" b="1" dirty="0">
              <a:solidFill>
                <a:srgbClr val="FFFFFF"/>
              </a:solidFill>
              <a:latin typeface="Meiryo"/>
            </a:endParaRPr>
          </a:p>
          <a:p>
            <a:pPr algn="ctr">
              <a:lnSpc>
                <a:spcPct val="120000"/>
              </a:lnSpc>
            </a:pPr>
            <a:r>
              <a:rPr sz="1100" b="1" dirty="0" err="1">
                <a:solidFill>
                  <a:srgbClr val="FFFFFF"/>
                </a:solidFill>
                <a:latin typeface="Meiryo"/>
              </a:rPr>
              <a:t>ワールド</a:t>
            </a:r>
            <a:endParaRPr sz="1100" b="1" dirty="0">
              <a:solidFill>
                <a:srgbClr val="FFFFFF"/>
              </a:solidFill>
              <a:latin typeface="Meiryo"/>
            </a:endParaRPr>
          </a:p>
        </p:txBody>
      </p:sp>
      <p:sp>
        <p:nvSpPr>
          <p:cNvPr id="37" name="TextBox 36"/>
          <p:cNvSpPr txBox="1"/>
          <p:nvPr/>
        </p:nvSpPr>
        <p:spPr>
          <a:xfrm>
            <a:off x="809675" y="6105993"/>
            <a:ext cx="1296000" cy="360000"/>
          </a:xfrm>
          <a:prstGeom prst="rect">
            <a:avLst/>
          </a:prstGeom>
          <a:noFill/>
          <a:ln>
            <a:noFill/>
          </a:ln>
        </p:spPr>
        <p:txBody>
          <a:bodyPr wrap="square" lIns="54000" tIns="28800" rIns="54000" bIns="28800" anchor="t">
            <a:spAutoFit/>
          </a:bodyPr>
          <a:lstStyle/>
          <a:p>
            <a:pPr algn="ctr">
              <a:lnSpc>
                <a:spcPct val="120000"/>
              </a:lnSpc>
            </a:pPr>
            <a:r>
              <a:rPr sz="900" b="0" dirty="0" err="1">
                <a:solidFill>
                  <a:srgbClr val="FFFFFF"/>
                </a:solidFill>
                <a:latin typeface="Meiryo"/>
              </a:rPr>
              <a:t>実体験</a:t>
            </a:r>
            <a:endParaRPr sz="900" b="0" dirty="0">
              <a:solidFill>
                <a:srgbClr val="FFFFFF"/>
              </a:solidFill>
              <a:latin typeface="Meiryo"/>
            </a:endParaRPr>
          </a:p>
          <a:p>
            <a:pPr algn="ctr">
              <a:lnSpc>
                <a:spcPct val="120000"/>
              </a:lnSpc>
            </a:pPr>
            <a:r>
              <a:rPr sz="900" b="0" dirty="0" err="1">
                <a:solidFill>
                  <a:srgbClr val="FFFFFF"/>
                </a:solidFill>
                <a:latin typeface="Meiryo"/>
              </a:rPr>
              <a:t>応用課題</a:t>
            </a:r>
            <a:endParaRPr sz="900" b="0" dirty="0">
              <a:solidFill>
                <a:srgbClr val="FFFFFF"/>
              </a:solidFill>
              <a:latin typeface="Meiryo"/>
            </a:endParaRPr>
          </a:p>
        </p:txBody>
      </p:sp>
      <p:sp>
        <p:nvSpPr>
          <p:cNvPr id="38" name="Right Arrow 37"/>
          <p:cNvSpPr/>
          <p:nvPr/>
        </p:nvSpPr>
        <p:spPr>
          <a:xfrm>
            <a:off x="4815000" y="6642000"/>
            <a:ext cx="216000" cy="144000"/>
          </a:xfrm>
          <a:prstGeom prst="rightArrow">
            <a:avLst/>
          </a:prstGeom>
          <a:solidFill>
            <a:srgbClr val="6E7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454000" y="6228001"/>
            <a:ext cx="1296000" cy="93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54000" y="6300001"/>
            <a:ext cx="1296000" cy="432000"/>
          </a:xfrm>
          <a:prstGeom prst="rect">
            <a:avLst/>
          </a:prstGeom>
          <a:noFill/>
          <a:ln>
            <a:noFill/>
          </a:ln>
        </p:spPr>
        <p:txBody>
          <a:bodyPr wrap="square" lIns="54000" tIns="28800" rIns="54000" bIns="28800" anchor="ctr">
            <a:spAutoFit/>
          </a:bodyPr>
          <a:lstStyle/>
          <a:p>
            <a:pPr algn="ctr">
              <a:lnSpc>
                <a:spcPct val="120000"/>
              </a:lnSpc>
            </a:pPr>
            <a:r>
              <a:rPr sz="1100" b="1">
                <a:solidFill>
                  <a:srgbClr val="FFFFFF"/>
                </a:solidFill>
                <a:latin typeface="Meiryo"/>
              </a:rPr>
              <a:t>卒業</a:t>
            </a:r>
          </a:p>
          <a:p>
            <a:pPr algn="ctr">
              <a:lnSpc>
                <a:spcPct val="120000"/>
              </a:lnSpc>
            </a:pPr>
            <a:r>
              <a:rPr sz="1100" b="1">
                <a:solidFill>
                  <a:srgbClr val="FFFFFF"/>
                </a:solidFill>
                <a:latin typeface="Meiryo"/>
              </a:rPr>
              <a:t>エリア</a:t>
            </a:r>
          </a:p>
        </p:txBody>
      </p:sp>
      <p:sp>
        <p:nvSpPr>
          <p:cNvPr id="41" name="TextBox 40"/>
          <p:cNvSpPr txBox="1"/>
          <p:nvPr/>
        </p:nvSpPr>
        <p:spPr>
          <a:xfrm>
            <a:off x="5454000" y="6732000"/>
            <a:ext cx="1296000" cy="360000"/>
          </a:xfrm>
          <a:prstGeom prst="rect">
            <a:avLst/>
          </a:prstGeom>
          <a:noFill/>
          <a:ln>
            <a:noFill/>
          </a:ln>
        </p:spPr>
        <p:txBody>
          <a:bodyPr wrap="square" lIns="54000" tIns="28800" rIns="54000" bIns="28800" anchor="t">
            <a:spAutoFit/>
          </a:bodyPr>
          <a:lstStyle/>
          <a:p>
            <a:pPr algn="ctr">
              <a:lnSpc>
                <a:spcPct val="120000"/>
              </a:lnSpc>
            </a:pPr>
            <a:r>
              <a:rPr sz="900" b="0">
                <a:solidFill>
                  <a:srgbClr val="FFFFFF"/>
                </a:solidFill>
                <a:latin typeface="Meiryo"/>
              </a:rPr>
              <a:t>自由遊び</a:t>
            </a:r>
          </a:p>
          <a:p>
            <a:pPr algn="ctr">
              <a:lnSpc>
                <a:spcPct val="120000"/>
              </a:lnSpc>
            </a:pPr>
            <a:r>
              <a:rPr sz="900" b="0">
                <a:solidFill>
                  <a:srgbClr val="FFFFFF"/>
                </a:solidFill>
                <a:latin typeface="Meiryo"/>
              </a:rPr>
              <a:t>への橋渡し</a:t>
            </a:r>
          </a:p>
        </p:txBody>
      </p:sp>
      <p:sp>
        <p:nvSpPr>
          <p:cNvPr id="42" name="TextBox 41"/>
          <p:cNvSpPr txBox="1"/>
          <p:nvPr/>
        </p:nvSpPr>
        <p:spPr>
          <a:xfrm>
            <a:off x="576000" y="7978348"/>
            <a:ext cx="6480000" cy="500591"/>
          </a:xfrm>
          <a:prstGeom prst="rect">
            <a:avLst/>
          </a:prstGeom>
          <a:noFill/>
          <a:ln>
            <a:noFill/>
          </a:ln>
        </p:spPr>
        <p:txBody>
          <a:bodyPr wrap="square" lIns="54000" tIns="28800" rIns="54000" bIns="28800" anchor="t">
            <a:spAutoFit/>
          </a:bodyPr>
          <a:lstStyle/>
          <a:p>
            <a:pPr algn="ctr">
              <a:lnSpc>
                <a:spcPct val="150000"/>
              </a:lnSpc>
            </a:pPr>
            <a:r>
              <a:rPr sz="1000" b="0" dirty="0">
                <a:solidFill>
                  <a:srgbClr val="6E7682"/>
                </a:solidFill>
                <a:latin typeface="Meiryo"/>
              </a:rPr>
              <a:t>Web＝</a:t>
            </a:r>
            <a:r>
              <a:rPr lang="ja-JP" altLang="en-US" sz="1000" dirty="0">
                <a:solidFill>
                  <a:srgbClr val="6E7682"/>
                </a:solidFill>
                <a:latin typeface="Meiryo"/>
              </a:rPr>
              <a:t>反復練習</a:t>
            </a:r>
            <a:r>
              <a:rPr sz="1000" b="0" dirty="0">
                <a:solidFill>
                  <a:srgbClr val="6E7682"/>
                </a:solidFill>
                <a:latin typeface="Meiryo"/>
              </a:rPr>
              <a:t>、</a:t>
            </a:r>
            <a:r>
              <a:rPr sz="1000" b="0" dirty="0" err="1">
                <a:solidFill>
                  <a:srgbClr val="6E7682"/>
                </a:solidFill>
                <a:latin typeface="Meiryo"/>
              </a:rPr>
              <a:t>PDF＝詳細で深堀り、マイクラ＝実体験、卒業エリア＝自由遊びへの橋渡し</a:t>
            </a:r>
            <a:r>
              <a:rPr sz="1000" b="0" dirty="0">
                <a:solidFill>
                  <a:srgbClr val="6E7682"/>
                </a:solidFill>
                <a:latin typeface="Meiryo"/>
              </a:rPr>
              <a:t>。</a:t>
            </a:r>
          </a:p>
          <a:p>
            <a:pPr algn="ctr">
              <a:lnSpc>
                <a:spcPct val="150000"/>
              </a:lnSpc>
            </a:pPr>
            <a:r>
              <a:rPr sz="1000" b="0" dirty="0">
                <a:solidFill>
                  <a:srgbClr val="6E7682"/>
                </a:solidFill>
                <a:latin typeface="Meiryo"/>
              </a:rPr>
              <a:t>この4段階の連携が本プログラムの基本構造です。</a:t>
            </a:r>
          </a:p>
        </p:txBody>
      </p:sp>
      <p:sp>
        <p:nvSpPr>
          <p:cNvPr id="43" name="TextBox 42"/>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4 /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4. 独自性の担保構造と競合優位性</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独自性の担保構造（コピー耐性のある設計）</a:t>
            </a:r>
          </a:p>
        </p:txBody>
      </p:sp>
      <p:sp>
        <p:nvSpPr>
          <p:cNvPr id="6" name="TextBox 5"/>
          <p:cNvSpPr txBox="1"/>
          <p:nvPr/>
        </p:nvSpPr>
        <p:spPr>
          <a:xfrm>
            <a:off x="540000" y="1440000"/>
            <a:ext cx="6480000" cy="900000"/>
          </a:xfrm>
          <a:prstGeom prst="rect">
            <a:avLst/>
          </a:prstGeom>
          <a:noFill/>
          <a:ln>
            <a:noFill/>
          </a:ln>
        </p:spPr>
        <p:txBody>
          <a:bodyPr wrap="square" lIns="54000" tIns="28800" rIns="54000" bIns="28800" anchor="t">
            <a:spAutoFit/>
          </a:bodyPr>
          <a:lstStyle/>
          <a:p>
            <a:pPr algn="l">
              <a:lnSpc>
                <a:spcPct val="160000"/>
              </a:lnSpc>
            </a:pPr>
            <a:r>
              <a:rPr sz="1100" b="0" dirty="0">
                <a:solidFill>
                  <a:srgbClr val="1E232D"/>
                </a:solidFill>
                <a:latin typeface="Meiryo"/>
              </a:rPr>
              <a:t>・</a:t>
            </a:r>
            <a:r>
              <a:rPr sz="1100" b="0" dirty="0" err="1">
                <a:solidFill>
                  <a:srgbClr val="1E232D"/>
                </a:solidFill>
                <a:latin typeface="Meiryo"/>
              </a:rPr>
              <a:t>Webサイトには「簡単なゲームルールのみ」を掲載</a:t>
            </a:r>
            <a:endParaRPr sz="1100" b="0" dirty="0">
              <a:solidFill>
                <a:srgbClr val="1E232D"/>
              </a:solidFill>
              <a:latin typeface="Meiryo"/>
            </a:endParaRPr>
          </a:p>
          <a:p>
            <a:pPr algn="l">
              <a:lnSpc>
                <a:spcPct val="160000"/>
              </a:lnSpc>
            </a:pPr>
            <a:r>
              <a:rPr sz="1100" b="0" dirty="0">
                <a:solidFill>
                  <a:srgbClr val="1E232D"/>
                </a:solidFill>
                <a:latin typeface="Meiryo"/>
              </a:rPr>
              <a:t>・</a:t>
            </a:r>
            <a:r>
              <a:rPr sz="1100" b="0" dirty="0" err="1">
                <a:solidFill>
                  <a:srgbClr val="1E232D"/>
                </a:solidFill>
                <a:latin typeface="Meiryo"/>
              </a:rPr>
              <a:t>PDF教材には「詳細な攻略法・応用・スタッフ指導法」を掲載</a:t>
            </a:r>
            <a:endParaRPr sz="1100" b="0" dirty="0">
              <a:solidFill>
                <a:srgbClr val="1E232D"/>
              </a:solidFill>
              <a:latin typeface="Meiryo"/>
            </a:endParaRPr>
          </a:p>
          <a:p>
            <a:pPr algn="l">
              <a:lnSpc>
                <a:spcPct val="160000"/>
              </a:lnSpc>
            </a:pPr>
            <a:r>
              <a:rPr sz="1100" b="0" dirty="0">
                <a:solidFill>
                  <a:srgbClr val="1E232D"/>
                </a:solidFill>
                <a:latin typeface="Meiryo"/>
              </a:rPr>
              <a:t>・</a:t>
            </a:r>
            <a:r>
              <a:rPr sz="1100" b="0" dirty="0" err="1">
                <a:solidFill>
                  <a:srgbClr val="1E232D"/>
                </a:solidFill>
                <a:latin typeface="Meiryo"/>
              </a:rPr>
              <a:t>この組み合わせにより、Webだけ見ても完全な運用は再現不可能</a:t>
            </a:r>
            <a:endParaRPr sz="1100" b="0" dirty="0">
              <a:solidFill>
                <a:srgbClr val="1E232D"/>
              </a:solidFill>
              <a:latin typeface="Meiryo"/>
            </a:endParaRPr>
          </a:p>
          <a:p>
            <a:pPr algn="l">
              <a:lnSpc>
                <a:spcPct val="160000"/>
              </a:lnSpc>
            </a:pPr>
            <a:r>
              <a:rPr sz="1100" b="0" dirty="0">
                <a:solidFill>
                  <a:srgbClr val="1E232D"/>
                </a:solidFill>
                <a:latin typeface="Meiryo"/>
              </a:rPr>
              <a:t>・</a:t>
            </a:r>
            <a:r>
              <a:rPr sz="1100" b="0" dirty="0" err="1">
                <a:solidFill>
                  <a:srgbClr val="1E232D"/>
                </a:solidFill>
                <a:latin typeface="Meiryo"/>
              </a:rPr>
              <a:t>Minecraftワールド</a:t>
            </a:r>
            <a:r>
              <a:rPr sz="1100" b="0" dirty="0">
                <a:solidFill>
                  <a:srgbClr val="1E232D"/>
                </a:solidFill>
                <a:latin typeface="Meiryo"/>
              </a:rPr>
              <a:t> × </a:t>
            </a:r>
            <a:r>
              <a:rPr sz="1100" b="0" dirty="0" err="1">
                <a:solidFill>
                  <a:srgbClr val="1E232D"/>
                </a:solidFill>
                <a:latin typeface="Meiryo"/>
              </a:rPr>
              <a:t>PDF教材</a:t>
            </a:r>
            <a:r>
              <a:rPr sz="1100" b="0" dirty="0">
                <a:solidFill>
                  <a:srgbClr val="1E232D"/>
                </a:solidFill>
                <a:latin typeface="Meiryo"/>
              </a:rPr>
              <a:t> × Webサイトの3点セットで初めて完全体</a:t>
            </a:r>
          </a:p>
        </p:txBody>
      </p:sp>
      <p:sp>
        <p:nvSpPr>
          <p:cNvPr id="7" name="Rectangle 6"/>
          <p:cNvSpPr/>
          <p:nvPr/>
        </p:nvSpPr>
        <p:spPr>
          <a:xfrm>
            <a:off x="540000" y="347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342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競合他社との差別化ポイント（4本柱）</a:t>
            </a:r>
          </a:p>
        </p:txBody>
      </p:sp>
      <p:sp>
        <p:nvSpPr>
          <p:cNvPr id="9" name="Rectangle 8"/>
          <p:cNvSpPr/>
          <p:nvPr/>
        </p:nvSpPr>
        <p:spPr>
          <a:xfrm>
            <a:off x="540000" y="3780000"/>
            <a:ext cx="1800000" cy="827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000" y="3780000"/>
            <a:ext cx="1728000" cy="827999"/>
          </a:xfrm>
          <a:prstGeom prst="rect">
            <a:avLst/>
          </a:prstGeom>
          <a:noFill/>
          <a:ln>
            <a:noFill/>
          </a:ln>
        </p:spPr>
        <p:txBody>
          <a:bodyPr wrap="square" lIns="54000" tIns="28800" rIns="54000" bIns="28800" anchor="ctr">
            <a:spAutoFit/>
          </a:bodyPr>
          <a:lstStyle/>
          <a:p>
            <a:pPr algn="l">
              <a:lnSpc>
                <a:spcPct val="120000"/>
              </a:lnSpc>
            </a:pPr>
            <a:r>
              <a:rPr sz="1100" b="1">
                <a:solidFill>
                  <a:srgbClr val="FFFFFF"/>
                </a:solidFill>
                <a:latin typeface="Meiryo"/>
              </a:rPr>
              <a:t>①日本の放デイ文脈</a:t>
            </a:r>
          </a:p>
        </p:txBody>
      </p:sp>
      <p:sp>
        <p:nvSpPr>
          <p:cNvPr id="11" name="Rectangle 10"/>
          <p:cNvSpPr/>
          <p:nvPr/>
        </p:nvSpPr>
        <p:spPr>
          <a:xfrm>
            <a:off x="2340000" y="3780000"/>
            <a:ext cx="4680000" cy="82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12000" y="3834000"/>
            <a:ext cx="4536000" cy="720000"/>
          </a:xfrm>
          <a:prstGeom prst="rect">
            <a:avLst/>
          </a:prstGeom>
          <a:noFill/>
          <a:ln>
            <a:noFill/>
          </a:ln>
        </p:spPr>
        <p:txBody>
          <a:bodyPr wrap="square" lIns="54000" tIns="28800" rIns="54000" bIns="28800" anchor="ctr">
            <a:spAutoFit/>
          </a:bodyPr>
          <a:lstStyle/>
          <a:p>
            <a:pPr algn="l">
              <a:lnSpc>
                <a:spcPct val="150000"/>
              </a:lnSpc>
            </a:pPr>
            <a:r>
              <a:rPr sz="1000" b="0">
                <a:solidFill>
                  <a:srgbClr val="1E232D"/>
                </a:solidFill>
                <a:latin typeface="Meiryo"/>
              </a:rPr>
              <a:t>日本の放課後等デイサービス現場の運用フローに完全最適化。</a:t>
            </a:r>
          </a:p>
          <a:p>
            <a:pPr algn="l">
              <a:lnSpc>
                <a:spcPct val="150000"/>
              </a:lnSpc>
            </a:pPr>
            <a:r>
              <a:rPr sz="1000" b="0">
                <a:solidFill>
                  <a:srgbClr val="1E232D"/>
                </a:solidFill>
                <a:latin typeface="Meiryo"/>
              </a:rPr>
              <a:t>保育士が迷わず運用できるPDF連動設計。</a:t>
            </a:r>
          </a:p>
        </p:txBody>
      </p:sp>
      <p:sp>
        <p:nvSpPr>
          <p:cNvPr id="13" name="Rectangle 12"/>
          <p:cNvSpPr/>
          <p:nvPr/>
        </p:nvSpPr>
        <p:spPr>
          <a:xfrm>
            <a:off x="540000" y="4680000"/>
            <a:ext cx="1800000" cy="827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000" y="4680000"/>
            <a:ext cx="1728000" cy="827999"/>
          </a:xfrm>
          <a:prstGeom prst="rect">
            <a:avLst/>
          </a:prstGeom>
          <a:noFill/>
          <a:ln>
            <a:noFill/>
          </a:ln>
        </p:spPr>
        <p:txBody>
          <a:bodyPr wrap="square" lIns="54000" tIns="28800" rIns="54000" bIns="28800" anchor="ctr">
            <a:spAutoFit/>
          </a:bodyPr>
          <a:lstStyle/>
          <a:p>
            <a:pPr algn="l">
              <a:lnSpc>
                <a:spcPct val="120000"/>
              </a:lnSpc>
            </a:pPr>
            <a:r>
              <a:rPr sz="1100" b="1">
                <a:solidFill>
                  <a:srgbClr val="FFFFFF"/>
                </a:solidFill>
                <a:latin typeface="Meiryo"/>
              </a:rPr>
              <a:t>②発達特性への配慮</a:t>
            </a:r>
          </a:p>
        </p:txBody>
      </p:sp>
      <p:sp>
        <p:nvSpPr>
          <p:cNvPr id="15" name="Rectangle 14"/>
          <p:cNvSpPr/>
          <p:nvPr/>
        </p:nvSpPr>
        <p:spPr>
          <a:xfrm>
            <a:off x="2340000" y="4680000"/>
            <a:ext cx="4680000" cy="82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12000" y="4734000"/>
            <a:ext cx="4536000" cy="720000"/>
          </a:xfrm>
          <a:prstGeom prst="rect">
            <a:avLst/>
          </a:prstGeom>
          <a:noFill/>
          <a:ln>
            <a:noFill/>
          </a:ln>
        </p:spPr>
        <p:txBody>
          <a:bodyPr wrap="square" lIns="54000" tIns="28800" rIns="54000" bIns="28800" anchor="ctr">
            <a:spAutoFit/>
          </a:bodyPr>
          <a:lstStyle/>
          <a:p>
            <a:pPr algn="l">
              <a:lnSpc>
                <a:spcPct val="150000"/>
              </a:lnSpc>
            </a:pPr>
            <a:r>
              <a:rPr sz="1000" b="0">
                <a:solidFill>
                  <a:srgbClr val="1E232D"/>
                </a:solidFill>
                <a:latin typeface="Meiryo"/>
              </a:rPr>
              <a:t>否定しない／失敗を怖がらせない／正のフィードバック多用。</a:t>
            </a:r>
          </a:p>
          <a:p>
            <a:pPr algn="l">
              <a:lnSpc>
                <a:spcPct val="150000"/>
              </a:lnSpc>
            </a:pPr>
            <a:r>
              <a:rPr sz="1000" b="0">
                <a:solidFill>
                  <a:srgbClr val="1E232D"/>
                </a:solidFill>
                <a:latin typeface="Meiryo"/>
              </a:rPr>
              <a:t>アドベンチャーモード固定による事故・迷子の防止。</a:t>
            </a:r>
          </a:p>
        </p:txBody>
      </p:sp>
      <p:sp>
        <p:nvSpPr>
          <p:cNvPr id="17" name="Rectangle 16"/>
          <p:cNvSpPr/>
          <p:nvPr/>
        </p:nvSpPr>
        <p:spPr>
          <a:xfrm>
            <a:off x="540000" y="5580000"/>
            <a:ext cx="1800000" cy="827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000" y="5580000"/>
            <a:ext cx="1728000" cy="827999"/>
          </a:xfrm>
          <a:prstGeom prst="rect">
            <a:avLst/>
          </a:prstGeom>
          <a:noFill/>
          <a:ln>
            <a:noFill/>
          </a:ln>
        </p:spPr>
        <p:txBody>
          <a:bodyPr wrap="square" lIns="54000" tIns="28800" rIns="54000" bIns="28800" anchor="ctr">
            <a:spAutoFit/>
          </a:bodyPr>
          <a:lstStyle/>
          <a:p>
            <a:pPr algn="l">
              <a:lnSpc>
                <a:spcPct val="120000"/>
              </a:lnSpc>
            </a:pPr>
            <a:r>
              <a:rPr sz="1100" b="1">
                <a:solidFill>
                  <a:srgbClr val="FFFFFF"/>
                </a:solidFill>
                <a:latin typeface="Meiryo"/>
              </a:rPr>
              <a:t>③物理ラボという独自体験</a:t>
            </a:r>
          </a:p>
        </p:txBody>
      </p:sp>
      <p:sp>
        <p:nvSpPr>
          <p:cNvPr id="19" name="Rectangle 18"/>
          <p:cNvSpPr/>
          <p:nvPr/>
        </p:nvSpPr>
        <p:spPr>
          <a:xfrm>
            <a:off x="2340000" y="5580000"/>
            <a:ext cx="4680000" cy="82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11999" y="5743704"/>
            <a:ext cx="4607675" cy="500591"/>
          </a:xfrm>
          <a:prstGeom prst="rect">
            <a:avLst/>
          </a:prstGeom>
          <a:noFill/>
          <a:ln>
            <a:noFill/>
          </a:ln>
        </p:spPr>
        <p:txBody>
          <a:bodyPr wrap="square" lIns="54000" tIns="28800" rIns="54000" bIns="28800" anchor="ctr">
            <a:spAutoFit/>
          </a:bodyPr>
          <a:lstStyle/>
          <a:p>
            <a:pPr algn="l">
              <a:lnSpc>
                <a:spcPct val="150000"/>
              </a:lnSpc>
            </a:pPr>
            <a:r>
              <a:rPr sz="1000" b="0" dirty="0" err="1">
                <a:solidFill>
                  <a:srgbClr val="1E232D"/>
                </a:solidFill>
                <a:latin typeface="Meiryo"/>
              </a:rPr>
              <a:t>算数×理科の交差領域で、トロッコを通じて</a:t>
            </a:r>
            <a:r>
              <a:rPr lang="ja-JP" altLang="en-US" sz="1000" b="0" dirty="0">
                <a:solidFill>
                  <a:srgbClr val="1E232D"/>
                </a:solidFill>
                <a:latin typeface="メイリオ" panose="020B0604030504040204" pitchFamily="50" charset="-128"/>
                <a:ea typeface="メイリオ" panose="020B0604030504040204" pitchFamily="50" charset="-128"/>
              </a:rPr>
              <a:t>速度</a:t>
            </a:r>
            <a:r>
              <a:rPr kumimoji="0" lang="ja-JP" altLang="en-US" sz="1000" b="0" i="0" u="none" strike="noStrike" kern="1200" cap="none" spc="0" normalizeH="0" baseline="0" noProof="0" dirty="0">
                <a:ln>
                  <a:noFill/>
                </a:ln>
                <a:solidFill>
                  <a:srgbClr val="1E232D"/>
                </a:solidFill>
                <a:effectLst/>
                <a:uLnTx/>
                <a:uFillTx/>
                <a:latin typeface="Meiryo"/>
                <a:ea typeface="+mn-ea"/>
                <a:cs typeface="+mn-cs"/>
              </a:rPr>
              <a:t>・</a:t>
            </a:r>
            <a:r>
              <a:rPr sz="1000" b="0" dirty="0" err="1">
                <a:solidFill>
                  <a:srgbClr val="1E232D"/>
                </a:solidFill>
                <a:latin typeface="Meiryo"/>
              </a:rPr>
              <a:t>位置エネルギ</a:t>
            </a:r>
            <a:r>
              <a:rPr sz="1000" b="0" dirty="0">
                <a:solidFill>
                  <a:srgbClr val="1E232D"/>
                </a:solidFill>
                <a:latin typeface="Meiryo"/>
              </a:rPr>
              <a:t>ー・</a:t>
            </a:r>
            <a:r>
              <a:rPr sz="1000" b="0" dirty="0" err="1">
                <a:solidFill>
                  <a:srgbClr val="1E232D"/>
                </a:solidFill>
                <a:latin typeface="Meiryo"/>
              </a:rPr>
              <a:t>運動エネルギ</a:t>
            </a:r>
            <a:r>
              <a:rPr sz="1000" b="0" dirty="0">
                <a:solidFill>
                  <a:srgbClr val="1E232D"/>
                </a:solidFill>
                <a:latin typeface="Meiryo"/>
              </a:rPr>
              <a:t>ー・</a:t>
            </a:r>
            <a:r>
              <a:rPr sz="1000" b="0" dirty="0" err="1">
                <a:solidFill>
                  <a:srgbClr val="1E232D"/>
                </a:solidFill>
                <a:latin typeface="Meiryo"/>
              </a:rPr>
              <a:t>レール材料計算を体感。Minecraftでしか成立しない独自コンテンツ</a:t>
            </a:r>
            <a:r>
              <a:rPr sz="1000" b="0" dirty="0">
                <a:solidFill>
                  <a:srgbClr val="1E232D"/>
                </a:solidFill>
                <a:latin typeface="Meiryo"/>
              </a:rPr>
              <a:t>。</a:t>
            </a:r>
          </a:p>
        </p:txBody>
      </p:sp>
      <p:sp>
        <p:nvSpPr>
          <p:cNvPr id="21" name="Rectangle 20"/>
          <p:cNvSpPr/>
          <p:nvPr/>
        </p:nvSpPr>
        <p:spPr>
          <a:xfrm>
            <a:off x="540000" y="6480000"/>
            <a:ext cx="1800000" cy="827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000" y="6480000"/>
            <a:ext cx="1728000" cy="827999"/>
          </a:xfrm>
          <a:prstGeom prst="rect">
            <a:avLst/>
          </a:prstGeom>
          <a:noFill/>
          <a:ln>
            <a:noFill/>
          </a:ln>
        </p:spPr>
        <p:txBody>
          <a:bodyPr wrap="square" lIns="54000" tIns="28800" rIns="54000" bIns="28800" anchor="ctr">
            <a:spAutoFit/>
          </a:bodyPr>
          <a:lstStyle/>
          <a:p>
            <a:pPr algn="l">
              <a:lnSpc>
                <a:spcPct val="120000"/>
              </a:lnSpc>
            </a:pPr>
            <a:r>
              <a:rPr sz="1100" b="1">
                <a:solidFill>
                  <a:srgbClr val="FFFFFF"/>
                </a:solidFill>
                <a:latin typeface="Meiryo"/>
              </a:rPr>
              <a:t>④Web+PDFの連動設計</a:t>
            </a:r>
          </a:p>
        </p:txBody>
      </p:sp>
      <p:sp>
        <p:nvSpPr>
          <p:cNvPr id="23" name="Rectangle 22"/>
          <p:cNvSpPr/>
          <p:nvPr/>
        </p:nvSpPr>
        <p:spPr>
          <a:xfrm>
            <a:off x="2340000" y="6480000"/>
            <a:ext cx="4680000" cy="82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12000" y="6534000"/>
            <a:ext cx="4536000" cy="720000"/>
          </a:xfrm>
          <a:prstGeom prst="rect">
            <a:avLst/>
          </a:prstGeom>
          <a:noFill/>
          <a:ln>
            <a:noFill/>
          </a:ln>
        </p:spPr>
        <p:txBody>
          <a:bodyPr wrap="square" lIns="54000" tIns="28800" rIns="54000" bIns="28800" anchor="ctr">
            <a:spAutoFit/>
          </a:bodyPr>
          <a:lstStyle/>
          <a:p>
            <a:pPr algn="l">
              <a:lnSpc>
                <a:spcPct val="150000"/>
              </a:lnSpc>
            </a:pPr>
            <a:r>
              <a:rPr sz="1000" b="0">
                <a:solidFill>
                  <a:srgbClr val="1E232D"/>
                </a:solidFill>
                <a:latin typeface="Meiryo"/>
              </a:rPr>
              <a:t>反復ドリルはWeb、応用はPDFで差別化。</a:t>
            </a:r>
          </a:p>
          <a:p>
            <a:pPr algn="l">
              <a:lnSpc>
                <a:spcPct val="150000"/>
              </a:lnSpc>
            </a:pPr>
            <a:r>
              <a:rPr sz="1000" b="0">
                <a:solidFill>
                  <a:srgbClr val="1E232D"/>
                </a:solidFill>
                <a:latin typeface="Meiryo"/>
              </a:rPr>
              <a:t>PDF所持者のみ完全運用可という独自性担保メカニズム。</a:t>
            </a:r>
          </a:p>
        </p:txBody>
      </p:sp>
      <p:sp>
        <p:nvSpPr>
          <p:cNvPr id="25" name="TextBox 24"/>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5 /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5.【2択①】ワールド構造の主軸</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468000"/>
          </a:xfrm>
          <a:prstGeom prst="rect">
            <a:avLst/>
          </a:prstGeom>
          <a:noFill/>
          <a:ln>
            <a:noFill/>
          </a:ln>
        </p:spPr>
        <p:txBody>
          <a:bodyPr wrap="square" lIns="54000" tIns="28800" rIns="54000" bIns="28800" anchor="t">
            <a:spAutoFit/>
          </a:bodyPr>
          <a:lstStyle/>
          <a:p>
            <a:pPr algn="l">
              <a:lnSpc>
                <a:spcPct val="120000"/>
              </a:lnSpc>
            </a:pPr>
            <a:r>
              <a:rPr sz="1050" b="0">
                <a:solidFill>
                  <a:srgbClr val="6E7682"/>
                </a:solidFill>
                <a:latin typeface="Meiryo"/>
              </a:rPr>
              <a:t>ワールドをどう区切るか、2つの案を提示します。運用の手堅さから案Aを推奨します。</a:t>
            </a:r>
          </a:p>
        </p:txBody>
      </p:sp>
      <p:sp>
        <p:nvSpPr>
          <p:cNvPr id="5" name="Rectangle 4"/>
          <p:cNvSpPr/>
          <p:nvPr/>
        </p:nvSpPr>
        <p:spPr>
          <a:xfrm>
            <a:off x="540000" y="1800000"/>
            <a:ext cx="3168000" cy="43200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800000"/>
            <a:ext cx="3168000" cy="432000"/>
          </a:xfrm>
          <a:prstGeom prst="rect">
            <a:avLst/>
          </a:prstGeom>
          <a:noFill/>
          <a:ln>
            <a:noFill/>
          </a:ln>
        </p:spPr>
        <p:txBody>
          <a:bodyPr wrap="square" lIns="54000" tIns="28800" rIns="54000" bIns="28800" anchor="ctr">
            <a:spAutoFit/>
          </a:bodyPr>
          <a:lstStyle/>
          <a:p>
            <a:pPr algn="ctr">
              <a:lnSpc>
                <a:spcPct val="120000"/>
              </a:lnSpc>
            </a:pPr>
            <a:r>
              <a:rPr sz="1200" b="1">
                <a:solidFill>
                  <a:srgbClr val="FFFFFF"/>
                </a:solidFill>
                <a:latin typeface="Meiryo"/>
              </a:rPr>
              <a:t>★ 案A：教科別エリア（推奨）</a:t>
            </a:r>
          </a:p>
        </p:txBody>
      </p:sp>
      <p:sp>
        <p:nvSpPr>
          <p:cNvPr id="7" name="Rectangle 6"/>
          <p:cNvSpPr/>
          <p:nvPr/>
        </p:nvSpPr>
        <p:spPr>
          <a:xfrm>
            <a:off x="540000" y="2232000"/>
            <a:ext cx="3168000" cy="3804244"/>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2303999"/>
            <a:ext cx="2952000" cy="3732245"/>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a:t>
            </a:r>
            <a:r>
              <a:rPr sz="1000" b="0" dirty="0" err="1">
                <a:solidFill>
                  <a:srgbClr val="1E232D"/>
                </a:solidFill>
                <a:latin typeface="Meiryo"/>
              </a:rPr>
              <a:t>構成</a:t>
            </a:r>
            <a:r>
              <a:rPr sz="1000" b="0" dirty="0">
                <a:solidFill>
                  <a:srgbClr val="1E232D"/>
                </a:solidFill>
                <a:latin typeface="Meiryo"/>
              </a:rPr>
              <a:t>】</a:t>
            </a:r>
          </a:p>
          <a:p>
            <a:pPr algn="l">
              <a:lnSpc>
                <a:spcPct val="150000"/>
              </a:lnSpc>
            </a:pPr>
            <a:r>
              <a:rPr sz="1000" b="0" dirty="0">
                <a:solidFill>
                  <a:srgbClr val="1E232D"/>
                </a:solidFill>
                <a:latin typeface="Meiryo"/>
              </a:rPr>
              <a:t>4教科 × 3難易度 = 12ミッション</a:t>
            </a:r>
          </a:p>
          <a:p>
            <a:pPr algn="l">
              <a:lnSpc>
                <a:spcPct val="150000"/>
              </a:lnSpc>
            </a:pPr>
            <a:r>
              <a:rPr sz="1000" b="0" dirty="0">
                <a:solidFill>
                  <a:srgbClr val="1E232D"/>
                </a:solidFill>
                <a:latin typeface="Meiryo"/>
              </a:rPr>
              <a:t>+ 物理ラボ（算数×理科交差）3ミッション</a:t>
            </a:r>
          </a:p>
          <a:p>
            <a:pPr algn="l">
              <a:lnSpc>
                <a:spcPct val="150000"/>
              </a:lnSpc>
            </a:pPr>
            <a:r>
              <a:rPr sz="1000" b="0" dirty="0">
                <a:solidFill>
                  <a:srgbClr val="1E232D"/>
                </a:solidFill>
                <a:latin typeface="Meiryo"/>
              </a:rPr>
              <a:t>+ </a:t>
            </a:r>
            <a:r>
              <a:rPr sz="1000" b="0" dirty="0" err="1">
                <a:solidFill>
                  <a:srgbClr val="1E232D"/>
                </a:solidFill>
                <a:latin typeface="Meiryo"/>
              </a:rPr>
              <a:t>国語は全ミッションに素地統合</a:t>
            </a:r>
            <a:endParaRPr sz="1000" b="0" dirty="0">
              <a:solidFill>
                <a:srgbClr val="1E232D"/>
              </a:solidFill>
              <a:latin typeface="Meiryo"/>
            </a:endParaRPr>
          </a:p>
          <a:p>
            <a:pPr algn="l">
              <a:lnSpc>
                <a:spcPct val="150000"/>
              </a:lnSpc>
            </a:pPr>
            <a:r>
              <a:rPr sz="1000" b="0" dirty="0">
                <a:solidFill>
                  <a:srgbClr val="1E232D"/>
                </a:solidFill>
                <a:latin typeface="Meiryo"/>
              </a:rPr>
              <a:t>+ </a:t>
            </a:r>
            <a:r>
              <a:rPr sz="1000" b="0" dirty="0" err="1">
                <a:solidFill>
                  <a:srgbClr val="1E232D"/>
                </a:solidFill>
                <a:latin typeface="Meiryo"/>
              </a:rPr>
              <a:t>英語は発展接続で代替</a:t>
            </a:r>
            <a:endParaRPr sz="1000" b="0" dirty="0">
              <a:solidFill>
                <a:srgbClr val="1E232D"/>
              </a:solidFill>
              <a:latin typeface="Meiryo"/>
            </a:endParaRPr>
          </a:p>
          <a:p>
            <a:pPr algn="l">
              <a:lnSpc>
                <a:spcPct val="150000"/>
              </a:lnSpc>
            </a:pPr>
            <a:r>
              <a:rPr sz="1000" b="0" dirty="0">
                <a:solidFill>
                  <a:srgbClr val="1E232D"/>
                </a:solidFill>
                <a:latin typeface="Meiryo"/>
              </a:rPr>
              <a:t>＝ 計15ミッション</a:t>
            </a:r>
          </a:p>
          <a:p>
            <a:pPr algn="l">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長所</a:t>
            </a:r>
            <a:r>
              <a:rPr sz="1000" b="0" dirty="0">
                <a:solidFill>
                  <a:srgbClr val="1E232D"/>
                </a:solidFill>
                <a:latin typeface="Meiryo"/>
              </a:rPr>
              <a:t>】</a:t>
            </a:r>
          </a:p>
          <a:p>
            <a:pPr algn="l">
              <a:lnSpc>
                <a:spcPct val="150000"/>
              </a:lnSpc>
            </a:pPr>
            <a:r>
              <a:rPr sz="1000" b="0" dirty="0">
                <a:solidFill>
                  <a:srgbClr val="1E232D"/>
                </a:solidFill>
                <a:latin typeface="Meiryo"/>
              </a:rPr>
              <a:t>・</a:t>
            </a:r>
            <a:r>
              <a:rPr sz="1000" b="0" dirty="0" err="1">
                <a:solidFill>
                  <a:srgbClr val="1E232D"/>
                </a:solidFill>
                <a:latin typeface="Meiryo"/>
              </a:rPr>
              <a:t>スタッフの指導計画に直結</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今日は算数」と指示しやすい</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学校学習との連想が強い</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保護者への説明が容易</a:t>
            </a:r>
            <a:endParaRPr sz="1000" b="0" dirty="0">
              <a:solidFill>
                <a:srgbClr val="1E232D"/>
              </a:solidFill>
              <a:latin typeface="Meiryo"/>
            </a:endParaRPr>
          </a:p>
          <a:p>
            <a:pPr algn="l">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短所</a:t>
            </a:r>
            <a:r>
              <a:rPr sz="1000" b="0" dirty="0">
                <a:solidFill>
                  <a:srgbClr val="1E232D"/>
                </a:solidFill>
                <a:latin typeface="Meiryo"/>
              </a:rPr>
              <a:t>】</a:t>
            </a:r>
          </a:p>
          <a:p>
            <a:pPr algn="l">
              <a:lnSpc>
                <a:spcPct val="150000"/>
              </a:lnSpc>
            </a:pPr>
            <a:r>
              <a:rPr sz="1000" b="0" dirty="0">
                <a:solidFill>
                  <a:srgbClr val="1E232D"/>
                </a:solidFill>
                <a:latin typeface="Meiryo"/>
              </a:rPr>
              <a:t>・</a:t>
            </a:r>
            <a:r>
              <a:rPr sz="1000" b="0" dirty="0" err="1">
                <a:solidFill>
                  <a:srgbClr val="1E232D"/>
                </a:solidFill>
                <a:latin typeface="Meiryo"/>
              </a:rPr>
              <a:t>教科ラベルが前に出る</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勉強は道具」の実感がやや薄れる</a:t>
            </a:r>
            <a:endParaRPr sz="1000" b="0" dirty="0">
              <a:solidFill>
                <a:srgbClr val="1E232D"/>
              </a:solidFill>
              <a:latin typeface="Meiryo"/>
            </a:endParaRPr>
          </a:p>
        </p:txBody>
      </p:sp>
      <p:sp>
        <p:nvSpPr>
          <p:cNvPr id="9" name="Rectangle 8"/>
          <p:cNvSpPr/>
          <p:nvPr/>
        </p:nvSpPr>
        <p:spPr>
          <a:xfrm>
            <a:off x="3852000" y="1800000"/>
            <a:ext cx="3168000" cy="432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52000" y="1880736"/>
            <a:ext cx="3168000" cy="270528"/>
          </a:xfrm>
          <a:prstGeom prst="rect">
            <a:avLst/>
          </a:prstGeom>
          <a:noFill/>
          <a:ln>
            <a:noFill/>
          </a:ln>
        </p:spPr>
        <p:txBody>
          <a:bodyPr wrap="square" lIns="54000" tIns="28800" rIns="54000" bIns="28800" anchor="ctr">
            <a:spAutoFit/>
          </a:bodyPr>
          <a:lstStyle/>
          <a:p>
            <a:pPr algn="ctr">
              <a:lnSpc>
                <a:spcPct val="120000"/>
              </a:lnSpc>
            </a:pPr>
            <a:r>
              <a:rPr sz="1200" b="1" dirty="0" err="1">
                <a:solidFill>
                  <a:srgbClr val="FFFFFF"/>
                </a:solidFill>
                <a:latin typeface="Meiryo"/>
              </a:rPr>
              <a:t>案B</a:t>
            </a:r>
            <a:r>
              <a:rPr sz="1200" b="1" dirty="0">
                <a:solidFill>
                  <a:srgbClr val="FFFFFF"/>
                </a:solidFill>
                <a:latin typeface="Meiryo"/>
              </a:rPr>
              <a:t>：</a:t>
            </a:r>
            <a:r>
              <a:rPr lang="ja-JP" altLang="en-US" sz="1200" b="1" dirty="0">
                <a:solidFill>
                  <a:srgbClr val="FFFFFF"/>
                </a:solidFill>
                <a:latin typeface="Meiryo"/>
              </a:rPr>
              <a:t>従来の</a:t>
            </a:r>
            <a:r>
              <a:rPr lang="en-US" altLang="ja-JP" sz="1200" b="1" dirty="0">
                <a:solidFill>
                  <a:srgbClr val="FFFFFF"/>
                </a:solidFill>
                <a:latin typeface="Meiryo"/>
              </a:rPr>
              <a:t>15</a:t>
            </a:r>
            <a:r>
              <a:rPr lang="ja-JP" altLang="en-US" sz="1200" b="1" dirty="0">
                <a:solidFill>
                  <a:srgbClr val="FFFFFF"/>
                </a:solidFill>
                <a:latin typeface="Meiryo"/>
              </a:rPr>
              <a:t>ワールド方針</a:t>
            </a:r>
            <a:endParaRPr sz="1200" b="1" dirty="0">
              <a:solidFill>
                <a:srgbClr val="FFFFFF"/>
              </a:solidFill>
              <a:latin typeface="Meiryo"/>
            </a:endParaRPr>
          </a:p>
        </p:txBody>
      </p:sp>
      <p:sp>
        <p:nvSpPr>
          <p:cNvPr id="11" name="Rectangle 10"/>
          <p:cNvSpPr/>
          <p:nvPr/>
        </p:nvSpPr>
        <p:spPr>
          <a:xfrm>
            <a:off x="3852000" y="2219422"/>
            <a:ext cx="3167675" cy="3816822"/>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24000" y="2321998"/>
            <a:ext cx="3167674" cy="3732245"/>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a:t>
            </a:r>
            <a:r>
              <a:rPr sz="1000" b="0" dirty="0" err="1">
                <a:solidFill>
                  <a:srgbClr val="1E232D"/>
                </a:solidFill>
                <a:latin typeface="Meiryo"/>
              </a:rPr>
              <a:t>構成</a:t>
            </a:r>
            <a:r>
              <a:rPr sz="1000" b="0" dirty="0">
                <a:solidFill>
                  <a:srgbClr val="1E232D"/>
                </a:solidFill>
                <a:latin typeface="Meiryo"/>
              </a:rPr>
              <a:t>】</a:t>
            </a:r>
          </a:p>
          <a:p>
            <a:pPr algn="l">
              <a:lnSpc>
                <a:spcPct val="150000"/>
              </a:lnSpc>
            </a:pPr>
            <a:r>
              <a:rPr sz="1000" b="0" dirty="0">
                <a:solidFill>
                  <a:srgbClr val="1E232D"/>
                </a:solidFill>
                <a:latin typeface="Meiryo"/>
              </a:rPr>
              <a:t>5テーマ × 3難易度 = 15ミッション</a:t>
            </a:r>
            <a:r>
              <a:rPr lang="ja-JP" altLang="en-US" sz="1000" b="0" dirty="0">
                <a:solidFill>
                  <a:srgbClr val="1E232D"/>
                </a:solidFill>
                <a:latin typeface="メイリオ" panose="020B0604030504040204" pitchFamily="50" charset="-128"/>
                <a:ea typeface="メイリオ" panose="020B0604030504040204" pitchFamily="50" charset="-128"/>
              </a:rPr>
              <a:t>（ワールド別）</a:t>
            </a:r>
            <a:endParaRPr sz="1000" b="0" dirty="0">
              <a:solidFill>
                <a:srgbClr val="1E232D"/>
              </a:solidFill>
              <a:latin typeface="メイリオ" panose="020B0604030504040204" pitchFamily="50" charset="-128"/>
              <a:ea typeface="メイリオ" panose="020B0604030504040204" pitchFamily="50" charset="-128"/>
            </a:endParaRPr>
          </a:p>
          <a:p>
            <a:pPr algn="l">
              <a:lnSpc>
                <a:spcPct val="150000"/>
              </a:lnSpc>
            </a:pPr>
            <a:r>
              <a:rPr sz="1000" b="0" dirty="0">
                <a:solidFill>
                  <a:srgbClr val="1E232D"/>
                </a:solidFill>
                <a:latin typeface="Meiryo"/>
              </a:rPr>
              <a:t>（</a:t>
            </a:r>
            <a:r>
              <a:rPr lang="ja-JP" altLang="en-US" sz="1000" dirty="0">
                <a:solidFill>
                  <a:srgbClr val="1E232D"/>
                </a:solidFill>
                <a:latin typeface="メイリオ" panose="020B0604030504040204" pitchFamily="50" charset="-128"/>
                <a:ea typeface="メイリオ" panose="020B0604030504040204" pitchFamily="50" charset="-128"/>
              </a:rPr>
              <a:t>国語・算数・理科・社会・プログラミング</a:t>
            </a:r>
            <a:r>
              <a:rPr sz="1000" b="0" dirty="0">
                <a:solidFill>
                  <a:srgbClr val="1E232D"/>
                </a:solidFill>
                <a:latin typeface="Meiryo"/>
              </a:rPr>
              <a:t>）</a:t>
            </a:r>
          </a:p>
          <a:p>
            <a:pPr>
              <a:lnSpc>
                <a:spcPct val="150000"/>
              </a:lnSpc>
            </a:pPr>
            <a:r>
              <a:rPr lang="en-US" altLang="ja-JP" sz="1000" dirty="0">
                <a:solidFill>
                  <a:srgbClr val="1E232D"/>
                </a:solidFill>
                <a:latin typeface="メイリオ" panose="020B0604030504040204" pitchFamily="50" charset="-128"/>
                <a:ea typeface="メイリオ" panose="020B0604030504040204" pitchFamily="50" charset="-128"/>
              </a:rPr>
              <a:t> </a:t>
            </a:r>
            <a:r>
              <a:rPr lang="ja-JP" altLang="en-US" sz="1000" dirty="0">
                <a:solidFill>
                  <a:srgbClr val="1E232D"/>
                </a:solidFill>
                <a:latin typeface="メイリオ" panose="020B0604030504040204" pitchFamily="50" charset="-128"/>
                <a:ea typeface="メイリオ" panose="020B0604030504040204" pitchFamily="50" charset="-128"/>
              </a:rPr>
              <a:t>・</a:t>
            </a:r>
            <a:r>
              <a:rPr lang="en-US" altLang="ja-JP" sz="1000" dirty="0">
                <a:solidFill>
                  <a:srgbClr val="1E232D"/>
                </a:solidFill>
                <a:latin typeface="メイリオ" panose="020B0604030504040204" pitchFamily="50" charset="-128"/>
                <a:ea typeface="メイリオ" panose="020B0604030504040204" pitchFamily="50" charset="-128"/>
              </a:rPr>
              <a:t>.</a:t>
            </a:r>
            <a:r>
              <a:rPr lang="en-US" altLang="ja-JP" sz="1000" dirty="0" err="1">
                <a:solidFill>
                  <a:srgbClr val="1E232D"/>
                </a:solidFill>
                <a:latin typeface="メイリオ" panose="020B0604030504040204" pitchFamily="50" charset="-128"/>
                <a:ea typeface="メイリオ" panose="020B0604030504040204" pitchFamily="50" charset="-128"/>
              </a:rPr>
              <a:t>mcworld</a:t>
            </a:r>
            <a:r>
              <a:rPr lang="en-US" altLang="ja-JP" sz="1000" dirty="0">
                <a:solidFill>
                  <a:srgbClr val="1E232D"/>
                </a:solidFill>
                <a:latin typeface="メイリオ" panose="020B0604030504040204" pitchFamily="50" charset="-128"/>
                <a:ea typeface="メイリオ" panose="020B0604030504040204" pitchFamily="50" charset="-128"/>
              </a:rPr>
              <a:t> </a:t>
            </a:r>
            <a:r>
              <a:rPr lang="ja-JP" altLang="en-US" sz="1000" dirty="0">
                <a:solidFill>
                  <a:srgbClr val="1E232D"/>
                </a:solidFill>
                <a:latin typeface="メイリオ" panose="020B0604030504040204" pitchFamily="50" charset="-128"/>
                <a:ea typeface="メイリオ" panose="020B0604030504040204" pitchFamily="50" charset="-128"/>
              </a:rPr>
              <a:t>を</a:t>
            </a:r>
            <a:r>
              <a:rPr lang="en-US" altLang="ja-JP" sz="1000" dirty="0">
                <a:solidFill>
                  <a:srgbClr val="1E232D"/>
                </a:solidFill>
                <a:latin typeface="メイリオ" panose="020B0604030504040204" pitchFamily="50" charset="-128"/>
                <a:ea typeface="メイリオ" panose="020B0604030504040204" pitchFamily="50" charset="-128"/>
              </a:rPr>
              <a:t>15</a:t>
            </a:r>
            <a:r>
              <a:rPr lang="ja-JP" altLang="en-US" sz="1000" dirty="0">
                <a:solidFill>
                  <a:srgbClr val="1E232D"/>
                </a:solidFill>
                <a:latin typeface="メイリオ" panose="020B0604030504040204" pitchFamily="50" charset="-128"/>
                <a:ea typeface="メイリオ" panose="020B0604030504040204" pitchFamily="50" charset="-128"/>
              </a:rPr>
              <a:t>ファイル個別納品</a:t>
            </a:r>
            <a:endParaRPr lang="en-US" altLang="ja-JP" sz="1000" dirty="0">
              <a:solidFill>
                <a:srgbClr val="1E232D"/>
              </a:solidFill>
              <a:latin typeface="メイリオ" panose="020B0604030504040204" pitchFamily="50" charset="-128"/>
              <a:ea typeface="メイリオ" panose="020B0604030504040204" pitchFamily="50" charset="-128"/>
            </a:endParaRPr>
          </a:p>
          <a:p>
            <a:pPr>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長所</a:t>
            </a:r>
            <a:r>
              <a:rPr sz="1000" b="0" dirty="0">
                <a:solidFill>
                  <a:srgbClr val="1E232D"/>
                </a:solidFill>
                <a:latin typeface="Meiryo"/>
              </a:rPr>
              <a:t>】</a:t>
            </a:r>
          </a:p>
          <a:p>
            <a:pPr>
              <a:lnSpc>
                <a:spcPct val="150000"/>
              </a:lnSpc>
            </a:pPr>
            <a:r>
              <a:rPr sz="1000" b="0" dirty="0">
                <a:solidFill>
                  <a:srgbClr val="1E232D"/>
                </a:solidFill>
                <a:latin typeface="メイリオ" panose="020B0604030504040204" pitchFamily="50" charset="-128"/>
                <a:ea typeface="メイリオ" panose="020B0604030504040204" pitchFamily="50" charset="-128"/>
              </a:rPr>
              <a:t>・</a:t>
            </a:r>
            <a:r>
              <a:rPr lang="ja-JP" altLang="en-US" sz="1000" dirty="0">
                <a:solidFill>
                  <a:srgbClr val="1E232D"/>
                </a:solidFill>
                <a:latin typeface="メイリオ" panose="020B0604030504040204" pitchFamily="50" charset="-128"/>
                <a:ea typeface="メイリオ" panose="020B0604030504040204" pitchFamily="50" charset="-128"/>
              </a:rPr>
              <a:t>要件に完全準拠</a:t>
            </a:r>
            <a:endParaRPr sz="1000" b="0" dirty="0">
              <a:solidFill>
                <a:srgbClr val="1E232D"/>
              </a:solidFill>
              <a:latin typeface="メイリオ" panose="020B0604030504040204" pitchFamily="50" charset="-128"/>
              <a:ea typeface="メイリオ" panose="020B0604030504040204" pitchFamily="50" charset="-128"/>
            </a:endParaRPr>
          </a:p>
          <a:p>
            <a:pPr>
              <a:lnSpc>
                <a:spcPct val="150000"/>
              </a:lnSpc>
            </a:pPr>
            <a:r>
              <a:rPr sz="1000" b="0" dirty="0">
                <a:solidFill>
                  <a:srgbClr val="1E232D"/>
                </a:solidFill>
                <a:latin typeface="メイリオ" panose="020B0604030504040204" pitchFamily="50" charset="-128"/>
                <a:ea typeface="メイリオ" panose="020B0604030504040204" pitchFamily="50" charset="-128"/>
              </a:rPr>
              <a:t>・</a:t>
            </a:r>
            <a:r>
              <a:rPr lang="ja-JP" altLang="en-US" sz="1000" dirty="0">
                <a:solidFill>
                  <a:srgbClr val="1E232D"/>
                </a:solidFill>
                <a:latin typeface="メイリオ" panose="020B0604030504040204" pitchFamily="50" charset="-128"/>
                <a:ea typeface="メイリオ" panose="020B0604030504040204" pitchFamily="50" charset="-128"/>
              </a:rPr>
              <a:t>教科単位で完全に独立（混線なし）</a:t>
            </a:r>
          </a:p>
          <a:p>
            <a:pPr>
              <a:lnSpc>
                <a:spcPct val="150000"/>
              </a:lnSpc>
            </a:pPr>
            <a:r>
              <a:rPr lang="ja-JP" altLang="en-US" sz="1000" dirty="0">
                <a:solidFill>
                  <a:srgbClr val="1E232D"/>
                </a:solidFill>
                <a:latin typeface="メイリオ" panose="020B0604030504040204" pitchFamily="50" charset="-128"/>
                <a:ea typeface="メイリオ" panose="020B0604030504040204" pitchFamily="50" charset="-128"/>
              </a:rPr>
              <a:t>・「今日はこのワールド」と指示が明快</a:t>
            </a:r>
            <a:endParaRPr lang="en-US" altLang="ja-JP" sz="1000" dirty="0">
              <a:solidFill>
                <a:srgbClr val="1E232D"/>
              </a:solidFill>
              <a:latin typeface="メイリオ" panose="020B0604030504040204" pitchFamily="50" charset="-128"/>
              <a:ea typeface="メイリオ" panose="020B0604030504040204" pitchFamily="50" charset="-128"/>
            </a:endParaRPr>
          </a:p>
          <a:p>
            <a:pPr>
              <a:lnSpc>
                <a:spcPct val="150000"/>
              </a:lnSpc>
            </a:pPr>
            <a:r>
              <a:rPr lang="ja-JP" altLang="en-US" sz="1000" dirty="0">
                <a:solidFill>
                  <a:srgbClr val="1E232D"/>
                </a:solidFill>
                <a:latin typeface="メイリオ" panose="020B0604030504040204" pitchFamily="50" charset="-128"/>
                <a:ea typeface="メイリオ" panose="020B0604030504040204" pitchFamily="50" charset="-128"/>
              </a:rPr>
              <a:t>・ ワールド単位でバージョン管理しやすい</a:t>
            </a:r>
            <a:endParaRPr sz="1000" b="0" dirty="0">
              <a:solidFill>
                <a:srgbClr val="1E232D"/>
              </a:solidFill>
              <a:latin typeface="メイリオ" panose="020B0604030504040204" pitchFamily="50" charset="-128"/>
              <a:ea typeface="メイリオ" panose="020B0604030504040204" pitchFamily="50" charset="-128"/>
            </a:endParaRPr>
          </a:p>
          <a:p>
            <a:pPr algn="l">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短所</a:t>
            </a:r>
            <a:r>
              <a:rPr sz="1000" b="0" dirty="0">
                <a:solidFill>
                  <a:srgbClr val="1E232D"/>
                </a:solidFill>
                <a:latin typeface="Meiryo"/>
              </a:rPr>
              <a:t>】</a:t>
            </a:r>
          </a:p>
          <a:p>
            <a:pPr algn="l">
              <a:lnSpc>
                <a:spcPct val="150000"/>
              </a:lnSpc>
            </a:pPr>
            <a:r>
              <a:rPr lang="ja-JP" altLang="en-US" sz="1000" dirty="0">
                <a:solidFill>
                  <a:srgbClr val="1E232D"/>
                </a:solidFill>
                <a:latin typeface="メイリオ" panose="020B0604030504040204" pitchFamily="50" charset="-128"/>
                <a:ea typeface="メイリオ" panose="020B0604030504040204" pitchFamily="50" charset="-128"/>
              </a:rPr>
              <a:t>・導入時など管理がしにくい</a:t>
            </a:r>
            <a:endParaRPr sz="1000" b="0" dirty="0">
              <a:solidFill>
                <a:srgbClr val="1E232D"/>
              </a:solidFill>
              <a:latin typeface="メイリオ" panose="020B0604030504040204" pitchFamily="50" charset="-128"/>
              <a:ea typeface="メイリオ" panose="020B0604030504040204" pitchFamily="50" charset="-128"/>
            </a:endParaRPr>
          </a:p>
          <a:p>
            <a:pPr algn="l">
              <a:lnSpc>
                <a:spcPct val="150000"/>
              </a:lnSpc>
            </a:pPr>
            <a:r>
              <a:rPr sz="1000" b="0" dirty="0">
                <a:solidFill>
                  <a:srgbClr val="1E232D"/>
                </a:solidFill>
                <a:latin typeface="Meiryo"/>
              </a:rPr>
              <a:t>・</a:t>
            </a:r>
            <a:r>
              <a:rPr lang="ja-JP" altLang="en-US" sz="1000" b="0" dirty="0">
                <a:solidFill>
                  <a:srgbClr val="1E232D"/>
                </a:solidFill>
                <a:latin typeface="メイリオ" panose="020B0604030504040204" pitchFamily="50" charset="-128"/>
                <a:ea typeface="メイリオ" panose="020B0604030504040204" pitchFamily="50" charset="-128"/>
              </a:rPr>
              <a:t>ワールドを変更する際一度ワールドを抜けての移動になるので</a:t>
            </a:r>
            <a:r>
              <a:rPr lang="ja-JP" altLang="en-US" sz="1000" dirty="0">
                <a:solidFill>
                  <a:srgbClr val="1E232D"/>
                </a:solidFill>
                <a:latin typeface="メイリオ" panose="020B0604030504040204" pitchFamily="50" charset="-128"/>
                <a:ea typeface="メイリオ" panose="020B0604030504040204" pitchFamily="50" charset="-128"/>
              </a:rPr>
              <a:t>没入感が薄い</a:t>
            </a:r>
            <a:endParaRPr lang="en-US" altLang="ja-JP" sz="1000" dirty="0">
              <a:solidFill>
                <a:srgbClr val="1E232D"/>
              </a:solidFill>
              <a:latin typeface="メイリオ" panose="020B0604030504040204" pitchFamily="50" charset="-128"/>
              <a:ea typeface="メイリオ" panose="020B0604030504040204" pitchFamily="50" charset="-128"/>
            </a:endParaRPr>
          </a:p>
          <a:p>
            <a:pPr>
              <a:lnSpc>
                <a:spcPct val="150000"/>
              </a:lnSpc>
            </a:pPr>
            <a:r>
              <a:rPr lang="ja-JP" altLang="en-US" sz="1000" dirty="0">
                <a:solidFill>
                  <a:srgbClr val="1E232D"/>
                </a:solidFill>
                <a:latin typeface="Meiryo"/>
              </a:rPr>
              <a:t>・</a:t>
            </a:r>
            <a:r>
              <a:rPr lang="ja-JP" altLang="en-US" sz="1000" dirty="0">
                <a:solidFill>
                  <a:srgbClr val="1E232D"/>
                </a:solidFill>
                <a:latin typeface="メイリオ" panose="020B0604030504040204" pitchFamily="50" charset="-128"/>
                <a:ea typeface="メイリオ" panose="020B0604030504040204" pitchFamily="50" charset="-128"/>
              </a:rPr>
              <a:t>物理ラボ等の、 卒業エリア交差領域を配置しにくい</a:t>
            </a:r>
            <a:endParaRPr sz="1000" b="0" dirty="0">
              <a:solidFill>
                <a:srgbClr val="1E232D"/>
              </a:solidFill>
              <a:latin typeface="メイリオ" panose="020B0604030504040204" pitchFamily="50" charset="-128"/>
              <a:ea typeface="メイリオ" panose="020B0604030504040204" pitchFamily="50" charset="-128"/>
            </a:endParaRPr>
          </a:p>
        </p:txBody>
      </p:sp>
      <p:sp>
        <p:nvSpPr>
          <p:cNvPr id="13" name="Rectangle 12"/>
          <p:cNvSpPr/>
          <p:nvPr/>
        </p:nvSpPr>
        <p:spPr>
          <a:xfrm>
            <a:off x="540000" y="6318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000" y="6264000"/>
            <a:ext cx="6840000" cy="324000"/>
          </a:xfrm>
          <a:prstGeom prst="rect">
            <a:avLst/>
          </a:prstGeom>
          <a:noFill/>
          <a:ln>
            <a:noFill/>
          </a:ln>
        </p:spPr>
        <p:txBody>
          <a:bodyPr wrap="square" lIns="54000" tIns="28800" rIns="54000" bIns="28800" anchor="t">
            <a:spAutoFit/>
          </a:bodyPr>
          <a:lstStyle/>
          <a:p>
            <a:pPr algn="l">
              <a:lnSpc>
                <a:spcPct val="120000"/>
              </a:lnSpc>
            </a:pPr>
            <a:r>
              <a:rPr sz="1300" b="1" dirty="0" err="1">
                <a:solidFill>
                  <a:srgbClr val="203A60"/>
                </a:solidFill>
                <a:latin typeface="Meiryo"/>
              </a:rPr>
              <a:t>ブリーフィングとの関係</a:t>
            </a:r>
            <a:endParaRPr sz="1300" b="1" dirty="0">
              <a:solidFill>
                <a:srgbClr val="203A60"/>
              </a:solidFill>
              <a:latin typeface="Meiryo"/>
            </a:endParaRPr>
          </a:p>
        </p:txBody>
      </p:sp>
      <p:sp>
        <p:nvSpPr>
          <p:cNvPr id="15" name="TextBox 14"/>
          <p:cNvSpPr txBox="1"/>
          <p:nvPr/>
        </p:nvSpPr>
        <p:spPr>
          <a:xfrm>
            <a:off x="540000" y="6588000"/>
            <a:ext cx="6480000" cy="2160000"/>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ブリーフィングは「国語／算数／理科／社会／英語」の5教科網羅を要求されていました。</a:t>
            </a:r>
          </a:p>
          <a:p>
            <a:pPr algn="l">
              <a:lnSpc>
                <a:spcPct val="150000"/>
              </a:lnSpc>
            </a:pPr>
            <a:r>
              <a:rPr sz="1000" b="0" dirty="0" err="1">
                <a:solidFill>
                  <a:srgbClr val="1E232D"/>
                </a:solidFill>
                <a:latin typeface="Meiryo"/>
              </a:rPr>
              <a:t>本提案（案A）では、発達特性配慮とマイクラ世界観との整合を優先し、以下の構成に修正します</a:t>
            </a:r>
            <a:r>
              <a:rPr sz="1000" b="0" dirty="0">
                <a:solidFill>
                  <a:srgbClr val="1E232D"/>
                </a:solidFill>
                <a:latin typeface="Meiryo"/>
              </a:rPr>
              <a:t>：</a:t>
            </a:r>
          </a:p>
          <a:p>
            <a:pPr algn="l">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国語を独立エリアに</a:t>
            </a:r>
            <a:r>
              <a:rPr sz="1000" b="0" dirty="0">
                <a:solidFill>
                  <a:srgbClr val="1E232D"/>
                </a:solidFill>
                <a:latin typeface="Meiryo"/>
              </a:rPr>
              <a:t>            → </a:t>
            </a:r>
            <a:r>
              <a:rPr sz="1000" b="0" dirty="0" err="1">
                <a:solidFill>
                  <a:srgbClr val="1E232D"/>
                </a:solidFill>
                <a:latin typeface="Meiryo"/>
              </a:rPr>
              <a:t>全ミッションに素地統合（NPCセリフ・看板・クエスト文</a:t>
            </a:r>
            <a:r>
              <a:rPr sz="1000" b="0" dirty="0">
                <a:solidFill>
                  <a:srgbClr val="1E232D"/>
                </a:solidFill>
                <a:latin typeface="Meiryo"/>
              </a:rPr>
              <a:t>）</a:t>
            </a:r>
          </a:p>
          <a:p>
            <a:pPr algn="l">
              <a:lnSpc>
                <a:spcPct val="150000"/>
              </a:lnSpc>
            </a:pPr>
            <a:r>
              <a:rPr sz="1000" b="0" dirty="0">
                <a:solidFill>
                  <a:srgbClr val="1E232D"/>
                </a:solidFill>
                <a:latin typeface="Meiryo"/>
              </a:rPr>
              <a:t>・</a:t>
            </a:r>
            <a:r>
              <a:rPr sz="1000" b="0" dirty="0" err="1">
                <a:solidFill>
                  <a:srgbClr val="1E232D"/>
                </a:solidFill>
                <a:latin typeface="Meiryo"/>
              </a:rPr>
              <a:t>英語を独立エリアに</a:t>
            </a:r>
            <a:r>
              <a:rPr sz="1000" b="0" dirty="0">
                <a:solidFill>
                  <a:srgbClr val="1E232D"/>
                </a:solidFill>
                <a:latin typeface="Meiryo"/>
              </a:rPr>
              <a:t>            → </a:t>
            </a:r>
            <a:r>
              <a:rPr sz="1000" b="0" dirty="0" err="1">
                <a:solidFill>
                  <a:srgbClr val="1E232D"/>
                </a:solidFill>
                <a:latin typeface="Meiryo"/>
              </a:rPr>
              <a:t>発展接続で代替（卒業エリアにNASA</a:t>
            </a:r>
            <a:r>
              <a:rPr sz="1000" b="0" dirty="0">
                <a:solidFill>
                  <a:srgbClr val="1E232D"/>
                </a:solidFill>
                <a:latin typeface="Meiryo"/>
              </a:rPr>
              <a:t>/</a:t>
            </a:r>
            <a:r>
              <a:rPr sz="1000" b="0" dirty="0" err="1">
                <a:solidFill>
                  <a:srgbClr val="1E232D"/>
                </a:solidFill>
                <a:latin typeface="Meiryo"/>
              </a:rPr>
              <a:t>Cambridge誘導</a:t>
            </a:r>
            <a:r>
              <a:rPr sz="1000" b="0" dirty="0">
                <a:solidFill>
                  <a:srgbClr val="1E232D"/>
                </a:solidFill>
                <a:latin typeface="Meiryo"/>
              </a:rPr>
              <a:t>）</a:t>
            </a:r>
          </a:p>
          <a:p>
            <a:pPr algn="l">
              <a:lnSpc>
                <a:spcPct val="150000"/>
              </a:lnSpc>
            </a:pPr>
            <a:r>
              <a:rPr sz="1000" b="0" dirty="0">
                <a:solidFill>
                  <a:srgbClr val="1E232D"/>
                </a:solidFill>
                <a:latin typeface="Meiryo"/>
              </a:rPr>
              <a:t>・</a:t>
            </a:r>
            <a:r>
              <a:rPr sz="1000" b="0" dirty="0" err="1">
                <a:solidFill>
                  <a:srgbClr val="1E232D"/>
                </a:solidFill>
                <a:latin typeface="Meiryo"/>
              </a:rPr>
              <a:t>プログラミングを全科目基礎に</a:t>
            </a:r>
            <a:r>
              <a:rPr sz="1000" b="0" dirty="0">
                <a:solidFill>
                  <a:srgbClr val="1E232D"/>
                </a:solidFill>
                <a:latin typeface="Meiryo"/>
              </a:rPr>
              <a:t> → </a:t>
            </a:r>
            <a:r>
              <a:rPr sz="1000" b="0" dirty="0" err="1">
                <a:solidFill>
                  <a:srgbClr val="1E232D"/>
                </a:solidFill>
                <a:latin typeface="Meiryo"/>
              </a:rPr>
              <a:t>独立エリアに昇格（MakeCodeを体系的に学べる</a:t>
            </a:r>
            <a:r>
              <a:rPr sz="1000" b="0" dirty="0">
                <a:solidFill>
                  <a:srgbClr val="1E232D"/>
                </a:solidFill>
                <a:latin typeface="Meiryo"/>
              </a:rPr>
              <a:t>）</a:t>
            </a:r>
          </a:p>
          <a:p>
            <a:pPr algn="l">
              <a:lnSpc>
                <a:spcPct val="150000"/>
              </a:lnSpc>
            </a:pPr>
            <a:r>
              <a:rPr sz="1000" b="0" dirty="0">
                <a:solidFill>
                  <a:srgbClr val="1E232D"/>
                </a:solidFill>
                <a:latin typeface="Meiryo"/>
              </a:rPr>
              <a:t>・5教科構成                    → 4教科 + </a:t>
            </a:r>
            <a:r>
              <a:rPr sz="1000" b="0" dirty="0" err="1">
                <a:solidFill>
                  <a:srgbClr val="1E232D"/>
                </a:solidFill>
                <a:latin typeface="Meiryo"/>
              </a:rPr>
              <a:t>物理ラボ</a:t>
            </a:r>
            <a:r>
              <a:rPr sz="1000" b="0" dirty="0">
                <a:solidFill>
                  <a:srgbClr val="1E232D"/>
                </a:solidFill>
                <a:latin typeface="Meiryo"/>
              </a:rPr>
              <a:t> + </a:t>
            </a:r>
            <a:r>
              <a:rPr sz="1000" b="0" dirty="0" err="1">
                <a:solidFill>
                  <a:srgbClr val="1E232D"/>
                </a:solidFill>
                <a:latin typeface="Meiryo"/>
              </a:rPr>
              <a:t>国語素地</a:t>
            </a:r>
            <a:r>
              <a:rPr sz="1000" b="0" dirty="0">
                <a:solidFill>
                  <a:srgbClr val="1E232D"/>
                </a:solidFill>
                <a:latin typeface="Meiryo"/>
              </a:rPr>
              <a:t> + </a:t>
            </a:r>
            <a:r>
              <a:rPr sz="1000" b="0" dirty="0" err="1">
                <a:solidFill>
                  <a:srgbClr val="1E232D"/>
                </a:solidFill>
                <a:latin typeface="Meiryo"/>
              </a:rPr>
              <a:t>英語発展接続</a:t>
            </a:r>
            <a:endParaRPr sz="1000" b="0" dirty="0">
              <a:solidFill>
                <a:srgbClr val="1E232D"/>
              </a:solidFill>
              <a:latin typeface="Meiryo"/>
            </a:endParaRPr>
          </a:p>
          <a:p>
            <a:pPr algn="l">
              <a:lnSpc>
                <a:spcPct val="150000"/>
              </a:lnSpc>
            </a:pPr>
            <a:endParaRPr sz="1000" b="0" dirty="0">
              <a:solidFill>
                <a:srgbClr val="1E232D"/>
              </a:solidFill>
              <a:latin typeface="Meiryo"/>
            </a:endParaRPr>
          </a:p>
          <a:p>
            <a:pPr algn="l">
              <a:lnSpc>
                <a:spcPct val="150000"/>
              </a:lnSpc>
            </a:pPr>
            <a:r>
              <a:rPr sz="1000" b="0" dirty="0" err="1">
                <a:solidFill>
                  <a:srgbClr val="1E232D"/>
                </a:solidFill>
                <a:latin typeface="Meiryo"/>
              </a:rPr>
              <a:t>この修正は「運用負荷の軽減」と「発達特性児童への認知負荷の最適化」が主目的です</a:t>
            </a:r>
            <a:r>
              <a:rPr sz="1000" b="0" dirty="0">
                <a:solidFill>
                  <a:srgbClr val="1E232D"/>
                </a:solidFill>
                <a:latin typeface="Meiryo"/>
              </a:rPr>
              <a:t>。</a:t>
            </a:r>
          </a:p>
        </p:txBody>
      </p:sp>
      <p:sp>
        <p:nvSpPr>
          <p:cNvPr id="16" name="TextBox 15"/>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6 /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6.【2択②】独自価値の方向性</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468000"/>
          </a:xfrm>
          <a:prstGeom prst="rect">
            <a:avLst/>
          </a:prstGeom>
          <a:noFill/>
          <a:ln>
            <a:noFill/>
          </a:ln>
        </p:spPr>
        <p:txBody>
          <a:bodyPr wrap="square" lIns="54000" tIns="28800" rIns="54000" bIns="28800" anchor="t">
            <a:spAutoFit/>
          </a:bodyPr>
          <a:lstStyle/>
          <a:p>
            <a:pPr algn="l">
              <a:lnSpc>
                <a:spcPct val="120000"/>
              </a:lnSpc>
            </a:pPr>
            <a:r>
              <a:rPr sz="1050" b="0">
                <a:solidFill>
                  <a:srgbClr val="6E7682"/>
                </a:solidFill>
                <a:latin typeface="Meiryo"/>
              </a:rPr>
              <a:t>プログラムの位置付けをどう定義するか。ゲートウェイ哲学と整合する案Bを推奨します。</a:t>
            </a:r>
          </a:p>
        </p:txBody>
      </p:sp>
      <p:sp>
        <p:nvSpPr>
          <p:cNvPr id="5" name="Rectangle 4"/>
          <p:cNvSpPr/>
          <p:nvPr/>
        </p:nvSpPr>
        <p:spPr>
          <a:xfrm>
            <a:off x="540000" y="1800000"/>
            <a:ext cx="3168000" cy="432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800000"/>
            <a:ext cx="3168000" cy="432000"/>
          </a:xfrm>
          <a:prstGeom prst="rect">
            <a:avLst/>
          </a:prstGeom>
          <a:noFill/>
          <a:ln>
            <a:noFill/>
          </a:ln>
        </p:spPr>
        <p:txBody>
          <a:bodyPr wrap="square" lIns="54000" tIns="28800" rIns="54000" bIns="28800" anchor="ctr">
            <a:spAutoFit/>
          </a:bodyPr>
          <a:lstStyle/>
          <a:p>
            <a:pPr algn="ctr">
              <a:lnSpc>
                <a:spcPct val="120000"/>
              </a:lnSpc>
            </a:pPr>
            <a:r>
              <a:rPr sz="1200" b="1">
                <a:solidFill>
                  <a:srgbClr val="FFFFFF"/>
                </a:solidFill>
                <a:latin typeface="Meiryo"/>
              </a:rPr>
              <a:t>案A：放デイ特化・手堅く</a:t>
            </a:r>
          </a:p>
        </p:txBody>
      </p:sp>
      <p:sp>
        <p:nvSpPr>
          <p:cNvPr id="7" name="Rectangle 6"/>
          <p:cNvSpPr/>
          <p:nvPr/>
        </p:nvSpPr>
        <p:spPr>
          <a:xfrm>
            <a:off x="540000" y="2232000"/>
            <a:ext cx="3168000" cy="34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2303999"/>
            <a:ext cx="2952000" cy="3276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【位置付け】</a:t>
            </a:r>
          </a:p>
          <a:p>
            <a:pPr algn="l">
              <a:lnSpc>
                <a:spcPct val="150000"/>
              </a:lnSpc>
            </a:pPr>
            <a:r>
              <a:rPr sz="1000" b="0">
                <a:solidFill>
                  <a:srgbClr val="1E232D"/>
                </a:solidFill>
                <a:latin typeface="Meiryo"/>
              </a:rPr>
              <a:t>放デイ現場で完結する自己充足型パッケージ</a:t>
            </a:r>
          </a:p>
          <a:p>
            <a:pPr algn="l">
              <a:lnSpc>
                <a:spcPct val="150000"/>
              </a:lnSpc>
            </a:pPr>
            <a:endParaRPr sz="1000" b="0">
              <a:solidFill>
                <a:srgbClr val="1E232D"/>
              </a:solidFill>
              <a:latin typeface="Meiryo"/>
            </a:endParaRPr>
          </a:p>
          <a:p>
            <a:pPr algn="l">
              <a:lnSpc>
                <a:spcPct val="150000"/>
              </a:lnSpc>
            </a:pPr>
            <a:r>
              <a:rPr sz="1000" b="0">
                <a:solidFill>
                  <a:srgbClr val="1E232D"/>
                </a:solidFill>
                <a:latin typeface="Meiryo"/>
              </a:rPr>
              <a:t>【長所】</a:t>
            </a:r>
          </a:p>
          <a:p>
            <a:pPr algn="l">
              <a:lnSpc>
                <a:spcPct val="150000"/>
              </a:lnSpc>
            </a:pPr>
            <a:r>
              <a:rPr sz="1000" b="0">
                <a:solidFill>
                  <a:srgbClr val="1E232D"/>
                </a:solidFill>
                <a:latin typeface="Meiryo"/>
              </a:rPr>
              <a:t>・納品後の完結性が高い</a:t>
            </a:r>
          </a:p>
          <a:p>
            <a:pPr algn="l">
              <a:lnSpc>
                <a:spcPct val="150000"/>
              </a:lnSpc>
            </a:pPr>
            <a:r>
              <a:rPr sz="1000" b="0">
                <a:solidFill>
                  <a:srgbClr val="1E232D"/>
                </a:solidFill>
                <a:latin typeface="Meiryo"/>
              </a:rPr>
              <a:t>・期待値がシンプル</a:t>
            </a:r>
          </a:p>
          <a:p>
            <a:pPr algn="l">
              <a:lnSpc>
                <a:spcPct val="150000"/>
              </a:lnSpc>
            </a:pPr>
            <a:r>
              <a:rPr sz="1000" b="0">
                <a:solidFill>
                  <a:srgbClr val="1E232D"/>
                </a:solidFill>
                <a:latin typeface="Meiryo"/>
              </a:rPr>
              <a:t>・スコープ管理が容易</a:t>
            </a:r>
          </a:p>
          <a:p>
            <a:pPr algn="l">
              <a:lnSpc>
                <a:spcPct val="150000"/>
              </a:lnSpc>
            </a:pPr>
            <a:endParaRPr sz="1000" b="0">
              <a:solidFill>
                <a:srgbClr val="1E232D"/>
              </a:solidFill>
              <a:latin typeface="Meiryo"/>
            </a:endParaRPr>
          </a:p>
          <a:p>
            <a:pPr algn="l">
              <a:lnSpc>
                <a:spcPct val="150000"/>
              </a:lnSpc>
            </a:pPr>
            <a:r>
              <a:rPr sz="1000" b="0">
                <a:solidFill>
                  <a:srgbClr val="1E232D"/>
                </a:solidFill>
                <a:latin typeface="Meiryo"/>
              </a:rPr>
              <a:t>【短所】</a:t>
            </a:r>
          </a:p>
          <a:p>
            <a:pPr algn="l">
              <a:lnSpc>
                <a:spcPct val="150000"/>
              </a:lnSpc>
            </a:pPr>
            <a:r>
              <a:rPr sz="1000" b="0">
                <a:solidFill>
                  <a:srgbClr val="1E232D"/>
                </a:solidFill>
                <a:latin typeface="Meiryo"/>
              </a:rPr>
              <a:t>・ゲートウェイ哲学との親和性が低い</a:t>
            </a:r>
          </a:p>
          <a:p>
            <a:pPr algn="l">
              <a:lnSpc>
                <a:spcPct val="150000"/>
              </a:lnSpc>
            </a:pPr>
            <a:r>
              <a:rPr sz="1000" b="0">
                <a:solidFill>
                  <a:srgbClr val="1E232D"/>
                </a:solidFill>
                <a:latin typeface="Meiryo"/>
              </a:rPr>
              <a:t>・児童の「次」への接続が弱い</a:t>
            </a:r>
          </a:p>
          <a:p>
            <a:pPr algn="l">
              <a:lnSpc>
                <a:spcPct val="150000"/>
              </a:lnSpc>
            </a:pPr>
            <a:r>
              <a:rPr sz="1000" b="0">
                <a:solidFill>
                  <a:srgbClr val="1E232D"/>
                </a:solidFill>
                <a:latin typeface="Meiryo"/>
              </a:rPr>
              <a:t>・差別化の物語が弱い</a:t>
            </a:r>
          </a:p>
        </p:txBody>
      </p:sp>
      <p:sp>
        <p:nvSpPr>
          <p:cNvPr id="9" name="Rectangle 8"/>
          <p:cNvSpPr/>
          <p:nvPr/>
        </p:nvSpPr>
        <p:spPr>
          <a:xfrm>
            <a:off x="3852000" y="1800000"/>
            <a:ext cx="3168000" cy="432000"/>
          </a:xfrm>
          <a:prstGeom prst="rect">
            <a:avLst/>
          </a:prstGeom>
          <a:solidFill>
            <a:srgbClr val="C98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52000" y="1800000"/>
            <a:ext cx="3168000" cy="432000"/>
          </a:xfrm>
          <a:prstGeom prst="rect">
            <a:avLst/>
          </a:prstGeom>
          <a:noFill/>
          <a:ln>
            <a:noFill/>
          </a:ln>
        </p:spPr>
        <p:txBody>
          <a:bodyPr wrap="square" lIns="54000" tIns="28800" rIns="54000" bIns="28800" anchor="ctr">
            <a:spAutoFit/>
          </a:bodyPr>
          <a:lstStyle/>
          <a:p>
            <a:pPr algn="ctr">
              <a:lnSpc>
                <a:spcPct val="120000"/>
              </a:lnSpc>
            </a:pPr>
            <a:r>
              <a:rPr sz="1200" b="1">
                <a:solidFill>
                  <a:srgbClr val="FFFFFF"/>
                </a:solidFill>
                <a:latin typeface="Meiryo"/>
              </a:rPr>
              <a:t>★ 案B：発展接続型（推奨）</a:t>
            </a:r>
          </a:p>
        </p:txBody>
      </p:sp>
      <p:sp>
        <p:nvSpPr>
          <p:cNvPr id="11" name="Rectangle 10"/>
          <p:cNvSpPr/>
          <p:nvPr/>
        </p:nvSpPr>
        <p:spPr>
          <a:xfrm>
            <a:off x="3852000" y="2232000"/>
            <a:ext cx="3168000" cy="3420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60000" y="2303999"/>
            <a:ext cx="2952000" cy="3276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【位置付け】</a:t>
            </a:r>
          </a:p>
          <a:p>
            <a:pPr algn="l">
              <a:lnSpc>
                <a:spcPct val="150000"/>
              </a:lnSpc>
            </a:pPr>
            <a:r>
              <a:rPr sz="1000" b="0">
                <a:solidFill>
                  <a:srgbClr val="1E232D"/>
                </a:solidFill>
                <a:latin typeface="Meiryo"/>
              </a:rPr>
              <a:t>自律的な学びの入口として機能する、</a:t>
            </a:r>
          </a:p>
          <a:p>
            <a:pPr algn="l">
              <a:lnSpc>
                <a:spcPct val="150000"/>
              </a:lnSpc>
            </a:pPr>
            <a:r>
              <a:rPr sz="1000" b="0">
                <a:solidFill>
                  <a:srgbClr val="1E232D"/>
                </a:solidFill>
                <a:latin typeface="Meiryo"/>
              </a:rPr>
              <a:t>「ここを入口に、次の世界へ」という物語を持つプログラム</a:t>
            </a:r>
          </a:p>
          <a:p>
            <a:pPr algn="l">
              <a:lnSpc>
                <a:spcPct val="150000"/>
              </a:lnSpc>
            </a:pPr>
            <a:endParaRPr sz="1000" b="0">
              <a:solidFill>
                <a:srgbClr val="1E232D"/>
              </a:solidFill>
              <a:latin typeface="Meiryo"/>
            </a:endParaRPr>
          </a:p>
          <a:p>
            <a:pPr algn="l">
              <a:lnSpc>
                <a:spcPct val="150000"/>
              </a:lnSpc>
            </a:pPr>
            <a:r>
              <a:rPr sz="1000" b="0">
                <a:solidFill>
                  <a:srgbClr val="1E232D"/>
                </a:solidFill>
                <a:latin typeface="Meiryo"/>
              </a:rPr>
              <a:t>【長所】</a:t>
            </a:r>
          </a:p>
          <a:p>
            <a:pPr algn="l">
              <a:lnSpc>
                <a:spcPct val="150000"/>
              </a:lnSpc>
            </a:pPr>
            <a:r>
              <a:rPr sz="1000" b="0">
                <a:solidFill>
                  <a:srgbClr val="1E232D"/>
                </a:solidFill>
                <a:latin typeface="Meiryo"/>
              </a:rPr>
              <a:t>・ゲートウェイ哲学と完全に整合</a:t>
            </a:r>
          </a:p>
          <a:p>
            <a:pPr algn="l">
              <a:lnSpc>
                <a:spcPct val="150000"/>
              </a:lnSpc>
            </a:pPr>
            <a:r>
              <a:rPr sz="1000" b="0">
                <a:solidFill>
                  <a:srgbClr val="1E232D"/>
                </a:solidFill>
                <a:latin typeface="Meiryo"/>
              </a:rPr>
              <a:t>・NASA／ケンブリッジ等への橋渡しを明示</a:t>
            </a:r>
          </a:p>
          <a:p>
            <a:pPr algn="l">
              <a:lnSpc>
                <a:spcPct val="150000"/>
              </a:lnSpc>
            </a:pPr>
            <a:r>
              <a:rPr sz="1000" b="0">
                <a:solidFill>
                  <a:srgbClr val="1E232D"/>
                </a:solidFill>
                <a:latin typeface="Meiryo"/>
              </a:rPr>
              <a:t>・サバイバル自由遊び・YouTube再現への接続</a:t>
            </a:r>
          </a:p>
          <a:p>
            <a:pPr algn="l">
              <a:lnSpc>
                <a:spcPct val="150000"/>
              </a:lnSpc>
            </a:pPr>
            <a:r>
              <a:rPr sz="1000" b="0">
                <a:solidFill>
                  <a:srgbClr val="1E232D"/>
                </a:solidFill>
                <a:latin typeface="Meiryo"/>
              </a:rPr>
              <a:t>・物語性のある差別化が可能</a:t>
            </a:r>
          </a:p>
          <a:p>
            <a:pPr algn="l">
              <a:lnSpc>
                <a:spcPct val="150000"/>
              </a:lnSpc>
            </a:pPr>
            <a:endParaRPr sz="1000" b="0">
              <a:solidFill>
                <a:srgbClr val="1E232D"/>
              </a:solidFill>
              <a:latin typeface="Meiryo"/>
            </a:endParaRPr>
          </a:p>
          <a:p>
            <a:pPr algn="l">
              <a:lnSpc>
                <a:spcPct val="150000"/>
              </a:lnSpc>
            </a:pPr>
            <a:r>
              <a:rPr sz="1000" b="0">
                <a:solidFill>
                  <a:srgbClr val="1E232D"/>
                </a:solidFill>
                <a:latin typeface="Meiryo"/>
              </a:rPr>
              <a:t>【短所】</a:t>
            </a:r>
          </a:p>
          <a:p>
            <a:pPr algn="l">
              <a:lnSpc>
                <a:spcPct val="150000"/>
              </a:lnSpc>
            </a:pPr>
            <a:r>
              <a:rPr sz="1000" b="0">
                <a:solidFill>
                  <a:srgbClr val="1E232D"/>
                </a:solidFill>
                <a:latin typeface="Meiryo"/>
              </a:rPr>
              <a:t>・「発展先」を説明する追加コンテンツが必要</a:t>
            </a:r>
          </a:p>
          <a:p>
            <a:pPr algn="l">
              <a:lnSpc>
                <a:spcPct val="150000"/>
              </a:lnSpc>
            </a:pPr>
            <a:r>
              <a:rPr sz="1000" b="0">
                <a:solidFill>
                  <a:srgbClr val="1E232D"/>
                </a:solidFill>
                <a:latin typeface="Meiryo"/>
              </a:rPr>
              <a:t>・卒業エリアの制作工数がやや増える</a:t>
            </a:r>
          </a:p>
        </p:txBody>
      </p:sp>
      <p:sp>
        <p:nvSpPr>
          <p:cNvPr id="13" name="Rectangle 12"/>
          <p:cNvSpPr/>
          <p:nvPr/>
        </p:nvSpPr>
        <p:spPr>
          <a:xfrm>
            <a:off x="540000" y="5742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000" y="5688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発展接続の具体像</a:t>
            </a:r>
          </a:p>
        </p:txBody>
      </p:sp>
      <p:sp>
        <p:nvSpPr>
          <p:cNvPr id="15" name="TextBox 14"/>
          <p:cNvSpPr txBox="1"/>
          <p:nvPr/>
        </p:nvSpPr>
        <p:spPr>
          <a:xfrm>
            <a:off x="540000" y="6048000"/>
            <a:ext cx="6480000" cy="1423921"/>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a:t>
            </a:r>
            <a:r>
              <a:rPr sz="1000" b="0" dirty="0" err="1">
                <a:solidFill>
                  <a:srgbClr val="1E232D"/>
                </a:solidFill>
                <a:latin typeface="Meiryo"/>
              </a:rPr>
              <a:t>卒業エリアに、NASA</a:t>
            </a:r>
            <a:r>
              <a:rPr sz="1000" b="0" dirty="0">
                <a:solidFill>
                  <a:srgbClr val="1E232D"/>
                </a:solidFill>
                <a:latin typeface="Meiryo"/>
              </a:rPr>
              <a:t> の Minecraft Education </a:t>
            </a:r>
            <a:r>
              <a:rPr sz="1000" b="0" dirty="0" err="1">
                <a:solidFill>
                  <a:srgbClr val="1E232D"/>
                </a:solidFill>
                <a:latin typeface="Meiryo"/>
              </a:rPr>
              <a:t>ワールド／ケンブリッジ大学の公開ワールド等への</a:t>
            </a:r>
            <a:endParaRPr sz="1000" b="0" dirty="0">
              <a:solidFill>
                <a:srgbClr val="1E232D"/>
              </a:solidFill>
              <a:latin typeface="Meiryo"/>
            </a:endParaRPr>
          </a:p>
          <a:p>
            <a:pPr algn="l">
              <a:lnSpc>
                <a:spcPct val="150000"/>
              </a:lnSpc>
            </a:pPr>
            <a:r>
              <a:rPr sz="1000" b="0" dirty="0">
                <a:solidFill>
                  <a:srgbClr val="1E232D"/>
                </a:solidFill>
                <a:latin typeface="Meiryo"/>
              </a:rPr>
              <a:t>  </a:t>
            </a:r>
            <a:r>
              <a:rPr sz="1000" b="0" dirty="0" err="1">
                <a:solidFill>
                  <a:srgbClr val="1E232D"/>
                </a:solidFill>
                <a:latin typeface="Meiryo"/>
              </a:rPr>
              <a:t>誘導看板・紹介を配置</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PDF巻末に「さらに挑戦したい人へ」のページを設置</a:t>
            </a:r>
            <a:r>
              <a:rPr sz="1000" b="0" dirty="0">
                <a:solidFill>
                  <a:srgbClr val="1E232D"/>
                </a:solidFill>
                <a:latin typeface="Meiryo"/>
              </a:rPr>
              <a:t>：</a:t>
            </a:r>
          </a:p>
          <a:p>
            <a:pPr algn="l">
              <a:lnSpc>
                <a:spcPct val="150000"/>
              </a:lnSpc>
            </a:pPr>
            <a:r>
              <a:rPr sz="1000" b="0" dirty="0">
                <a:solidFill>
                  <a:srgbClr val="1E232D"/>
                </a:solidFill>
                <a:latin typeface="Meiryo"/>
              </a:rPr>
              <a:t>    - </a:t>
            </a:r>
            <a:r>
              <a:rPr sz="1000" b="0" dirty="0" err="1">
                <a:solidFill>
                  <a:srgbClr val="1E232D"/>
                </a:solidFill>
                <a:latin typeface="Meiryo"/>
              </a:rPr>
              <a:t>おすすめYouTubeクリエイターの紹介</a:t>
            </a:r>
            <a:endParaRPr sz="1000" b="0" dirty="0">
              <a:solidFill>
                <a:srgbClr val="1E232D"/>
              </a:solidFill>
              <a:latin typeface="Meiryo"/>
            </a:endParaRPr>
          </a:p>
          <a:p>
            <a:pPr algn="l">
              <a:lnSpc>
                <a:spcPct val="150000"/>
              </a:lnSpc>
            </a:pPr>
            <a:r>
              <a:rPr sz="1000" b="0" dirty="0">
                <a:solidFill>
                  <a:srgbClr val="1E232D"/>
                </a:solidFill>
                <a:latin typeface="Meiryo"/>
              </a:rPr>
              <a:t>    - </a:t>
            </a:r>
            <a:r>
              <a:rPr sz="1000" b="0" dirty="0" err="1">
                <a:solidFill>
                  <a:srgbClr val="1E232D"/>
                </a:solidFill>
                <a:latin typeface="Meiryo"/>
              </a:rPr>
              <a:t>自分のサバイバルワールドを作るためのヒント</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これにより、運用の手堅さは担保しつつ</a:t>
            </a:r>
            <a:r>
              <a:rPr sz="1000" b="0" dirty="0">
                <a:solidFill>
                  <a:srgbClr val="1E232D"/>
                </a:solidFill>
                <a:latin typeface="Meiryo"/>
              </a:rPr>
              <a:t>、『</a:t>
            </a:r>
            <a:r>
              <a:rPr sz="1000" b="0" dirty="0" err="1">
                <a:solidFill>
                  <a:srgbClr val="1E232D"/>
                </a:solidFill>
                <a:latin typeface="Meiryo"/>
              </a:rPr>
              <a:t>次の世界』を可視化できます</a:t>
            </a:r>
            <a:r>
              <a:rPr sz="1000" b="0" dirty="0">
                <a:solidFill>
                  <a:srgbClr val="1E232D"/>
                </a:solidFill>
                <a:latin typeface="Meiryo"/>
              </a:rPr>
              <a:t>。</a:t>
            </a:r>
          </a:p>
        </p:txBody>
      </p:sp>
      <p:sp>
        <p:nvSpPr>
          <p:cNvPr id="16" name="TextBox 15"/>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7 /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7. 設計原則（全ミッション共通）</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探求学習サイクル：考え・試し・結果を見て・直し・伝える</a:t>
            </a:r>
          </a:p>
        </p:txBody>
      </p:sp>
      <p:sp>
        <p:nvSpPr>
          <p:cNvPr id="6" name="TextBox 5"/>
          <p:cNvSpPr txBox="1"/>
          <p:nvPr/>
        </p:nvSpPr>
        <p:spPr>
          <a:xfrm>
            <a:off x="540000" y="1440000"/>
            <a:ext cx="6480000" cy="574458"/>
          </a:xfrm>
          <a:prstGeom prst="rect">
            <a:avLst/>
          </a:prstGeom>
          <a:noFill/>
          <a:ln>
            <a:noFill/>
          </a:ln>
        </p:spPr>
        <p:txBody>
          <a:bodyPr wrap="square" lIns="54000" tIns="28800" rIns="54000" bIns="28800" anchor="t">
            <a:spAutoFit/>
          </a:bodyPr>
          <a:lstStyle/>
          <a:p>
            <a:pPr algn="l">
              <a:lnSpc>
                <a:spcPct val="160000"/>
              </a:lnSpc>
            </a:pPr>
            <a:r>
              <a:rPr lang="ja-JP" altLang="en-US" sz="1100" dirty="0">
                <a:solidFill>
                  <a:srgbClr val="1E232D"/>
                </a:solidFill>
                <a:latin typeface="メイリオ" panose="020B0604030504040204" pitchFamily="50" charset="-128"/>
                <a:ea typeface="メイリオ" panose="020B0604030504040204" pitchFamily="50" charset="-128"/>
              </a:rPr>
              <a:t>ワンライフ様</a:t>
            </a:r>
            <a:r>
              <a:rPr sz="1100" b="0" dirty="0" err="1">
                <a:solidFill>
                  <a:srgbClr val="1E232D"/>
                </a:solidFill>
                <a:latin typeface="Meiryo"/>
              </a:rPr>
              <a:t>資料の核心である探求サイクルを</a:t>
            </a:r>
            <a:r>
              <a:rPr sz="1100" b="0" dirty="0">
                <a:solidFill>
                  <a:srgbClr val="1E232D"/>
                </a:solidFill>
                <a:latin typeface="Meiryo"/>
              </a:rPr>
              <a:t>、</a:t>
            </a:r>
          </a:p>
          <a:p>
            <a:pPr algn="l">
              <a:lnSpc>
                <a:spcPct val="160000"/>
              </a:lnSpc>
            </a:pPr>
            <a:r>
              <a:rPr sz="1100" b="0" dirty="0" err="1">
                <a:solidFill>
                  <a:srgbClr val="1E232D"/>
                </a:solidFill>
                <a:latin typeface="Meiryo"/>
              </a:rPr>
              <a:t>全ミッションの基本フローとして採用します</a:t>
            </a:r>
            <a:r>
              <a:rPr sz="1100" b="0" dirty="0">
                <a:solidFill>
                  <a:srgbClr val="1E232D"/>
                </a:solidFill>
                <a:latin typeface="Meiryo"/>
              </a:rPr>
              <a:t>。</a:t>
            </a:r>
          </a:p>
        </p:txBody>
      </p:sp>
      <p:sp>
        <p:nvSpPr>
          <p:cNvPr id="7" name="Rectangle 6"/>
          <p:cNvSpPr/>
          <p:nvPr/>
        </p:nvSpPr>
        <p:spPr>
          <a:xfrm>
            <a:off x="540000" y="239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234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前面で謳う7つの素地スキル</a:t>
            </a:r>
          </a:p>
        </p:txBody>
      </p:sp>
      <p:sp>
        <p:nvSpPr>
          <p:cNvPr id="9" name="Rectangle 8"/>
          <p:cNvSpPr/>
          <p:nvPr/>
        </p:nvSpPr>
        <p:spPr>
          <a:xfrm>
            <a:off x="540000" y="270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4000" y="270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6000" y="273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マイクラ基本操作の自信</a:t>
            </a:r>
          </a:p>
        </p:txBody>
      </p:sp>
      <p:sp>
        <p:nvSpPr>
          <p:cNvPr id="12" name="TextBox 11"/>
          <p:cNvSpPr txBox="1"/>
          <p:nvPr/>
        </p:nvSpPr>
        <p:spPr>
          <a:xfrm>
            <a:off x="756000" y="298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反復による操作習熟。自由遊びで詰まらない土台。</a:t>
            </a:r>
          </a:p>
        </p:txBody>
      </p:sp>
      <p:sp>
        <p:nvSpPr>
          <p:cNvPr id="13" name="Rectangle 12"/>
          <p:cNvSpPr/>
          <p:nvPr/>
        </p:nvSpPr>
        <p:spPr>
          <a:xfrm>
            <a:off x="3834000" y="270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78000" y="270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50000" y="273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試行錯誤の習慣</a:t>
            </a:r>
          </a:p>
        </p:txBody>
      </p:sp>
      <p:sp>
        <p:nvSpPr>
          <p:cNvPr id="16" name="TextBox 15"/>
          <p:cNvSpPr txBox="1"/>
          <p:nvPr/>
        </p:nvSpPr>
        <p:spPr>
          <a:xfrm>
            <a:off x="4050000" y="298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失敗を怖がらず挑戦する姿勢。否定しない設計で育てる。</a:t>
            </a:r>
          </a:p>
        </p:txBody>
      </p:sp>
      <p:sp>
        <p:nvSpPr>
          <p:cNvPr id="17" name="Rectangle 16"/>
          <p:cNvSpPr/>
          <p:nvPr/>
        </p:nvSpPr>
        <p:spPr>
          <a:xfrm>
            <a:off x="540000" y="342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84000" y="342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6000" y="345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空間認識・方向感覚</a:t>
            </a:r>
          </a:p>
        </p:txBody>
      </p:sp>
      <p:sp>
        <p:nvSpPr>
          <p:cNvPr id="20" name="TextBox 19"/>
          <p:cNvSpPr txBox="1"/>
          <p:nvPr/>
        </p:nvSpPr>
        <p:spPr>
          <a:xfrm>
            <a:off x="756000" y="370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マイクラ世界での地図・座標・方向の感覚。</a:t>
            </a:r>
          </a:p>
        </p:txBody>
      </p:sp>
      <p:sp>
        <p:nvSpPr>
          <p:cNvPr id="21" name="Rectangle 20"/>
          <p:cNvSpPr/>
          <p:nvPr/>
        </p:nvSpPr>
        <p:spPr>
          <a:xfrm>
            <a:off x="3834000" y="342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978000" y="342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50000" y="345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相手に伝える／伝わる力</a:t>
            </a:r>
          </a:p>
        </p:txBody>
      </p:sp>
      <p:sp>
        <p:nvSpPr>
          <p:cNvPr id="24" name="TextBox 23"/>
          <p:cNvSpPr txBox="1"/>
          <p:nvPr/>
        </p:nvSpPr>
        <p:spPr>
          <a:xfrm>
            <a:off x="4050000" y="370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NPC・看板・選択肢を通じて伝達の基礎を体験。</a:t>
            </a:r>
          </a:p>
        </p:txBody>
      </p:sp>
      <p:sp>
        <p:nvSpPr>
          <p:cNvPr id="25" name="Rectangle 24"/>
          <p:cNvSpPr/>
          <p:nvPr/>
        </p:nvSpPr>
        <p:spPr>
          <a:xfrm>
            <a:off x="540000" y="414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4000" y="414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6000" y="417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リソース管理感覚</a:t>
            </a:r>
          </a:p>
        </p:txBody>
      </p:sp>
      <p:sp>
        <p:nvSpPr>
          <p:cNvPr id="28" name="TextBox 27"/>
          <p:cNvSpPr txBox="1"/>
          <p:nvPr/>
        </p:nvSpPr>
        <p:spPr>
          <a:xfrm>
            <a:off x="756000" y="442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必要数を先に計算する習慣。計画性の基礎。</a:t>
            </a:r>
          </a:p>
        </p:txBody>
      </p:sp>
      <p:sp>
        <p:nvSpPr>
          <p:cNvPr id="29" name="Rectangle 28"/>
          <p:cNvSpPr/>
          <p:nvPr/>
        </p:nvSpPr>
        <p:spPr>
          <a:xfrm>
            <a:off x="3834000" y="4140000"/>
            <a:ext cx="144000" cy="64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978000" y="4140000"/>
            <a:ext cx="3042000" cy="648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50000" y="417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ルールを守って遊ぶ</a:t>
            </a:r>
          </a:p>
        </p:txBody>
      </p:sp>
      <p:sp>
        <p:nvSpPr>
          <p:cNvPr id="32" name="TextBox 31"/>
          <p:cNvSpPr txBox="1"/>
          <p:nvPr/>
        </p:nvSpPr>
        <p:spPr>
          <a:xfrm>
            <a:off x="4050000" y="442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時間・エリア・行動の制約の中で工夫する姿勢。</a:t>
            </a:r>
          </a:p>
        </p:txBody>
      </p:sp>
      <p:sp>
        <p:nvSpPr>
          <p:cNvPr id="33" name="Rectangle 32"/>
          <p:cNvSpPr/>
          <p:nvPr/>
        </p:nvSpPr>
        <p:spPr>
          <a:xfrm>
            <a:off x="540000" y="4860000"/>
            <a:ext cx="144000" cy="76356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83999" y="4860000"/>
            <a:ext cx="3095837" cy="76356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6000" y="4896000"/>
            <a:ext cx="2898000" cy="251999"/>
          </a:xfrm>
          <a:prstGeom prst="rect">
            <a:avLst/>
          </a:prstGeom>
          <a:noFill/>
          <a:ln>
            <a:noFill/>
          </a:ln>
        </p:spPr>
        <p:txBody>
          <a:bodyPr wrap="square" lIns="54000" tIns="28800" rIns="54000" bIns="28800" anchor="t">
            <a:spAutoFit/>
          </a:bodyPr>
          <a:lstStyle/>
          <a:p>
            <a:pPr algn="l">
              <a:lnSpc>
                <a:spcPct val="120000"/>
              </a:lnSpc>
            </a:pPr>
            <a:r>
              <a:rPr sz="1050" b="1">
                <a:solidFill>
                  <a:srgbClr val="203A60"/>
                </a:solidFill>
                <a:latin typeface="Meiryo"/>
              </a:rPr>
              <a:t>協調・役割意識</a:t>
            </a:r>
          </a:p>
        </p:txBody>
      </p:sp>
      <p:sp>
        <p:nvSpPr>
          <p:cNvPr id="36" name="TextBox 35"/>
          <p:cNvSpPr txBox="1"/>
          <p:nvPr/>
        </p:nvSpPr>
        <p:spPr>
          <a:xfrm>
            <a:off x="756000" y="5148000"/>
            <a:ext cx="2898000" cy="360000"/>
          </a:xfrm>
          <a:prstGeom prst="rect">
            <a:avLst/>
          </a:prstGeom>
          <a:noFill/>
          <a:ln>
            <a:noFill/>
          </a:ln>
        </p:spPr>
        <p:txBody>
          <a:bodyPr wrap="square" lIns="54000" tIns="28800" rIns="54000" bIns="28800" anchor="t">
            <a:spAutoFit/>
          </a:bodyPr>
          <a:lstStyle/>
          <a:p>
            <a:pPr algn="l">
              <a:lnSpc>
                <a:spcPct val="140000"/>
              </a:lnSpc>
            </a:pPr>
            <a:r>
              <a:rPr sz="900" b="0">
                <a:solidFill>
                  <a:srgbClr val="1E232D"/>
                </a:solidFill>
                <a:latin typeface="Meiryo"/>
              </a:rPr>
              <a:t>1人プレイでもNPCとの協働を通じてチーム感覚を育成。</a:t>
            </a:r>
          </a:p>
        </p:txBody>
      </p:sp>
      <p:sp>
        <p:nvSpPr>
          <p:cNvPr id="37" name="Rectangle 36"/>
          <p:cNvSpPr/>
          <p:nvPr/>
        </p:nvSpPr>
        <p:spPr>
          <a:xfrm>
            <a:off x="540000" y="581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8000" y="576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認知機能・発達特性への配慮原則</a:t>
            </a:r>
          </a:p>
        </p:txBody>
      </p:sp>
      <p:sp>
        <p:nvSpPr>
          <p:cNvPr id="39" name="TextBox 38"/>
          <p:cNvSpPr txBox="1"/>
          <p:nvPr/>
        </p:nvSpPr>
        <p:spPr>
          <a:xfrm>
            <a:off x="540000" y="6120000"/>
            <a:ext cx="6480000" cy="2520000"/>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a:t>
            </a:r>
            <a:r>
              <a:rPr sz="1000" b="0" dirty="0" err="1">
                <a:solidFill>
                  <a:srgbClr val="1E232D"/>
                </a:solidFill>
                <a:latin typeface="Meiryo"/>
              </a:rPr>
              <a:t>否定しない設計：失敗時にペナルティを与えない</a:t>
            </a:r>
            <a:r>
              <a:rPr sz="1000" b="0" dirty="0">
                <a:solidFill>
                  <a:srgbClr val="1E232D"/>
                </a:solidFill>
                <a:latin typeface="Meiryo"/>
              </a:rPr>
              <a:t>／『</a:t>
            </a:r>
            <a:r>
              <a:rPr sz="1000" b="0" dirty="0" err="1">
                <a:solidFill>
                  <a:srgbClr val="1E232D"/>
                </a:solidFill>
                <a:latin typeface="Meiryo"/>
              </a:rPr>
              <a:t>やり直し』がデフォルト</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正のフィードバック多用：達成時のNPC称賛、スコア加点、エモート演出</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アドベンチャーモード固定：事故・迷子・意図しない破壊の防止</a:t>
            </a:r>
            <a:endParaRPr sz="1000" b="0" dirty="0">
              <a:solidFill>
                <a:srgbClr val="1E232D"/>
              </a:solidFill>
              <a:latin typeface="Meiryo"/>
            </a:endParaRPr>
          </a:p>
          <a:p>
            <a:pPr algn="l">
              <a:lnSpc>
                <a:spcPct val="150000"/>
              </a:lnSpc>
            </a:pPr>
            <a:r>
              <a:rPr sz="1000" b="0" dirty="0">
                <a:solidFill>
                  <a:srgbClr val="1E232D"/>
                </a:solidFill>
                <a:latin typeface="Meiryo"/>
              </a:rPr>
              <a:t>・1人1アカウント＋進捗自動セーブ：「</a:t>
            </a:r>
            <a:r>
              <a:rPr sz="1000" b="0" dirty="0" err="1">
                <a:solidFill>
                  <a:srgbClr val="1E232D"/>
                </a:solidFill>
                <a:latin typeface="Meiryo"/>
              </a:rPr>
              <a:t>続きから」で詰まる児童もペース維持</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ひらがな多めのセリフ：低学年でも読める／漢字にはふりがな</a:t>
            </a:r>
            <a:endParaRPr sz="1000" b="0" dirty="0">
              <a:solidFill>
                <a:srgbClr val="1E232D"/>
              </a:solidFill>
              <a:latin typeface="Meiryo"/>
            </a:endParaRPr>
          </a:p>
          <a:p>
            <a:pPr algn="l">
              <a:lnSpc>
                <a:spcPct val="150000"/>
              </a:lnSpc>
            </a:pPr>
            <a:r>
              <a:rPr sz="1000" b="0" dirty="0">
                <a:solidFill>
                  <a:srgbClr val="1E232D"/>
                </a:solidFill>
                <a:latin typeface="Meiryo"/>
              </a:rPr>
              <a:t>・視覚的な3Dアイコン多用：文字理解に時間がかかる児童もアクセス可能</a:t>
            </a:r>
          </a:p>
          <a:p>
            <a:pPr algn="l">
              <a:lnSpc>
                <a:spcPct val="150000"/>
              </a:lnSpc>
            </a:pPr>
            <a:endParaRPr sz="1000" b="0" dirty="0">
              <a:solidFill>
                <a:srgbClr val="1E232D"/>
              </a:solidFill>
              <a:latin typeface="Meiryo"/>
            </a:endParaRPr>
          </a:p>
          <a:p>
            <a:pPr algn="l">
              <a:lnSpc>
                <a:spcPct val="150000"/>
              </a:lnSpc>
            </a:pPr>
            <a:r>
              <a:rPr sz="1000" b="0" dirty="0" err="1">
                <a:solidFill>
                  <a:srgbClr val="1E232D"/>
                </a:solidFill>
                <a:latin typeface="Meiryo"/>
              </a:rPr>
              <a:t>これらは高次認知機能（組織化・計画・実行機能・認知の柔軟性）の発達支援と整合します</a:t>
            </a:r>
            <a:r>
              <a:rPr sz="1000" b="0" dirty="0">
                <a:solidFill>
                  <a:srgbClr val="1E232D"/>
                </a:solidFill>
                <a:latin typeface="Meiryo"/>
              </a:rPr>
              <a:t>。</a:t>
            </a:r>
          </a:p>
        </p:txBody>
      </p:sp>
      <p:sp>
        <p:nvSpPr>
          <p:cNvPr id="40" name="TextBox 39"/>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8 /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8. 標準学習フロー：9ステップ</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576000"/>
          </a:xfrm>
          <a:prstGeom prst="rect">
            <a:avLst/>
          </a:prstGeom>
          <a:noFill/>
          <a:ln>
            <a:noFill/>
          </a:ln>
        </p:spPr>
        <p:txBody>
          <a:bodyPr wrap="square" lIns="54000" tIns="28800" rIns="54000" bIns="28800" anchor="t">
            <a:spAutoFit/>
          </a:bodyPr>
          <a:lstStyle/>
          <a:p>
            <a:pPr algn="l">
              <a:lnSpc>
                <a:spcPct val="150000"/>
              </a:lnSpc>
            </a:pPr>
            <a:r>
              <a:rPr sz="1050" b="0">
                <a:solidFill>
                  <a:srgbClr val="6E7682"/>
                </a:solidFill>
                <a:latin typeface="Meiryo"/>
              </a:rPr>
              <a:t>ブリーフィング4.1に示された学習手順をそのまま採用し、</a:t>
            </a:r>
          </a:p>
          <a:p>
            <a:pPr algn="l">
              <a:lnSpc>
                <a:spcPct val="150000"/>
              </a:lnSpc>
            </a:pPr>
            <a:r>
              <a:rPr sz="1050" b="0">
                <a:solidFill>
                  <a:srgbClr val="6E7682"/>
                </a:solidFill>
                <a:latin typeface="Meiryo"/>
              </a:rPr>
              <a:t>全ミッションがこの9ステップに沿って進行する設計としています。</a:t>
            </a:r>
          </a:p>
        </p:txBody>
      </p:sp>
      <p:sp>
        <p:nvSpPr>
          <p:cNvPr id="5" name="Rectangle 4"/>
          <p:cNvSpPr/>
          <p:nvPr/>
        </p:nvSpPr>
        <p:spPr>
          <a:xfrm>
            <a:off x="540000" y="1872000"/>
            <a:ext cx="468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872000"/>
            <a:ext cx="468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Step</a:t>
            </a:r>
          </a:p>
        </p:txBody>
      </p:sp>
      <p:sp>
        <p:nvSpPr>
          <p:cNvPr id="7" name="Rectangle 6"/>
          <p:cNvSpPr/>
          <p:nvPr/>
        </p:nvSpPr>
        <p:spPr>
          <a:xfrm>
            <a:off x="1008000" y="1872000"/>
            <a:ext cx="1980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8000" y="1872000"/>
            <a:ext cx="1980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名称</a:t>
            </a:r>
          </a:p>
        </p:txBody>
      </p:sp>
      <p:sp>
        <p:nvSpPr>
          <p:cNvPr id="9" name="Rectangle 8"/>
          <p:cNvSpPr/>
          <p:nvPr/>
        </p:nvSpPr>
        <p:spPr>
          <a:xfrm>
            <a:off x="2988000" y="1872000"/>
            <a:ext cx="2520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88000" y="1872000"/>
            <a:ext cx="2520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内容</a:t>
            </a:r>
          </a:p>
        </p:txBody>
      </p:sp>
      <p:sp>
        <p:nvSpPr>
          <p:cNvPr id="11" name="Rectangle 10"/>
          <p:cNvSpPr/>
          <p:nvPr/>
        </p:nvSpPr>
        <p:spPr>
          <a:xfrm>
            <a:off x="5508000" y="1872000"/>
            <a:ext cx="1512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08000" y="1872000"/>
            <a:ext cx="1512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目的</a:t>
            </a:r>
          </a:p>
        </p:txBody>
      </p:sp>
      <p:sp>
        <p:nvSpPr>
          <p:cNvPr id="13" name="Rectangle 12"/>
          <p:cNvSpPr/>
          <p:nvPr/>
        </p:nvSpPr>
        <p:spPr>
          <a:xfrm>
            <a:off x="540000" y="2196000"/>
            <a:ext cx="468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0000" y="2196000"/>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①</a:t>
            </a:r>
          </a:p>
        </p:txBody>
      </p:sp>
      <p:sp>
        <p:nvSpPr>
          <p:cNvPr id="15" name="Rectangle 14"/>
          <p:cNvSpPr/>
          <p:nvPr/>
        </p:nvSpPr>
        <p:spPr>
          <a:xfrm>
            <a:off x="1008000" y="2196000"/>
            <a:ext cx="198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2000" y="2196000"/>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操作手順の説明</a:t>
            </a:r>
          </a:p>
        </p:txBody>
      </p:sp>
      <p:sp>
        <p:nvSpPr>
          <p:cNvPr id="17" name="Rectangle 16"/>
          <p:cNvSpPr/>
          <p:nvPr/>
        </p:nvSpPr>
        <p:spPr>
          <a:xfrm>
            <a:off x="2988000" y="2196000"/>
            <a:ext cx="252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42000" y="2196000"/>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Minecraftの基本操作を説明</a:t>
            </a:r>
          </a:p>
        </p:txBody>
      </p:sp>
      <p:sp>
        <p:nvSpPr>
          <p:cNvPr id="19" name="Rectangle 18"/>
          <p:cNvSpPr/>
          <p:nvPr/>
        </p:nvSpPr>
        <p:spPr>
          <a:xfrm>
            <a:off x="5508000" y="2196000"/>
            <a:ext cx="1512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62000" y="2196000"/>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未経験者への導入</a:t>
            </a:r>
          </a:p>
        </p:txBody>
      </p:sp>
      <p:sp>
        <p:nvSpPr>
          <p:cNvPr id="21" name="Rectangle 20"/>
          <p:cNvSpPr/>
          <p:nvPr/>
        </p:nvSpPr>
        <p:spPr>
          <a:xfrm>
            <a:off x="540000" y="2699999"/>
            <a:ext cx="468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0000" y="2699999"/>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②</a:t>
            </a:r>
          </a:p>
        </p:txBody>
      </p:sp>
      <p:sp>
        <p:nvSpPr>
          <p:cNvPr id="23" name="Rectangle 22"/>
          <p:cNvSpPr/>
          <p:nvPr/>
        </p:nvSpPr>
        <p:spPr>
          <a:xfrm>
            <a:off x="1008000" y="2699999"/>
            <a:ext cx="198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2000" y="2699999"/>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操作手順の実施</a:t>
            </a:r>
          </a:p>
        </p:txBody>
      </p:sp>
      <p:sp>
        <p:nvSpPr>
          <p:cNvPr id="25" name="Rectangle 24"/>
          <p:cNvSpPr/>
          <p:nvPr/>
        </p:nvSpPr>
        <p:spPr>
          <a:xfrm>
            <a:off x="2988000" y="2699999"/>
            <a:ext cx="252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42000" y="2699999"/>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実際にキャラクターを動かす</a:t>
            </a:r>
          </a:p>
        </p:txBody>
      </p:sp>
      <p:sp>
        <p:nvSpPr>
          <p:cNvPr id="27" name="Rectangle 26"/>
          <p:cNvSpPr/>
          <p:nvPr/>
        </p:nvSpPr>
        <p:spPr>
          <a:xfrm>
            <a:off x="5508000" y="2699999"/>
            <a:ext cx="1512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62000" y="2699999"/>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基本操作の習熟</a:t>
            </a:r>
          </a:p>
        </p:txBody>
      </p:sp>
      <p:sp>
        <p:nvSpPr>
          <p:cNvPr id="29" name="Rectangle 28"/>
          <p:cNvSpPr/>
          <p:nvPr/>
        </p:nvSpPr>
        <p:spPr>
          <a:xfrm>
            <a:off x="540000" y="3203998"/>
            <a:ext cx="468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0000" y="3203998"/>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③</a:t>
            </a:r>
          </a:p>
        </p:txBody>
      </p:sp>
      <p:sp>
        <p:nvSpPr>
          <p:cNvPr id="31" name="Rectangle 30"/>
          <p:cNvSpPr/>
          <p:nvPr/>
        </p:nvSpPr>
        <p:spPr>
          <a:xfrm>
            <a:off x="1008000" y="3203998"/>
            <a:ext cx="198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62000" y="3203998"/>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簡単な課題の提供</a:t>
            </a:r>
          </a:p>
        </p:txBody>
      </p:sp>
      <p:sp>
        <p:nvSpPr>
          <p:cNvPr id="33" name="Rectangle 32"/>
          <p:cNvSpPr/>
          <p:nvPr/>
        </p:nvSpPr>
        <p:spPr>
          <a:xfrm>
            <a:off x="2988000" y="3203998"/>
            <a:ext cx="252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42000" y="3203998"/>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シンプルな課題を与え実施</a:t>
            </a:r>
          </a:p>
        </p:txBody>
      </p:sp>
      <p:sp>
        <p:nvSpPr>
          <p:cNvPr id="35" name="Rectangle 34"/>
          <p:cNvSpPr/>
          <p:nvPr/>
        </p:nvSpPr>
        <p:spPr>
          <a:xfrm>
            <a:off x="5508000" y="3203998"/>
            <a:ext cx="1512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562000" y="3203998"/>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成功体験・達成感</a:t>
            </a:r>
          </a:p>
        </p:txBody>
      </p:sp>
      <p:sp>
        <p:nvSpPr>
          <p:cNvPr id="37" name="Rectangle 36"/>
          <p:cNvSpPr/>
          <p:nvPr/>
        </p:nvSpPr>
        <p:spPr>
          <a:xfrm>
            <a:off x="540000" y="3707997"/>
            <a:ext cx="468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0000" y="3707997"/>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④</a:t>
            </a:r>
          </a:p>
        </p:txBody>
      </p:sp>
      <p:sp>
        <p:nvSpPr>
          <p:cNvPr id="39" name="Rectangle 38"/>
          <p:cNvSpPr/>
          <p:nvPr/>
        </p:nvSpPr>
        <p:spPr>
          <a:xfrm>
            <a:off x="1008000" y="3707997"/>
            <a:ext cx="198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62000" y="3707997"/>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やり方の確認（情報収集）</a:t>
            </a:r>
          </a:p>
        </p:txBody>
      </p:sp>
      <p:sp>
        <p:nvSpPr>
          <p:cNvPr id="41" name="Rectangle 40"/>
          <p:cNvSpPr/>
          <p:nvPr/>
        </p:nvSpPr>
        <p:spPr>
          <a:xfrm>
            <a:off x="2988000" y="3707997"/>
            <a:ext cx="252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42000" y="3707997"/>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課題達成に至る手順・情報を提供</a:t>
            </a:r>
          </a:p>
        </p:txBody>
      </p:sp>
      <p:sp>
        <p:nvSpPr>
          <p:cNvPr id="43" name="Rectangle 42"/>
          <p:cNvSpPr/>
          <p:nvPr/>
        </p:nvSpPr>
        <p:spPr>
          <a:xfrm>
            <a:off x="5508000" y="3707997"/>
            <a:ext cx="1512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562000" y="3707997"/>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手順の理解</a:t>
            </a:r>
          </a:p>
        </p:txBody>
      </p:sp>
      <p:sp>
        <p:nvSpPr>
          <p:cNvPr id="45" name="Rectangle 44"/>
          <p:cNvSpPr/>
          <p:nvPr/>
        </p:nvSpPr>
        <p:spPr>
          <a:xfrm>
            <a:off x="540000" y="4211996"/>
            <a:ext cx="468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0000" y="4211996"/>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⑤</a:t>
            </a:r>
          </a:p>
        </p:txBody>
      </p:sp>
      <p:sp>
        <p:nvSpPr>
          <p:cNvPr id="47" name="Rectangle 46"/>
          <p:cNvSpPr/>
          <p:nvPr/>
        </p:nvSpPr>
        <p:spPr>
          <a:xfrm>
            <a:off x="1008000" y="4211996"/>
            <a:ext cx="198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62000" y="4211996"/>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実施（整理・分析）</a:t>
            </a:r>
          </a:p>
        </p:txBody>
      </p:sp>
      <p:sp>
        <p:nvSpPr>
          <p:cNvPr id="49" name="Rectangle 48"/>
          <p:cNvSpPr/>
          <p:nvPr/>
        </p:nvSpPr>
        <p:spPr>
          <a:xfrm>
            <a:off x="2988000" y="4211996"/>
            <a:ext cx="252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042000" y="4211996"/>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学んだ手順で試行錯誤しながら取り組む</a:t>
            </a:r>
          </a:p>
        </p:txBody>
      </p:sp>
      <p:sp>
        <p:nvSpPr>
          <p:cNvPr id="51" name="Rectangle 50"/>
          <p:cNvSpPr/>
          <p:nvPr/>
        </p:nvSpPr>
        <p:spPr>
          <a:xfrm>
            <a:off x="5508000" y="4211996"/>
            <a:ext cx="1512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562000" y="4211996"/>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思考力・分析力</a:t>
            </a:r>
          </a:p>
        </p:txBody>
      </p:sp>
      <p:sp>
        <p:nvSpPr>
          <p:cNvPr id="53" name="Rectangle 52"/>
          <p:cNvSpPr/>
          <p:nvPr/>
        </p:nvSpPr>
        <p:spPr>
          <a:xfrm>
            <a:off x="540000" y="4715995"/>
            <a:ext cx="468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0000" y="4715995"/>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⑥</a:t>
            </a:r>
          </a:p>
        </p:txBody>
      </p:sp>
      <p:sp>
        <p:nvSpPr>
          <p:cNvPr id="55" name="Rectangle 54"/>
          <p:cNvSpPr/>
          <p:nvPr/>
        </p:nvSpPr>
        <p:spPr>
          <a:xfrm>
            <a:off x="1008000" y="4715995"/>
            <a:ext cx="198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62000" y="4715995"/>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結果のフィードバック</a:t>
            </a:r>
          </a:p>
        </p:txBody>
      </p:sp>
      <p:sp>
        <p:nvSpPr>
          <p:cNvPr id="57" name="Rectangle 56"/>
          <p:cNvSpPr/>
          <p:nvPr/>
        </p:nvSpPr>
        <p:spPr>
          <a:xfrm>
            <a:off x="2988000" y="4715995"/>
            <a:ext cx="252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042000" y="4715995"/>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想像と実際の結果の差異を実感</a:t>
            </a:r>
          </a:p>
        </p:txBody>
      </p:sp>
      <p:sp>
        <p:nvSpPr>
          <p:cNvPr id="59" name="Rectangle 58"/>
          <p:cNvSpPr/>
          <p:nvPr/>
        </p:nvSpPr>
        <p:spPr>
          <a:xfrm>
            <a:off x="5508000" y="4715995"/>
            <a:ext cx="1512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562000" y="4715995"/>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計画と実行のズレ認識</a:t>
            </a:r>
          </a:p>
        </p:txBody>
      </p:sp>
      <p:sp>
        <p:nvSpPr>
          <p:cNvPr id="61" name="Rectangle 60"/>
          <p:cNvSpPr/>
          <p:nvPr/>
        </p:nvSpPr>
        <p:spPr>
          <a:xfrm>
            <a:off x="540000" y="5219994"/>
            <a:ext cx="468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0000" y="5219994"/>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⑦</a:t>
            </a:r>
          </a:p>
        </p:txBody>
      </p:sp>
      <p:sp>
        <p:nvSpPr>
          <p:cNvPr id="63" name="Rectangle 62"/>
          <p:cNvSpPr/>
          <p:nvPr/>
        </p:nvSpPr>
        <p:spPr>
          <a:xfrm>
            <a:off x="1008000" y="5219994"/>
            <a:ext cx="198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62000" y="5219994"/>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完成と正のフィードバック</a:t>
            </a:r>
          </a:p>
        </p:txBody>
      </p:sp>
      <p:sp>
        <p:nvSpPr>
          <p:cNvPr id="65" name="Rectangle 64"/>
          <p:cNvSpPr/>
          <p:nvPr/>
        </p:nvSpPr>
        <p:spPr>
          <a:xfrm>
            <a:off x="2988000" y="5219994"/>
            <a:ext cx="252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042000" y="5219994"/>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完成し、スタッフが褒める</a:t>
            </a:r>
          </a:p>
        </p:txBody>
      </p:sp>
      <p:sp>
        <p:nvSpPr>
          <p:cNvPr id="67" name="Rectangle 66"/>
          <p:cNvSpPr/>
          <p:nvPr/>
        </p:nvSpPr>
        <p:spPr>
          <a:xfrm>
            <a:off x="5508000" y="5219994"/>
            <a:ext cx="1512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562000" y="5219994"/>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自己肯定感の向上</a:t>
            </a:r>
          </a:p>
        </p:txBody>
      </p:sp>
      <p:sp>
        <p:nvSpPr>
          <p:cNvPr id="69" name="Rectangle 68"/>
          <p:cNvSpPr/>
          <p:nvPr/>
        </p:nvSpPr>
        <p:spPr>
          <a:xfrm>
            <a:off x="540000" y="5723993"/>
            <a:ext cx="468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0000" y="5723993"/>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⑧</a:t>
            </a:r>
          </a:p>
        </p:txBody>
      </p:sp>
      <p:sp>
        <p:nvSpPr>
          <p:cNvPr id="71" name="Rectangle 70"/>
          <p:cNvSpPr/>
          <p:nvPr/>
        </p:nvSpPr>
        <p:spPr>
          <a:xfrm>
            <a:off x="1008000" y="5723993"/>
            <a:ext cx="198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62000" y="5723993"/>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振り返り</a:t>
            </a:r>
          </a:p>
        </p:txBody>
      </p:sp>
      <p:sp>
        <p:nvSpPr>
          <p:cNvPr id="73" name="Rectangle 72"/>
          <p:cNvSpPr/>
          <p:nvPr/>
        </p:nvSpPr>
        <p:spPr>
          <a:xfrm>
            <a:off x="2988000" y="5723993"/>
            <a:ext cx="2520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042000" y="5723993"/>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満足度・うまくいかなかった点を話し合う</a:t>
            </a:r>
          </a:p>
        </p:txBody>
      </p:sp>
      <p:sp>
        <p:nvSpPr>
          <p:cNvPr id="75" name="Rectangle 74"/>
          <p:cNvSpPr/>
          <p:nvPr/>
        </p:nvSpPr>
        <p:spPr>
          <a:xfrm>
            <a:off x="5508000" y="5723993"/>
            <a:ext cx="1512000" cy="503999"/>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562000" y="5723993"/>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内省・改善意欲</a:t>
            </a:r>
          </a:p>
        </p:txBody>
      </p:sp>
      <p:sp>
        <p:nvSpPr>
          <p:cNvPr id="77" name="Rectangle 76"/>
          <p:cNvSpPr/>
          <p:nvPr/>
        </p:nvSpPr>
        <p:spPr>
          <a:xfrm>
            <a:off x="540000" y="6227992"/>
            <a:ext cx="468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0000" y="6227992"/>
            <a:ext cx="468000" cy="503999"/>
          </a:xfrm>
          <a:prstGeom prst="rect">
            <a:avLst/>
          </a:prstGeom>
          <a:noFill/>
          <a:ln>
            <a:noFill/>
          </a:ln>
        </p:spPr>
        <p:txBody>
          <a:bodyPr wrap="square" lIns="54000" tIns="28800" rIns="54000" bIns="28800" anchor="ctr">
            <a:spAutoFit/>
          </a:bodyPr>
          <a:lstStyle/>
          <a:p>
            <a:pPr algn="ctr">
              <a:lnSpc>
                <a:spcPct val="120000"/>
              </a:lnSpc>
            </a:pPr>
            <a:r>
              <a:rPr sz="1400" b="1">
                <a:solidFill>
                  <a:srgbClr val="D28C32"/>
                </a:solidFill>
                <a:latin typeface="Meiryo"/>
              </a:rPr>
              <a:t>⑨</a:t>
            </a:r>
          </a:p>
        </p:txBody>
      </p:sp>
      <p:sp>
        <p:nvSpPr>
          <p:cNvPr id="79" name="Rectangle 78"/>
          <p:cNvSpPr/>
          <p:nvPr/>
        </p:nvSpPr>
        <p:spPr>
          <a:xfrm>
            <a:off x="1008000" y="6227992"/>
            <a:ext cx="198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62000" y="6227992"/>
            <a:ext cx="1908000" cy="503999"/>
          </a:xfrm>
          <a:prstGeom prst="rect">
            <a:avLst/>
          </a:prstGeom>
          <a:noFill/>
          <a:ln>
            <a:noFill/>
          </a:ln>
        </p:spPr>
        <p:txBody>
          <a:bodyPr wrap="square" lIns="54000" tIns="28800" rIns="54000" bIns="28800" anchor="ctr">
            <a:spAutoFit/>
          </a:bodyPr>
          <a:lstStyle/>
          <a:p>
            <a:pPr algn="l">
              <a:lnSpc>
                <a:spcPct val="130000"/>
              </a:lnSpc>
            </a:pPr>
            <a:r>
              <a:rPr sz="1000" b="1">
                <a:solidFill>
                  <a:srgbClr val="203A60"/>
                </a:solidFill>
                <a:latin typeface="Meiryo"/>
              </a:rPr>
              <a:t>自由課題</a:t>
            </a:r>
          </a:p>
        </p:txBody>
      </p:sp>
      <p:sp>
        <p:nvSpPr>
          <p:cNvPr id="81" name="Rectangle 80"/>
          <p:cNvSpPr/>
          <p:nvPr/>
        </p:nvSpPr>
        <p:spPr>
          <a:xfrm>
            <a:off x="2988000" y="6227992"/>
            <a:ext cx="2520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042000" y="6227992"/>
            <a:ext cx="2448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学んだ内容で本人が自由に課題設定</a:t>
            </a:r>
          </a:p>
        </p:txBody>
      </p:sp>
      <p:sp>
        <p:nvSpPr>
          <p:cNvPr id="83" name="Rectangle 82"/>
          <p:cNvSpPr/>
          <p:nvPr/>
        </p:nvSpPr>
        <p:spPr>
          <a:xfrm>
            <a:off x="5508000" y="6227992"/>
            <a:ext cx="1512000" cy="503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562000" y="6227992"/>
            <a:ext cx="1440000" cy="503999"/>
          </a:xfrm>
          <a:prstGeom prst="rect">
            <a:avLst/>
          </a:prstGeom>
          <a:noFill/>
          <a:ln>
            <a:noFill/>
          </a:ln>
        </p:spPr>
        <p:txBody>
          <a:bodyPr wrap="square" lIns="54000" tIns="28800" rIns="54000" bIns="28800" anchor="ctr">
            <a:spAutoFit/>
          </a:bodyPr>
          <a:lstStyle/>
          <a:p>
            <a:pPr algn="l">
              <a:lnSpc>
                <a:spcPct val="130000"/>
              </a:lnSpc>
            </a:pPr>
            <a:r>
              <a:rPr sz="950" b="0">
                <a:solidFill>
                  <a:srgbClr val="1E232D"/>
                </a:solidFill>
                <a:latin typeface="Meiryo"/>
              </a:rPr>
              <a:t>主体性・創造性</a:t>
            </a:r>
          </a:p>
        </p:txBody>
      </p:sp>
      <p:sp>
        <p:nvSpPr>
          <p:cNvPr id="85" name="TextBox 84"/>
          <p:cNvSpPr txBox="1"/>
          <p:nvPr/>
        </p:nvSpPr>
        <p:spPr>
          <a:xfrm>
            <a:off x="540000" y="6660000"/>
            <a:ext cx="6480000" cy="1080000"/>
          </a:xfrm>
          <a:prstGeom prst="rect">
            <a:avLst/>
          </a:prstGeom>
          <a:noFill/>
          <a:ln>
            <a:noFill/>
          </a:ln>
        </p:spPr>
        <p:txBody>
          <a:bodyPr wrap="square" lIns="54000" tIns="28800" rIns="54000" bIns="28800" anchor="t">
            <a:spAutoFit/>
          </a:bodyPr>
          <a:lstStyle/>
          <a:p>
            <a:pPr algn="l">
              <a:lnSpc>
                <a:spcPct val="150000"/>
              </a:lnSpc>
            </a:pPr>
            <a:r>
              <a:rPr sz="950" b="0">
                <a:solidFill>
                  <a:srgbClr val="6E7682"/>
                </a:solidFill>
                <a:latin typeface="Meiryo"/>
              </a:rPr>
              <a:t>※ 全15ミッションのPDF教材は、この9ステップの構造に沿って目次が統一されています。</a:t>
            </a:r>
          </a:p>
          <a:p>
            <a:pPr algn="l">
              <a:lnSpc>
                <a:spcPct val="150000"/>
              </a:lnSpc>
            </a:pPr>
            <a:r>
              <a:rPr sz="950" b="0">
                <a:solidFill>
                  <a:srgbClr val="6E7682"/>
                </a:solidFill>
                <a:latin typeface="Meiryo"/>
              </a:rPr>
              <a:t>※ 以降のページでは、このフローを当てはめた実際のミッション例を2本ご紹介します。</a:t>
            </a:r>
          </a:p>
        </p:txBody>
      </p:sp>
      <p:sp>
        <p:nvSpPr>
          <p:cNvPr id="86" name="TextBox 85"/>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9 /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9. ウォークスルー① 算数×中「村人にパンを公平に分けよう」</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288225"/>
          </a:xfrm>
          <a:prstGeom prst="rect">
            <a:avLst/>
          </a:prstGeom>
          <a:noFill/>
          <a:ln>
            <a:noFill/>
          </a:ln>
        </p:spPr>
        <p:txBody>
          <a:bodyPr wrap="square" lIns="54000" tIns="28800" rIns="54000" bIns="28800" anchor="t">
            <a:spAutoFit/>
          </a:bodyPr>
          <a:lstStyle/>
          <a:p>
            <a:pPr algn="l">
              <a:lnSpc>
                <a:spcPct val="120000"/>
              </a:lnSpc>
            </a:pPr>
            <a:r>
              <a:rPr sz="1300" b="1" dirty="0" err="1">
                <a:solidFill>
                  <a:srgbClr val="203A60"/>
                </a:solidFill>
                <a:latin typeface="Meiryo"/>
              </a:rPr>
              <a:t>ストーリ</a:t>
            </a:r>
            <a:r>
              <a:rPr sz="1300" b="1" dirty="0">
                <a:solidFill>
                  <a:srgbClr val="203A60"/>
                </a:solidFill>
                <a:latin typeface="Meiryo"/>
              </a:rPr>
              <a:t>ー</a:t>
            </a:r>
            <a:r>
              <a:rPr lang="ja-JP" altLang="en-US" sz="1300" b="1" dirty="0">
                <a:solidFill>
                  <a:srgbClr val="203A60"/>
                </a:solidFill>
                <a:latin typeface="Meiryo"/>
              </a:rPr>
              <a:t>例</a:t>
            </a:r>
            <a:endParaRPr sz="1300" b="1" dirty="0">
              <a:solidFill>
                <a:srgbClr val="203A60"/>
              </a:solidFill>
              <a:latin typeface="Meiryo"/>
            </a:endParaRPr>
          </a:p>
        </p:txBody>
      </p:sp>
      <p:sp>
        <p:nvSpPr>
          <p:cNvPr id="6" name="Rectangle 5"/>
          <p:cNvSpPr/>
          <p:nvPr/>
        </p:nvSpPr>
        <p:spPr>
          <a:xfrm>
            <a:off x="540000" y="1440000"/>
            <a:ext cx="6480000" cy="720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8000" y="1475999"/>
            <a:ext cx="6264000" cy="648000"/>
          </a:xfrm>
          <a:prstGeom prst="rect">
            <a:avLst/>
          </a:prstGeom>
          <a:noFill/>
          <a:ln>
            <a:noFill/>
          </a:ln>
        </p:spPr>
        <p:txBody>
          <a:bodyPr wrap="square" lIns="54000" tIns="28800" rIns="54000" bIns="28800" anchor="ctr">
            <a:spAutoFit/>
          </a:bodyPr>
          <a:lstStyle/>
          <a:p>
            <a:pPr algn="l">
              <a:lnSpc>
                <a:spcPct val="150000"/>
              </a:lnSpc>
            </a:pPr>
            <a:r>
              <a:rPr sz="1050" b="0" dirty="0" err="1">
                <a:solidFill>
                  <a:srgbClr val="1E232D"/>
                </a:solidFill>
                <a:latin typeface="Meiryo"/>
              </a:rPr>
              <a:t>パン屋のハナコさん</a:t>
            </a:r>
            <a:r>
              <a:rPr sz="1050" b="0" dirty="0">
                <a:solidFill>
                  <a:srgbClr val="1E232D"/>
                </a:solidFill>
                <a:latin typeface="Meiryo"/>
              </a:rPr>
              <a:t>：</a:t>
            </a:r>
          </a:p>
          <a:p>
            <a:pPr algn="l">
              <a:lnSpc>
                <a:spcPct val="150000"/>
              </a:lnSpc>
            </a:pPr>
            <a:r>
              <a:rPr sz="1050" b="0" dirty="0">
                <a:solidFill>
                  <a:srgbClr val="1E232D"/>
                </a:solidFill>
                <a:latin typeface="Meiryo"/>
              </a:rPr>
              <a:t>「村のお祭りで、20個のパンを5軒の家に公平に分けてほしいの。</a:t>
            </a:r>
          </a:p>
          <a:p>
            <a:pPr algn="l">
              <a:lnSpc>
                <a:spcPct val="150000"/>
              </a:lnSpc>
            </a:pPr>
            <a:r>
              <a:rPr sz="1050" b="0" dirty="0">
                <a:solidFill>
                  <a:srgbClr val="1E232D"/>
                </a:solidFill>
                <a:latin typeface="Meiryo"/>
              </a:rPr>
              <a:t> 1軒にいくつ配ればいいか、数えて持っていってくれる？」</a:t>
            </a:r>
          </a:p>
        </p:txBody>
      </p:sp>
      <p:sp>
        <p:nvSpPr>
          <p:cNvPr id="8" name="Rectangle 7"/>
          <p:cNvSpPr/>
          <p:nvPr/>
        </p:nvSpPr>
        <p:spPr>
          <a:xfrm>
            <a:off x="540000" y="239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8000" y="234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9ステップ進行</a:t>
            </a:r>
          </a:p>
        </p:txBody>
      </p:sp>
      <p:sp>
        <p:nvSpPr>
          <p:cNvPr id="10" name="Rectangle 9"/>
          <p:cNvSpPr/>
          <p:nvPr/>
        </p:nvSpPr>
        <p:spPr>
          <a:xfrm>
            <a:off x="540000" y="2700000"/>
            <a:ext cx="54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0000" y="2700000"/>
            <a:ext cx="54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Step</a:t>
            </a:r>
          </a:p>
        </p:txBody>
      </p:sp>
      <p:sp>
        <p:nvSpPr>
          <p:cNvPr id="12" name="Rectangle 11"/>
          <p:cNvSpPr/>
          <p:nvPr/>
        </p:nvSpPr>
        <p:spPr>
          <a:xfrm>
            <a:off x="1080000" y="2700000"/>
            <a:ext cx="396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80000" y="2700000"/>
            <a:ext cx="3960000" cy="288000"/>
          </a:xfrm>
          <a:prstGeom prst="rect">
            <a:avLst/>
          </a:prstGeom>
          <a:noFill/>
          <a:ln>
            <a:noFill/>
          </a:ln>
        </p:spPr>
        <p:txBody>
          <a:bodyPr wrap="square" lIns="28800" tIns="28800" rIns="28800" bIns="28800" anchor="ctr">
            <a:spAutoFit/>
          </a:bodyPr>
          <a:lstStyle/>
          <a:p>
            <a:pPr algn="ctr">
              <a:lnSpc>
                <a:spcPct val="120000"/>
              </a:lnSpc>
            </a:pPr>
            <a:r>
              <a:rPr sz="950" b="1" dirty="0" err="1">
                <a:solidFill>
                  <a:srgbClr val="FFFFFF"/>
                </a:solidFill>
                <a:latin typeface="Meiryo"/>
              </a:rPr>
              <a:t>児童の体験</a:t>
            </a:r>
            <a:endParaRPr sz="950" b="1" dirty="0">
              <a:solidFill>
                <a:srgbClr val="FFFFFF"/>
              </a:solidFill>
              <a:latin typeface="Meiryo"/>
            </a:endParaRPr>
          </a:p>
        </p:txBody>
      </p:sp>
      <p:sp>
        <p:nvSpPr>
          <p:cNvPr id="14" name="Rectangle 13"/>
          <p:cNvSpPr/>
          <p:nvPr/>
        </p:nvSpPr>
        <p:spPr>
          <a:xfrm>
            <a:off x="5040000" y="2700000"/>
            <a:ext cx="198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0000" y="2700000"/>
            <a:ext cx="1980000" cy="288000"/>
          </a:xfrm>
          <a:prstGeom prst="rect">
            <a:avLst/>
          </a:prstGeom>
          <a:noFill/>
          <a:ln>
            <a:noFill/>
          </a:ln>
        </p:spPr>
        <p:txBody>
          <a:bodyPr wrap="square" lIns="28800" tIns="28800" rIns="28800" bIns="28800" anchor="ctr">
            <a:spAutoFit/>
          </a:bodyPr>
          <a:lstStyle/>
          <a:p>
            <a:pPr algn="ctr">
              <a:lnSpc>
                <a:spcPct val="120000"/>
              </a:lnSpc>
            </a:pPr>
            <a:r>
              <a:rPr sz="950" b="1" dirty="0" err="1">
                <a:solidFill>
                  <a:srgbClr val="FFFFFF"/>
                </a:solidFill>
                <a:latin typeface="Meiryo"/>
              </a:rPr>
              <a:t>スタッフ行動</a:t>
            </a:r>
            <a:endParaRPr sz="950" b="1" dirty="0">
              <a:solidFill>
                <a:srgbClr val="FFFFFF"/>
              </a:solidFill>
              <a:latin typeface="Meiryo"/>
            </a:endParaRPr>
          </a:p>
        </p:txBody>
      </p:sp>
      <p:sp>
        <p:nvSpPr>
          <p:cNvPr id="16" name="Rectangle 15"/>
          <p:cNvSpPr/>
          <p:nvPr/>
        </p:nvSpPr>
        <p:spPr>
          <a:xfrm>
            <a:off x="540000" y="2988000"/>
            <a:ext cx="54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00" y="2988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①操作</a:t>
            </a:r>
          </a:p>
        </p:txBody>
      </p:sp>
      <p:sp>
        <p:nvSpPr>
          <p:cNvPr id="18" name="Rectangle 17"/>
          <p:cNvSpPr/>
          <p:nvPr/>
        </p:nvSpPr>
        <p:spPr>
          <a:xfrm>
            <a:off x="1080000" y="2988000"/>
            <a:ext cx="396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6000" y="2988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チュートリアル看板：歩く／物を拾う／渡す（初回のみ）</a:t>
            </a:r>
          </a:p>
        </p:txBody>
      </p:sp>
      <p:sp>
        <p:nvSpPr>
          <p:cNvPr id="20" name="Rectangle 19"/>
          <p:cNvSpPr/>
          <p:nvPr/>
        </p:nvSpPr>
        <p:spPr>
          <a:xfrm>
            <a:off x="5040000" y="2988000"/>
            <a:ext cx="198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6000" y="2988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見守り</a:t>
            </a:r>
          </a:p>
        </p:txBody>
      </p:sp>
      <p:sp>
        <p:nvSpPr>
          <p:cNvPr id="22" name="Rectangle 21"/>
          <p:cNvSpPr/>
          <p:nvPr/>
        </p:nvSpPr>
        <p:spPr>
          <a:xfrm>
            <a:off x="540000" y="3420000"/>
            <a:ext cx="54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6000" y="3420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②実施</a:t>
            </a:r>
          </a:p>
        </p:txBody>
      </p:sp>
      <p:sp>
        <p:nvSpPr>
          <p:cNvPr id="24" name="Rectangle 23"/>
          <p:cNvSpPr/>
          <p:nvPr/>
        </p:nvSpPr>
        <p:spPr>
          <a:xfrm>
            <a:off x="1080000" y="3420000"/>
            <a:ext cx="396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6000" y="3420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練習エリアで1個のパンを1軒に渡す</a:t>
            </a:r>
          </a:p>
        </p:txBody>
      </p:sp>
      <p:sp>
        <p:nvSpPr>
          <p:cNvPr id="26" name="Rectangle 25"/>
          <p:cNvSpPr/>
          <p:nvPr/>
        </p:nvSpPr>
        <p:spPr>
          <a:xfrm>
            <a:off x="5040000" y="3420000"/>
            <a:ext cx="198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76000" y="3420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「できたね」と肯定</a:t>
            </a:r>
          </a:p>
        </p:txBody>
      </p:sp>
      <p:sp>
        <p:nvSpPr>
          <p:cNvPr id="28" name="Rectangle 27"/>
          <p:cNvSpPr/>
          <p:nvPr/>
        </p:nvSpPr>
        <p:spPr>
          <a:xfrm>
            <a:off x="540000" y="3852000"/>
            <a:ext cx="54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6000" y="3852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③課題</a:t>
            </a:r>
          </a:p>
        </p:txBody>
      </p:sp>
      <p:sp>
        <p:nvSpPr>
          <p:cNvPr id="30" name="Rectangle 29"/>
          <p:cNvSpPr/>
          <p:nvPr/>
        </p:nvSpPr>
        <p:spPr>
          <a:xfrm>
            <a:off x="1080000" y="3852000"/>
            <a:ext cx="396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6000" y="3852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ハナコが依頼／PDFに「公平って？」ミニコラム</a:t>
            </a:r>
          </a:p>
        </p:txBody>
      </p:sp>
      <p:sp>
        <p:nvSpPr>
          <p:cNvPr id="32" name="Rectangle 31"/>
          <p:cNvSpPr/>
          <p:nvPr/>
        </p:nvSpPr>
        <p:spPr>
          <a:xfrm>
            <a:off x="5040000" y="3852000"/>
            <a:ext cx="198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76000" y="3852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PDFを一緒に読む</a:t>
            </a:r>
          </a:p>
        </p:txBody>
      </p:sp>
      <p:sp>
        <p:nvSpPr>
          <p:cNvPr id="34" name="Rectangle 33"/>
          <p:cNvSpPr/>
          <p:nvPr/>
        </p:nvSpPr>
        <p:spPr>
          <a:xfrm>
            <a:off x="540000" y="4284000"/>
            <a:ext cx="54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6000" y="4284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④確認</a:t>
            </a:r>
          </a:p>
        </p:txBody>
      </p:sp>
      <p:sp>
        <p:nvSpPr>
          <p:cNvPr id="36" name="Rectangle 35"/>
          <p:cNvSpPr/>
          <p:nvPr/>
        </p:nvSpPr>
        <p:spPr>
          <a:xfrm>
            <a:off x="1080000" y="4284000"/>
            <a:ext cx="396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16000" y="4284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看板「20個÷5軒＝？」／NPC「配ってもOK、計算もOK」</a:t>
            </a:r>
          </a:p>
        </p:txBody>
      </p:sp>
      <p:sp>
        <p:nvSpPr>
          <p:cNvPr id="38" name="Rectangle 37"/>
          <p:cNvSpPr/>
          <p:nvPr/>
        </p:nvSpPr>
        <p:spPr>
          <a:xfrm>
            <a:off x="5040000" y="4284000"/>
            <a:ext cx="198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76000" y="4284000"/>
            <a:ext cx="1926000" cy="432000"/>
          </a:xfrm>
          <a:prstGeom prst="rect">
            <a:avLst/>
          </a:prstGeom>
          <a:noFill/>
          <a:ln>
            <a:noFill/>
          </a:ln>
        </p:spPr>
        <p:txBody>
          <a:bodyPr wrap="square" lIns="18000" tIns="28800" rIns="18000" bIns="28800" anchor="ctr">
            <a:spAutoFit/>
          </a:bodyPr>
          <a:lstStyle/>
          <a:p>
            <a:pPr algn="l">
              <a:lnSpc>
                <a:spcPct val="120000"/>
              </a:lnSpc>
            </a:pPr>
            <a:r>
              <a:rPr sz="900" b="0" dirty="0" err="1">
                <a:solidFill>
                  <a:srgbClr val="1E232D"/>
                </a:solidFill>
                <a:latin typeface="Meiryo"/>
              </a:rPr>
              <a:t>どちらで解くか選ばせる</a:t>
            </a:r>
            <a:endParaRPr sz="900" b="0" dirty="0">
              <a:solidFill>
                <a:srgbClr val="1E232D"/>
              </a:solidFill>
              <a:latin typeface="Meiryo"/>
            </a:endParaRPr>
          </a:p>
        </p:txBody>
      </p:sp>
      <p:sp>
        <p:nvSpPr>
          <p:cNvPr id="40" name="Rectangle 39"/>
          <p:cNvSpPr/>
          <p:nvPr/>
        </p:nvSpPr>
        <p:spPr>
          <a:xfrm>
            <a:off x="540000" y="4716000"/>
            <a:ext cx="54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76000" y="4716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⑤実施</a:t>
            </a:r>
          </a:p>
        </p:txBody>
      </p:sp>
      <p:sp>
        <p:nvSpPr>
          <p:cNvPr id="42" name="Rectangle 41"/>
          <p:cNvSpPr/>
          <p:nvPr/>
        </p:nvSpPr>
        <p:spPr>
          <a:xfrm>
            <a:off x="1080000" y="4716000"/>
            <a:ext cx="396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6000" y="4716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各家に運ぶ／不正配置は防止</a:t>
            </a:r>
          </a:p>
        </p:txBody>
      </p:sp>
      <p:sp>
        <p:nvSpPr>
          <p:cNvPr id="44" name="Rectangle 43"/>
          <p:cNvSpPr/>
          <p:nvPr/>
        </p:nvSpPr>
        <p:spPr>
          <a:xfrm>
            <a:off x="5040000" y="4716000"/>
            <a:ext cx="198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76000" y="4716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詰まったらヒント</a:t>
            </a:r>
          </a:p>
        </p:txBody>
      </p:sp>
      <p:sp>
        <p:nvSpPr>
          <p:cNvPr id="46" name="Rectangle 45"/>
          <p:cNvSpPr/>
          <p:nvPr/>
        </p:nvSpPr>
        <p:spPr>
          <a:xfrm>
            <a:off x="540000" y="5148000"/>
            <a:ext cx="54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76000" y="5148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⑥FB</a:t>
            </a:r>
          </a:p>
        </p:txBody>
      </p:sp>
      <p:sp>
        <p:nvSpPr>
          <p:cNvPr id="48" name="Rectangle 47"/>
          <p:cNvSpPr/>
          <p:nvPr/>
        </p:nvSpPr>
        <p:spPr>
          <a:xfrm>
            <a:off x="1080000" y="5148000"/>
            <a:ext cx="396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16000" y="5148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全戸4個で笑顔エモート／足りないと家主「?」</a:t>
            </a:r>
          </a:p>
        </p:txBody>
      </p:sp>
      <p:sp>
        <p:nvSpPr>
          <p:cNvPr id="50" name="Rectangle 49"/>
          <p:cNvSpPr/>
          <p:nvPr/>
        </p:nvSpPr>
        <p:spPr>
          <a:xfrm>
            <a:off x="5040000" y="5148000"/>
            <a:ext cx="198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076000" y="5148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観察を促す</a:t>
            </a:r>
          </a:p>
        </p:txBody>
      </p:sp>
      <p:sp>
        <p:nvSpPr>
          <p:cNvPr id="52" name="Rectangle 51"/>
          <p:cNvSpPr/>
          <p:nvPr/>
        </p:nvSpPr>
        <p:spPr>
          <a:xfrm>
            <a:off x="540000" y="5580000"/>
            <a:ext cx="54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76000" y="5580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⑦完成</a:t>
            </a:r>
          </a:p>
        </p:txBody>
      </p:sp>
      <p:sp>
        <p:nvSpPr>
          <p:cNvPr id="54" name="Rectangle 53"/>
          <p:cNvSpPr/>
          <p:nvPr/>
        </p:nvSpPr>
        <p:spPr>
          <a:xfrm>
            <a:off x="1080000" y="5580000"/>
            <a:ext cx="396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16000" y="5580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ハナコ「ありがとう！」／スコア加点／勲章アイテム</a:t>
            </a:r>
          </a:p>
        </p:txBody>
      </p:sp>
      <p:sp>
        <p:nvSpPr>
          <p:cNvPr id="56" name="Rectangle 55"/>
          <p:cNvSpPr/>
          <p:nvPr/>
        </p:nvSpPr>
        <p:spPr>
          <a:xfrm>
            <a:off x="5040000" y="5580000"/>
            <a:ext cx="198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076000" y="5580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工程を褒める</a:t>
            </a:r>
          </a:p>
        </p:txBody>
      </p:sp>
      <p:sp>
        <p:nvSpPr>
          <p:cNvPr id="58" name="Rectangle 57"/>
          <p:cNvSpPr/>
          <p:nvPr/>
        </p:nvSpPr>
        <p:spPr>
          <a:xfrm>
            <a:off x="540000" y="6012000"/>
            <a:ext cx="54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76000" y="6012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⑧振り返り</a:t>
            </a:r>
          </a:p>
        </p:txBody>
      </p:sp>
      <p:sp>
        <p:nvSpPr>
          <p:cNvPr id="60" name="Rectangle 59"/>
          <p:cNvSpPr/>
          <p:nvPr/>
        </p:nvSpPr>
        <p:spPr>
          <a:xfrm>
            <a:off x="1080000" y="6012000"/>
            <a:ext cx="396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16000" y="6012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PDFの問い：「20÷5＝4ってどういうこと？」</a:t>
            </a:r>
          </a:p>
        </p:txBody>
      </p:sp>
      <p:sp>
        <p:nvSpPr>
          <p:cNvPr id="62" name="Rectangle 61"/>
          <p:cNvSpPr/>
          <p:nvPr/>
        </p:nvSpPr>
        <p:spPr>
          <a:xfrm>
            <a:off x="5040000" y="6012000"/>
            <a:ext cx="1980000" cy="43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076000" y="6012000"/>
            <a:ext cx="192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1〜2問だけ軽く</a:t>
            </a:r>
          </a:p>
        </p:txBody>
      </p:sp>
      <p:sp>
        <p:nvSpPr>
          <p:cNvPr id="64" name="Rectangle 63"/>
          <p:cNvSpPr/>
          <p:nvPr/>
        </p:nvSpPr>
        <p:spPr>
          <a:xfrm>
            <a:off x="540000" y="6444000"/>
            <a:ext cx="54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76000" y="6444000"/>
            <a:ext cx="48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⑨自由</a:t>
            </a:r>
          </a:p>
        </p:txBody>
      </p:sp>
      <p:sp>
        <p:nvSpPr>
          <p:cNvPr id="66" name="Rectangle 65"/>
          <p:cNvSpPr/>
          <p:nvPr/>
        </p:nvSpPr>
        <p:spPr>
          <a:xfrm>
            <a:off x="1080000" y="6444000"/>
            <a:ext cx="396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116000" y="6444000"/>
            <a:ext cx="3906000" cy="432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「23個を5軒に分けると？」余り発見への誘導</a:t>
            </a:r>
          </a:p>
        </p:txBody>
      </p:sp>
      <p:sp>
        <p:nvSpPr>
          <p:cNvPr id="68" name="Rectangle 67"/>
          <p:cNvSpPr/>
          <p:nvPr/>
        </p:nvSpPr>
        <p:spPr>
          <a:xfrm>
            <a:off x="5040000" y="6444000"/>
            <a:ext cx="1980000" cy="43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076000" y="6444000"/>
            <a:ext cx="1926000" cy="432000"/>
          </a:xfrm>
          <a:prstGeom prst="rect">
            <a:avLst/>
          </a:prstGeom>
          <a:noFill/>
          <a:ln>
            <a:noFill/>
          </a:ln>
        </p:spPr>
        <p:txBody>
          <a:bodyPr wrap="square" lIns="18000" tIns="28800" rIns="18000" bIns="28800" anchor="ctr">
            <a:spAutoFit/>
          </a:bodyPr>
          <a:lstStyle/>
          <a:p>
            <a:pPr algn="l">
              <a:lnSpc>
                <a:spcPct val="120000"/>
              </a:lnSpc>
            </a:pPr>
            <a:r>
              <a:rPr sz="900" b="0" dirty="0" err="1">
                <a:solidFill>
                  <a:srgbClr val="1E232D"/>
                </a:solidFill>
                <a:latin typeface="Meiryo"/>
              </a:rPr>
              <a:t>児童のペースに任せる</a:t>
            </a:r>
            <a:endParaRPr sz="900" b="0" dirty="0">
              <a:solidFill>
                <a:srgbClr val="1E232D"/>
              </a:solidFill>
              <a:latin typeface="Meiryo"/>
            </a:endParaRPr>
          </a:p>
        </p:txBody>
      </p:sp>
      <p:sp>
        <p:nvSpPr>
          <p:cNvPr id="70" name="Rectangle 69"/>
          <p:cNvSpPr/>
          <p:nvPr/>
        </p:nvSpPr>
        <p:spPr>
          <a:xfrm>
            <a:off x="540000" y="725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48000" y="720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獲得する学び・Web連動</a:t>
            </a:r>
          </a:p>
        </p:txBody>
      </p:sp>
      <p:sp>
        <p:nvSpPr>
          <p:cNvPr id="72" name="TextBox 71"/>
          <p:cNvSpPr txBox="1"/>
          <p:nvPr/>
        </p:nvSpPr>
        <p:spPr>
          <a:xfrm>
            <a:off x="540000" y="7560000"/>
            <a:ext cx="6948000" cy="962256"/>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【算数】20÷5＝4 の実感／余りのある割り算（23÷5＝4余り3）</a:t>
            </a:r>
          </a:p>
          <a:p>
            <a:pPr algn="l">
              <a:lnSpc>
                <a:spcPct val="150000"/>
              </a:lnSpc>
            </a:pPr>
            <a:r>
              <a:rPr sz="1000" b="0" dirty="0">
                <a:solidFill>
                  <a:srgbClr val="1E232D"/>
                </a:solidFill>
                <a:latin typeface="Meiryo"/>
              </a:rPr>
              <a:t>【</a:t>
            </a:r>
            <a:r>
              <a:rPr sz="1000" b="0" dirty="0" err="1">
                <a:solidFill>
                  <a:srgbClr val="1E232D"/>
                </a:solidFill>
                <a:latin typeface="Meiryo"/>
              </a:rPr>
              <a:t>素地スキル】組織化（計画的配分</a:t>
            </a:r>
            <a:r>
              <a:rPr sz="1000" b="0" dirty="0">
                <a:solidFill>
                  <a:srgbClr val="1E232D"/>
                </a:solidFill>
                <a:latin typeface="Meiryo"/>
              </a:rPr>
              <a:t>）・</a:t>
            </a:r>
            <a:r>
              <a:rPr sz="1000" b="0" dirty="0" err="1">
                <a:solidFill>
                  <a:srgbClr val="1E232D"/>
                </a:solidFill>
                <a:latin typeface="Meiryo"/>
              </a:rPr>
              <a:t>試行錯誤・資源管理</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国語自然統合】ハナコのセリフ読解</a:t>
            </a:r>
            <a:r>
              <a:rPr sz="1000" b="0" dirty="0">
                <a:solidFill>
                  <a:srgbClr val="1E232D"/>
                </a:solidFill>
                <a:latin typeface="Meiryo"/>
              </a:rPr>
              <a:t>／「</a:t>
            </a:r>
            <a:r>
              <a:rPr sz="1000" b="0" dirty="0" err="1">
                <a:solidFill>
                  <a:srgbClr val="1E232D"/>
                </a:solidFill>
                <a:latin typeface="Meiryo"/>
              </a:rPr>
              <a:t>公平」の語彙</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Web連動</a:t>
            </a:r>
            <a:r>
              <a:rPr sz="1000" b="0" dirty="0">
                <a:solidFill>
                  <a:srgbClr val="1E232D"/>
                </a:solidFill>
                <a:latin typeface="Meiryo"/>
              </a:rPr>
              <a:t>】「</a:t>
            </a:r>
            <a:r>
              <a:rPr sz="1000" b="0" dirty="0" err="1">
                <a:solidFill>
                  <a:srgbClr val="1E232D"/>
                </a:solidFill>
                <a:latin typeface="Meiryo"/>
              </a:rPr>
              <a:t>パン分配パズル</a:t>
            </a:r>
            <a:r>
              <a:rPr sz="1000" b="0" dirty="0">
                <a:solidFill>
                  <a:srgbClr val="1E232D"/>
                </a:solidFill>
                <a:latin typeface="Meiryo"/>
              </a:rPr>
              <a:t>」：反復ドリル。PDFには余り扱い・2段階分配の攻略 → </a:t>
            </a:r>
            <a:r>
              <a:rPr sz="1000" b="0" dirty="0" err="1">
                <a:solidFill>
                  <a:srgbClr val="1E232D"/>
                </a:solidFill>
                <a:latin typeface="Meiryo"/>
              </a:rPr>
              <a:t>Webだけでは完全攻略不可</a:t>
            </a:r>
            <a:endParaRPr sz="1000" b="0" dirty="0">
              <a:solidFill>
                <a:srgbClr val="1E232D"/>
              </a:solidFill>
              <a:latin typeface="Meiryo"/>
            </a:endParaRPr>
          </a:p>
        </p:txBody>
      </p:sp>
      <p:sp>
        <p:nvSpPr>
          <p:cNvPr id="73" name="TextBox 72"/>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10 / 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10. ウォークスルー② 物理ラボ×中「レールは何本必要？」</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ストーリー ／ プロジェクトの目玉ミッション</a:t>
            </a:r>
          </a:p>
        </p:txBody>
      </p:sp>
      <p:sp>
        <p:nvSpPr>
          <p:cNvPr id="6" name="Rectangle 5"/>
          <p:cNvSpPr/>
          <p:nvPr/>
        </p:nvSpPr>
        <p:spPr>
          <a:xfrm>
            <a:off x="540000" y="1440000"/>
            <a:ext cx="6480000" cy="827999"/>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8000" y="1475999"/>
            <a:ext cx="6264000" cy="756000"/>
          </a:xfrm>
          <a:prstGeom prst="rect">
            <a:avLst/>
          </a:prstGeom>
          <a:noFill/>
          <a:ln>
            <a:noFill/>
          </a:ln>
        </p:spPr>
        <p:txBody>
          <a:bodyPr wrap="square" lIns="54000" tIns="28800" rIns="54000" bIns="28800" anchor="ctr">
            <a:spAutoFit/>
          </a:bodyPr>
          <a:lstStyle/>
          <a:p>
            <a:pPr algn="l">
              <a:lnSpc>
                <a:spcPct val="150000"/>
              </a:lnSpc>
            </a:pPr>
            <a:r>
              <a:rPr sz="1050" b="0">
                <a:solidFill>
                  <a:srgbClr val="1E232D"/>
                </a:solidFill>
                <a:latin typeface="Meiryo"/>
              </a:rPr>
              <a:t>駅長NPC・タツジさん：</a:t>
            </a:r>
          </a:p>
          <a:p>
            <a:pPr algn="l">
              <a:lnSpc>
                <a:spcPct val="150000"/>
              </a:lnSpc>
            </a:pPr>
            <a:r>
              <a:rPr sz="1050" b="0">
                <a:solidFill>
                  <a:srgbClr val="1E232D"/>
                </a:solidFill>
                <a:latin typeface="Meiryo"/>
              </a:rPr>
              <a:t>「村の東駅から森の奥駅まで線路を引きたい。ちょうど20ブロック離れてる。</a:t>
            </a:r>
          </a:p>
          <a:p>
            <a:pPr algn="l">
              <a:lnSpc>
                <a:spcPct val="150000"/>
              </a:lnSpc>
            </a:pPr>
            <a:r>
              <a:rPr sz="1050" b="0">
                <a:solidFill>
                  <a:srgbClr val="1E232D"/>
                </a:solidFill>
                <a:latin typeface="Meiryo"/>
              </a:rPr>
              <a:t> レールを過不足なく敷いてくれないか？ 鉄1個からレールは6本作れるよ。」</a:t>
            </a:r>
          </a:p>
        </p:txBody>
      </p:sp>
      <p:sp>
        <p:nvSpPr>
          <p:cNvPr id="8" name="Rectangle 7"/>
          <p:cNvSpPr/>
          <p:nvPr/>
        </p:nvSpPr>
        <p:spPr>
          <a:xfrm>
            <a:off x="540000" y="2502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8000" y="2448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10問構成例（1ミッション = 10問）</a:t>
            </a:r>
          </a:p>
        </p:txBody>
      </p:sp>
      <p:sp>
        <p:nvSpPr>
          <p:cNvPr id="10" name="Rectangle 9"/>
          <p:cNvSpPr/>
          <p:nvPr/>
        </p:nvSpPr>
        <p:spPr>
          <a:xfrm>
            <a:off x="540000" y="2808000"/>
            <a:ext cx="36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0000" y="2808000"/>
            <a:ext cx="36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a:t>
            </a:r>
          </a:p>
        </p:txBody>
      </p:sp>
      <p:sp>
        <p:nvSpPr>
          <p:cNvPr id="12" name="Rectangle 11"/>
          <p:cNvSpPr/>
          <p:nvPr/>
        </p:nvSpPr>
        <p:spPr>
          <a:xfrm>
            <a:off x="900000" y="2808000"/>
            <a:ext cx="450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0000" y="2808000"/>
            <a:ext cx="450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問題</a:t>
            </a:r>
          </a:p>
        </p:txBody>
      </p:sp>
      <p:sp>
        <p:nvSpPr>
          <p:cNvPr id="14" name="Rectangle 13"/>
          <p:cNvSpPr/>
          <p:nvPr/>
        </p:nvSpPr>
        <p:spPr>
          <a:xfrm>
            <a:off x="5400000" y="2808000"/>
            <a:ext cx="162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00000" y="2808000"/>
            <a:ext cx="1620000" cy="288000"/>
          </a:xfrm>
          <a:prstGeom prst="rect">
            <a:avLst/>
          </a:prstGeom>
          <a:noFill/>
          <a:ln>
            <a:noFill/>
          </a:ln>
        </p:spPr>
        <p:txBody>
          <a:bodyPr wrap="square" lIns="28800" tIns="28800" rIns="28800" bIns="28800" anchor="ctr">
            <a:spAutoFit/>
          </a:bodyPr>
          <a:lstStyle/>
          <a:p>
            <a:pPr algn="ctr">
              <a:lnSpc>
                <a:spcPct val="120000"/>
              </a:lnSpc>
            </a:pPr>
            <a:r>
              <a:rPr sz="950" b="1">
                <a:solidFill>
                  <a:srgbClr val="FFFFFF"/>
                </a:solidFill>
                <a:latin typeface="Meiryo"/>
              </a:rPr>
              <a:t>種別</a:t>
            </a:r>
          </a:p>
        </p:txBody>
      </p:sp>
      <p:sp>
        <p:nvSpPr>
          <p:cNvPr id="16" name="Rectangle 15"/>
          <p:cNvSpPr/>
          <p:nvPr/>
        </p:nvSpPr>
        <p:spPr>
          <a:xfrm>
            <a:off x="540000" y="3096000"/>
            <a:ext cx="36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00" y="3096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1</a:t>
            </a:r>
          </a:p>
        </p:txBody>
      </p:sp>
      <p:sp>
        <p:nvSpPr>
          <p:cNvPr id="18" name="Rectangle 17"/>
          <p:cNvSpPr/>
          <p:nvPr/>
        </p:nvSpPr>
        <p:spPr>
          <a:xfrm>
            <a:off x="900000" y="3096000"/>
            <a:ext cx="450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000" y="3096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距離10ブロック、レール何本？（答:10本）</a:t>
            </a:r>
          </a:p>
        </p:txBody>
      </p:sp>
      <p:sp>
        <p:nvSpPr>
          <p:cNvPr id="20" name="Rectangle 19"/>
          <p:cNvSpPr/>
          <p:nvPr/>
        </p:nvSpPr>
        <p:spPr>
          <a:xfrm>
            <a:off x="5400000" y="3096000"/>
            <a:ext cx="16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36000" y="3096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ウォーム</a:t>
            </a:r>
          </a:p>
        </p:txBody>
      </p:sp>
      <p:sp>
        <p:nvSpPr>
          <p:cNvPr id="22" name="Rectangle 21"/>
          <p:cNvSpPr/>
          <p:nvPr/>
        </p:nvSpPr>
        <p:spPr>
          <a:xfrm>
            <a:off x="540000" y="3402000"/>
            <a:ext cx="36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6000" y="3402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2</a:t>
            </a:r>
          </a:p>
        </p:txBody>
      </p:sp>
      <p:sp>
        <p:nvSpPr>
          <p:cNvPr id="24" name="Rectangle 23"/>
          <p:cNvSpPr/>
          <p:nvPr/>
        </p:nvSpPr>
        <p:spPr>
          <a:xfrm>
            <a:off x="900000" y="3402000"/>
            <a:ext cx="450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6000" y="3402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距離15ブロック、レール何本？（答:15本）</a:t>
            </a:r>
          </a:p>
        </p:txBody>
      </p:sp>
      <p:sp>
        <p:nvSpPr>
          <p:cNvPr id="26" name="Rectangle 25"/>
          <p:cNvSpPr/>
          <p:nvPr/>
        </p:nvSpPr>
        <p:spPr>
          <a:xfrm>
            <a:off x="5400000" y="3402000"/>
            <a:ext cx="16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36000" y="3402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ウォーム</a:t>
            </a:r>
          </a:p>
        </p:txBody>
      </p:sp>
      <p:sp>
        <p:nvSpPr>
          <p:cNvPr id="28" name="Rectangle 27"/>
          <p:cNvSpPr/>
          <p:nvPr/>
        </p:nvSpPr>
        <p:spPr>
          <a:xfrm>
            <a:off x="540000" y="3708000"/>
            <a:ext cx="36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6000" y="3708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3</a:t>
            </a:r>
          </a:p>
        </p:txBody>
      </p:sp>
      <p:sp>
        <p:nvSpPr>
          <p:cNvPr id="30" name="Rectangle 29"/>
          <p:cNvSpPr/>
          <p:nvPr/>
        </p:nvSpPr>
        <p:spPr>
          <a:xfrm>
            <a:off x="900000" y="3708000"/>
            <a:ext cx="450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6000" y="3708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距離20ブロック、レール何本？（答:20本）</a:t>
            </a:r>
          </a:p>
        </p:txBody>
      </p:sp>
      <p:sp>
        <p:nvSpPr>
          <p:cNvPr id="32" name="Rectangle 31"/>
          <p:cNvSpPr/>
          <p:nvPr/>
        </p:nvSpPr>
        <p:spPr>
          <a:xfrm>
            <a:off x="5400000" y="3708000"/>
            <a:ext cx="16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36000" y="3708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ウォーム</a:t>
            </a:r>
          </a:p>
        </p:txBody>
      </p:sp>
      <p:sp>
        <p:nvSpPr>
          <p:cNvPr id="34" name="Rectangle 33"/>
          <p:cNvSpPr/>
          <p:nvPr/>
        </p:nvSpPr>
        <p:spPr>
          <a:xfrm>
            <a:off x="540000" y="4014000"/>
            <a:ext cx="36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6000" y="4014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4</a:t>
            </a:r>
          </a:p>
        </p:txBody>
      </p:sp>
      <p:sp>
        <p:nvSpPr>
          <p:cNvPr id="36" name="Rectangle 35"/>
          <p:cNvSpPr/>
          <p:nvPr/>
        </p:nvSpPr>
        <p:spPr>
          <a:xfrm>
            <a:off x="900000" y="4014000"/>
            <a:ext cx="450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6000" y="4014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鉄3個、レール何本作れる？（答:18本）</a:t>
            </a:r>
          </a:p>
        </p:txBody>
      </p:sp>
      <p:sp>
        <p:nvSpPr>
          <p:cNvPr id="38" name="Rectangle 37"/>
          <p:cNvSpPr/>
          <p:nvPr/>
        </p:nvSpPr>
        <p:spPr>
          <a:xfrm>
            <a:off x="5400000" y="4014000"/>
            <a:ext cx="16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36000" y="4014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a:t>
            </a:r>
          </a:p>
        </p:txBody>
      </p:sp>
      <p:sp>
        <p:nvSpPr>
          <p:cNvPr id="40" name="Rectangle 39"/>
          <p:cNvSpPr/>
          <p:nvPr/>
        </p:nvSpPr>
        <p:spPr>
          <a:xfrm>
            <a:off x="540000" y="4320000"/>
            <a:ext cx="36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76000" y="4320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5</a:t>
            </a:r>
          </a:p>
        </p:txBody>
      </p:sp>
      <p:sp>
        <p:nvSpPr>
          <p:cNvPr id="42" name="Rectangle 41"/>
          <p:cNvSpPr/>
          <p:nvPr/>
        </p:nvSpPr>
        <p:spPr>
          <a:xfrm>
            <a:off x="900000" y="4320000"/>
            <a:ext cx="450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6000" y="4320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距離18ブロック、鉄は何個必要？（答:3個）</a:t>
            </a:r>
          </a:p>
        </p:txBody>
      </p:sp>
      <p:sp>
        <p:nvSpPr>
          <p:cNvPr id="44" name="Rectangle 43"/>
          <p:cNvSpPr/>
          <p:nvPr/>
        </p:nvSpPr>
        <p:spPr>
          <a:xfrm>
            <a:off x="5400000" y="4320000"/>
            <a:ext cx="16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36000" y="4320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a:t>
            </a:r>
          </a:p>
        </p:txBody>
      </p:sp>
      <p:sp>
        <p:nvSpPr>
          <p:cNvPr id="46" name="Rectangle 45"/>
          <p:cNvSpPr/>
          <p:nvPr/>
        </p:nvSpPr>
        <p:spPr>
          <a:xfrm>
            <a:off x="540000" y="4626000"/>
            <a:ext cx="36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76000" y="4626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6</a:t>
            </a:r>
          </a:p>
        </p:txBody>
      </p:sp>
      <p:sp>
        <p:nvSpPr>
          <p:cNvPr id="48" name="Rectangle 47"/>
          <p:cNvSpPr/>
          <p:nvPr/>
        </p:nvSpPr>
        <p:spPr>
          <a:xfrm>
            <a:off x="900000" y="4626000"/>
            <a:ext cx="450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6000" y="4626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鉄5個、距離何ブロックまで敷ける？（答:30）</a:t>
            </a:r>
          </a:p>
        </p:txBody>
      </p:sp>
      <p:sp>
        <p:nvSpPr>
          <p:cNvPr id="50" name="Rectangle 49"/>
          <p:cNvSpPr/>
          <p:nvPr/>
        </p:nvSpPr>
        <p:spPr>
          <a:xfrm>
            <a:off x="5400000" y="4626000"/>
            <a:ext cx="16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36000" y="4626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a:t>
            </a:r>
          </a:p>
        </p:txBody>
      </p:sp>
      <p:sp>
        <p:nvSpPr>
          <p:cNvPr id="52" name="Rectangle 51"/>
          <p:cNvSpPr/>
          <p:nvPr/>
        </p:nvSpPr>
        <p:spPr>
          <a:xfrm>
            <a:off x="540000" y="4932000"/>
            <a:ext cx="36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76000" y="4932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7</a:t>
            </a:r>
          </a:p>
        </p:txBody>
      </p:sp>
      <p:sp>
        <p:nvSpPr>
          <p:cNvPr id="54" name="Rectangle 53"/>
          <p:cNvSpPr/>
          <p:nvPr/>
        </p:nvSpPr>
        <p:spPr>
          <a:xfrm>
            <a:off x="900000" y="4932000"/>
            <a:ext cx="450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36000" y="4932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距離20、鉄は？（20÷6＝3余り2 → 4個必要）</a:t>
            </a:r>
          </a:p>
        </p:txBody>
      </p:sp>
      <p:sp>
        <p:nvSpPr>
          <p:cNvPr id="56" name="Rectangle 55"/>
          <p:cNvSpPr/>
          <p:nvPr/>
        </p:nvSpPr>
        <p:spPr>
          <a:xfrm>
            <a:off x="5400000" y="4932000"/>
            <a:ext cx="16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436000" y="4932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コア・切上</a:t>
            </a:r>
          </a:p>
        </p:txBody>
      </p:sp>
      <p:sp>
        <p:nvSpPr>
          <p:cNvPr id="58" name="Rectangle 57"/>
          <p:cNvSpPr/>
          <p:nvPr/>
        </p:nvSpPr>
        <p:spPr>
          <a:xfrm>
            <a:off x="540000" y="5238000"/>
            <a:ext cx="36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76000" y="5238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8</a:t>
            </a:r>
          </a:p>
        </p:txBody>
      </p:sp>
      <p:sp>
        <p:nvSpPr>
          <p:cNvPr id="60" name="Rectangle 59"/>
          <p:cNvSpPr/>
          <p:nvPr/>
        </p:nvSpPr>
        <p:spPr>
          <a:xfrm>
            <a:off x="900000" y="5238000"/>
            <a:ext cx="450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36000" y="5238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距離25、鉄は？（25÷6＝4余り1 → 5個必要）</a:t>
            </a:r>
          </a:p>
        </p:txBody>
      </p:sp>
      <p:sp>
        <p:nvSpPr>
          <p:cNvPr id="62" name="Rectangle 61"/>
          <p:cNvSpPr/>
          <p:nvPr/>
        </p:nvSpPr>
        <p:spPr>
          <a:xfrm>
            <a:off x="5400000" y="5238000"/>
            <a:ext cx="16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436000" y="5238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コア・切上</a:t>
            </a:r>
          </a:p>
        </p:txBody>
      </p:sp>
      <p:sp>
        <p:nvSpPr>
          <p:cNvPr id="64" name="Rectangle 63"/>
          <p:cNvSpPr/>
          <p:nvPr/>
        </p:nvSpPr>
        <p:spPr>
          <a:xfrm>
            <a:off x="540000" y="5544000"/>
            <a:ext cx="36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76000" y="5544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9</a:t>
            </a:r>
          </a:p>
        </p:txBody>
      </p:sp>
      <p:sp>
        <p:nvSpPr>
          <p:cNvPr id="66" name="Rectangle 65"/>
          <p:cNvSpPr/>
          <p:nvPr/>
        </p:nvSpPr>
        <p:spPr>
          <a:xfrm>
            <a:off x="900000" y="5544000"/>
            <a:ext cx="450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36000" y="5544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鉄4個で24本、距離30必要。足りる？（足りない）</a:t>
            </a:r>
          </a:p>
        </p:txBody>
      </p:sp>
      <p:sp>
        <p:nvSpPr>
          <p:cNvPr id="68" name="Rectangle 67"/>
          <p:cNvSpPr/>
          <p:nvPr/>
        </p:nvSpPr>
        <p:spPr>
          <a:xfrm>
            <a:off x="5400000" y="5544000"/>
            <a:ext cx="16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436000" y="5544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応用</a:t>
            </a:r>
          </a:p>
        </p:txBody>
      </p:sp>
      <p:sp>
        <p:nvSpPr>
          <p:cNvPr id="70" name="Rectangle 69"/>
          <p:cNvSpPr/>
          <p:nvPr/>
        </p:nvSpPr>
        <p:spPr>
          <a:xfrm>
            <a:off x="540000" y="5850000"/>
            <a:ext cx="36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76000" y="5850000"/>
            <a:ext cx="30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10</a:t>
            </a:r>
          </a:p>
        </p:txBody>
      </p:sp>
      <p:sp>
        <p:nvSpPr>
          <p:cNvPr id="72" name="Rectangle 71"/>
          <p:cNvSpPr/>
          <p:nvPr/>
        </p:nvSpPr>
        <p:spPr>
          <a:xfrm>
            <a:off x="900000" y="5850000"/>
            <a:ext cx="450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6000" y="5850000"/>
            <a:ext cx="444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自由課題：鉄8個で好きなコース設計。何ブロック？</a:t>
            </a:r>
          </a:p>
        </p:txBody>
      </p:sp>
      <p:sp>
        <p:nvSpPr>
          <p:cNvPr id="74" name="Rectangle 73"/>
          <p:cNvSpPr/>
          <p:nvPr/>
        </p:nvSpPr>
        <p:spPr>
          <a:xfrm>
            <a:off x="5400000" y="5850000"/>
            <a:ext cx="16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36000" y="5850000"/>
            <a:ext cx="1566000" cy="306000"/>
          </a:xfrm>
          <a:prstGeom prst="rect">
            <a:avLst/>
          </a:prstGeom>
          <a:noFill/>
          <a:ln>
            <a:noFill/>
          </a:ln>
        </p:spPr>
        <p:txBody>
          <a:bodyPr wrap="square" lIns="18000" tIns="28800" rIns="18000" bIns="28800" anchor="ctr">
            <a:spAutoFit/>
          </a:bodyPr>
          <a:lstStyle/>
          <a:p>
            <a:pPr algn="l">
              <a:lnSpc>
                <a:spcPct val="120000"/>
              </a:lnSpc>
            </a:pPr>
            <a:r>
              <a:rPr sz="900" b="0">
                <a:solidFill>
                  <a:srgbClr val="1E232D"/>
                </a:solidFill>
                <a:latin typeface="Meiryo"/>
              </a:rPr>
              <a:t>発展</a:t>
            </a:r>
          </a:p>
        </p:txBody>
      </p:sp>
      <p:sp>
        <p:nvSpPr>
          <p:cNvPr id="76" name="Rectangle 75"/>
          <p:cNvSpPr/>
          <p:nvPr/>
        </p:nvSpPr>
        <p:spPr>
          <a:xfrm>
            <a:off x="540000" y="65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8000" y="64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学び・他教科への接続</a:t>
            </a:r>
          </a:p>
        </p:txBody>
      </p:sp>
      <p:sp>
        <p:nvSpPr>
          <p:cNvPr id="78" name="TextBox 77"/>
          <p:cNvSpPr txBox="1"/>
          <p:nvPr/>
        </p:nvSpPr>
        <p:spPr>
          <a:xfrm>
            <a:off x="540000" y="6840000"/>
            <a:ext cx="6480000" cy="2340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【算数】距離計算／割り算と切り上げ（必要数の概念）／材料計算</a:t>
            </a:r>
          </a:p>
          <a:p>
            <a:pPr algn="l">
              <a:lnSpc>
                <a:spcPct val="150000"/>
              </a:lnSpc>
            </a:pPr>
            <a:r>
              <a:rPr sz="1000" b="0">
                <a:solidFill>
                  <a:srgbClr val="1E232D"/>
                </a:solidFill>
                <a:latin typeface="Meiryo"/>
              </a:rPr>
              <a:t>【理科予告】「平らだと止まる」「坂道で加速する」→ 物理ラボ×上「エネルギー最速コース」へ接続</a:t>
            </a:r>
          </a:p>
          <a:p>
            <a:pPr algn="l">
              <a:lnSpc>
                <a:spcPct val="150000"/>
              </a:lnSpc>
            </a:pPr>
            <a:r>
              <a:rPr sz="1000" b="0">
                <a:solidFill>
                  <a:srgbClr val="1E232D"/>
                </a:solidFill>
                <a:latin typeface="Meiryo"/>
              </a:rPr>
              <a:t>【プログラミング予告】「パワードレールで自動加速」→ プログラミングエリアへ接続</a:t>
            </a:r>
          </a:p>
          <a:p>
            <a:pPr algn="l">
              <a:lnSpc>
                <a:spcPct val="150000"/>
              </a:lnSpc>
            </a:pPr>
            <a:r>
              <a:rPr sz="1000" b="0">
                <a:solidFill>
                  <a:srgbClr val="1E232D"/>
                </a:solidFill>
                <a:latin typeface="Meiryo"/>
              </a:rPr>
              <a:t>【素地スキル】組織化（計画的材料調達）／資源管理／試行錯誤／空間認識</a:t>
            </a:r>
          </a:p>
          <a:p>
            <a:pPr algn="l">
              <a:lnSpc>
                <a:spcPct val="150000"/>
              </a:lnSpc>
            </a:pPr>
            <a:r>
              <a:rPr sz="1000" b="0">
                <a:solidFill>
                  <a:srgbClr val="1E232D"/>
                </a:solidFill>
                <a:latin typeface="Meiryo"/>
              </a:rPr>
              <a:t>【国語自然統合】「過不足なく」「用意する」の語彙</a:t>
            </a:r>
          </a:p>
          <a:p>
            <a:pPr algn="l">
              <a:lnSpc>
                <a:spcPct val="150000"/>
              </a:lnSpc>
            </a:pPr>
            <a:r>
              <a:rPr sz="1000" b="0">
                <a:solidFill>
                  <a:srgbClr val="1E232D"/>
                </a:solidFill>
                <a:latin typeface="Meiryo"/>
              </a:rPr>
              <a:t>【Web連動】「レール数計算パズル」で反復ドリル。PDFには切り上げ計算・長距離分割・</a:t>
            </a:r>
          </a:p>
          <a:p>
            <a:pPr algn="l">
              <a:lnSpc>
                <a:spcPct val="150000"/>
              </a:lnSpc>
            </a:pPr>
            <a:r>
              <a:rPr sz="1000" b="0">
                <a:solidFill>
                  <a:srgbClr val="1E232D"/>
                </a:solidFill>
                <a:latin typeface="Meiryo"/>
              </a:rPr>
              <a:t>           パワードレール間隔最適化の攻略 → マイクラ内で一段上のコース設計が可能に</a:t>
            </a:r>
          </a:p>
        </p:txBody>
      </p:sp>
      <p:sp>
        <p:nvSpPr>
          <p:cNvPr id="79" name="TextBox 78"/>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11 / 17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11. 15ミッション一覧</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540000"/>
          </a:xfrm>
          <a:prstGeom prst="rect">
            <a:avLst/>
          </a:prstGeom>
          <a:noFill/>
          <a:ln>
            <a:noFill/>
          </a:ln>
        </p:spPr>
        <p:txBody>
          <a:bodyPr wrap="square" lIns="54000" tIns="28800" rIns="54000" bIns="28800" anchor="t">
            <a:spAutoFit/>
          </a:bodyPr>
          <a:lstStyle/>
          <a:p>
            <a:pPr algn="ctr">
              <a:lnSpc>
                <a:spcPct val="120000"/>
              </a:lnSpc>
            </a:pPr>
            <a:r>
              <a:rPr sz="1100" b="1">
                <a:solidFill>
                  <a:srgbClr val="203A60"/>
                </a:solidFill>
                <a:latin typeface="Meiryo"/>
              </a:rPr>
              <a:t>4教科 × 3難易度 = 12ミッション ＋ 物理ラボ 3ミッション ＝ 計15ミッション</a:t>
            </a:r>
          </a:p>
        </p:txBody>
      </p:sp>
      <p:sp>
        <p:nvSpPr>
          <p:cNvPr id="5" name="Rectangle 4"/>
          <p:cNvSpPr/>
          <p:nvPr/>
        </p:nvSpPr>
        <p:spPr>
          <a:xfrm>
            <a:off x="540000" y="1872000"/>
            <a:ext cx="1152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872000"/>
            <a:ext cx="1152000" cy="324000"/>
          </a:xfrm>
          <a:prstGeom prst="rect">
            <a:avLst/>
          </a:prstGeom>
          <a:noFill/>
          <a:ln>
            <a:noFill/>
          </a:ln>
        </p:spPr>
        <p:txBody>
          <a:bodyPr wrap="square" lIns="54000" tIns="28800" rIns="54000" bIns="28800" anchor="ctr">
            <a:spAutoFit/>
          </a:bodyPr>
          <a:lstStyle/>
          <a:p>
            <a:pPr algn="ctr">
              <a:lnSpc>
                <a:spcPct val="120000"/>
              </a:lnSpc>
            </a:pPr>
            <a:r>
              <a:rPr sz="1000" b="1">
                <a:solidFill>
                  <a:srgbClr val="FFFFFF"/>
                </a:solidFill>
                <a:latin typeface="Meiryo"/>
              </a:rPr>
              <a:t>エリア</a:t>
            </a:r>
          </a:p>
        </p:txBody>
      </p:sp>
      <p:sp>
        <p:nvSpPr>
          <p:cNvPr id="7" name="Rectangle 6"/>
          <p:cNvSpPr/>
          <p:nvPr/>
        </p:nvSpPr>
        <p:spPr>
          <a:xfrm>
            <a:off x="1692000" y="1872000"/>
            <a:ext cx="1728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92000" y="1872000"/>
            <a:ext cx="1728000" cy="324000"/>
          </a:xfrm>
          <a:prstGeom prst="rect">
            <a:avLst/>
          </a:prstGeom>
          <a:noFill/>
          <a:ln>
            <a:noFill/>
          </a:ln>
        </p:spPr>
        <p:txBody>
          <a:bodyPr wrap="square" lIns="54000" tIns="28800" rIns="54000" bIns="28800" anchor="ctr">
            <a:spAutoFit/>
          </a:bodyPr>
          <a:lstStyle/>
          <a:p>
            <a:pPr algn="ctr">
              <a:lnSpc>
                <a:spcPct val="120000"/>
              </a:lnSpc>
            </a:pPr>
            <a:r>
              <a:rPr sz="1000" b="1">
                <a:solidFill>
                  <a:srgbClr val="FFFFFF"/>
                </a:solidFill>
                <a:latin typeface="Meiryo"/>
              </a:rPr>
              <a:t>易（小1〜2想定）</a:t>
            </a:r>
          </a:p>
        </p:txBody>
      </p:sp>
      <p:sp>
        <p:nvSpPr>
          <p:cNvPr id="9" name="Rectangle 8"/>
          <p:cNvSpPr/>
          <p:nvPr/>
        </p:nvSpPr>
        <p:spPr>
          <a:xfrm>
            <a:off x="3420000" y="1872000"/>
            <a:ext cx="1800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0000" y="1872000"/>
            <a:ext cx="1800000" cy="324000"/>
          </a:xfrm>
          <a:prstGeom prst="rect">
            <a:avLst/>
          </a:prstGeom>
          <a:noFill/>
          <a:ln>
            <a:noFill/>
          </a:ln>
        </p:spPr>
        <p:txBody>
          <a:bodyPr wrap="square" lIns="54000" tIns="28800" rIns="54000" bIns="28800" anchor="ctr">
            <a:spAutoFit/>
          </a:bodyPr>
          <a:lstStyle/>
          <a:p>
            <a:pPr algn="ctr">
              <a:lnSpc>
                <a:spcPct val="120000"/>
              </a:lnSpc>
            </a:pPr>
            <a:r>
              <a:rPr sz="1000" b="1">
                <a:solidFill>
                  <a:srgbClr val="FFFFFF"/>
                </a:solidFill>
                <a:latin typeface="Meiryo"/>
              </a:rPr>
              <a:t>中（小3〜4想定）</a:t>
            </a:r>
          </a:p>
        </p:txBody>
      </p:sp>
      <p:sp>
        <p:nvSpPr>
          <p:cNvPr id="11" name="Rectangle 10"/>
          <p:cNvSpPr/>
          <p:nvPr/>
        </p:nvSpPr>
        <p:spPr>
          <a:xfrm>
            <a:off x="5220000" y="1872000"/>
            <a:ext cx="1800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20000" y="1872000"/>
            <a:ext cx="1800000" cy="324000"/>
          </a:xfrm>
          <a:prstGeom prst="rect">
            <a:avLst/>
          </a:prstGeom>
          <a:noFill/>
          <a:ln>
            <a:noFill/>
          </a:ln>
        </p:spPr>
        <p:txBody>
          <a:bodyPr wrap="square" lIns="54000" tIns="28800" rIns="54000" bIns="28800" anchor="ctr">
            <a:spAutoFit/>
          </a:bodyPr>
          <a:lstStyle/>
          <a:p>
            <a:pPr algn="ctr">
              <a:lnSpc>
                <a:spcPct val="120000"/>
              </a:lnSpc>
            </a:pPr>
            <a:r>
              <a:rPr sz="1000" b="1">
                <a:solidFill>
                  <a:srgbClr val="FFFFFF"/>
                </a:solidFill>
                <a:latin typeface="Meiryo"/>
              </a:rPr>
              <a:t>上（小5〜・中高）</a:t>
            </a:r>
          </a:p>
        </p:txBody>
      </p:sp>
      <p:sp>
        <p:nvSpPr>
          <p:cNvPr id="13" name="Rectangle 12"/>
          <p:cNvSpPr/>
          <p:nvPr/>
        </p:nvSpPr>
        <p:spPr>
          <a:xfrm>
            <a:off x="540000" y="2196000"/>
            <a:ext cx="1152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0000" y="2196000"/>
            <a:ext cx="1152000" cy="792000"/>
          </a:xfrm>
          <a:prstGeom prst="rect">
            <a:avLst/>
          </a:prstGeom>
          <a:noFill/>
          <a:ln>
            <a:noFill/>
          </a:ln>
        </p:spPr>
        <p:txBody>
          <a:bodyPr wrap="square" lIns="54000" tIns="28800" rIns="54000" bIns="28800" anchor="ctr">
            <a:spAutoFit/>
          </a:bodyPr>
          <a:lstStyle/>
          <a:p>
            <a:pPr algn="ctr">
              <a:lnSpc>
                <a:spcPct val="130000"/>
              </a:lnSpc>
            </a:pPr>
            <a:r>
              <a:rPr sz="1050" b="1">
                <a:solidFill>
                  <a:srgbClr val="203A60"/>
                </a:solidFill>
                <a:latin typeface="Meiryo"/>
              </a:rPr>
              <a:t>算数</a:t>
            </a:r>
          </a:p>
        </p:txBody>
      </p:sp>
      <p:sp>
        <p:nvSpPr>
          <p:cNvPr id="15" name="Rectangle 14"/>
          <p:cNvSpPr/>
          <p:nvPr/>
        </p:nvSpPr>
        <p:spPr>
          <a:xfrm>
            <a:off x="1692000" y="2196000"/>
            <a:ext cx="1728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746000" y="2196000"/>
            <a:ext cx="1656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動物エサ配り</a:t>
            </a:r>
          </a:p>
          <a:p>
            <a:pPr algn="l">
              <a:lnSpc>
                <a:spcPct val="140000"/>
              </a:lnSpc>
            </a:pPr>
            <a:r>
              <a:rPr sz="950" b="0">
                <a:solidFill>
                  <a:srgbClr val="1E232D"/>
                </a:solidFill>
                <a:latin typeface="Meiryo"/>
              </a:rPr>
              <a:t>（四則演算・足し算）</a:t>
            </a:r>
          </a:p>
        </p:txBody>
      </p:sp>
      <p:sp>
        <p:nvSpPr>
          <p:cNvPr id="17" name="Rectangle 16"/>
          <p:cNvSpPr/>
          <p:nvPr/>
        </p:nvSpPr>
        <p:spPr>
          <a:xfrm>
            <a:off x="3420000" y="2196000"/>
            <a:ext cx="1800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000" y="2196000"/>
            <a:ext cx="1728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パン分配</a:t>
            </a:r>
          </a:p>
          <a:p>
            <a:pPr algn="l">
              <a:lnSpc>
                <a:spcPct val="140000"/>
              </a:lnSpc>
            </a:pPr>
            <a:r>
              <a:rPr sz="950" b="0">
                <a:solidFill>
                  <a:srgbClr val="1E232D"/>
                </a:solidFill>
                <a:latin typeface="Meiryo"/>
              </a:rPr>
              <a:t>（割り算・余り）</a:t>
            </a:r>
          </a:p>
        </p:txBody>
      </p:sp>
      <p:sp>
        <p:nvSpPr>
          <p:cNvPr id="19" name="Rectangle 18"/>
          <p:cNvSpPr/>
          <p:nvPr/>
        </p:nvSpPr>
        <p:spPr>
          <a:xfrm>
            <a:off x="5220000" y="2196000"/>
            <a:ext cx="1800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74000" y="2196000"/>
            <a:ext cx="1728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倉庫の体積計算</a:t>
            </a:r>
          </a:p>
          <a:p>
            <a:pPr algn="l">
              <a:lnSpc>
                <a:spcPct val="140000"/>
              </a:lnSpc>
            </a:pPr>
            <a:r>
              <a:rPr sz="950" b="0">
                <a:solidFill>
                  <a:srgbClr val="1E232D"/>
                </a:solidFill>
                <a:latin typeface="Meiryo"/>
              </a:rPr>
              <a:t>（立体・三次元）</a:t>
            </a:r>
          </a:p>
        </p:txBody>
      </p:sp>
      <p:sp>
        <p:nvSpPr>
          <p:cNvPr id="21" name="Rectangle 20"/>
          <p:cNvSpPr/>
          <p:nvPr/>
        </p:nvSpPr>
        <p:spPr>
          <a:xfrm>
            <a:off x="540000" y="2988000"/>
            <a:ext cx="1152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0000" y="2988000"/>
            <a:ext cx="1152000" cy="792000"/>
          </a:xfrm>
          <a:prstGeom prst="rect">
            <a:avLst/>
          </a:prstGeom>
          <a:noFill/>
          <a:ln>
            <a:noFill/>
          </a:ln>
        </p:spPr>
        <p:txBody>
          <a:bodyPr wrap="square" lIns="54000" tIns="28800" rIns="54000" bIns="28800" anchor="ctr">
            <a:spAutoFit/>
          </a:bodyPr>
          <a:lstStyle/>
          <a:p>
            <a:pPr algn="ctr">
              <a:lnSpc>
                <a:spcPct val="130000"/>
              </a:lnSpc>
            </a:pPr>
            <a:r>
              <a:rPr sz="1050" b="1">
                <a:solidFill>
                  <a:srgbClr val="203A60"/>
                </a:solidFill>
                <a:latin typeface="Meiryo"/>
              </a:rPr>
              <a:t>理科</a:t>
            </a:r>
          </a:p>
        </p:txBody>
      </p:sp>
      <p:sp>
        <p:nvSpPr>
          <p:cNvPr id="23" name="Rectangle 22"/>
          <p:cNvSpPr/>
          <p:nvPr/>
        </p:nvSpPr>
        <p:spPr>
          <a:xfrm>
            <a:off x="1692000" y="2988000"/>
            <a:ext cx="1728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46000" y="2988000"/>
            <a:ext cx="1656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元素収集</a:t>
            </a:r>
          </a:p>
          <a:p>
            <a:pPr algn="l">
              <a:lnSpc>
                <a:spcPct val="140000"/>
              </a:lnSpc>
            </a:pPr>
            <a:r>
              <a:rPr sz="950" b="0">
                <a:solidFill>
                  <a:srgbClr val="1E232D"/>
                </a:solidFill>
                <a:latin typeface="Meiryo"/>
              </a:rPr>
              <a:t>（元素記号・基礎）</a:t>
            </a:r>
          </a:p>
        </p:txBody>
      </p:sp>
      <p:sp>
        <p:nvSpPr>
          <p:cNvPr id="25" name="Rectangle 24"/>
          <p:cNvSpPr/>
          <p:nvPr/>
        </p:nvSpPr>
        <p:spPr>
          <a:xfrm>
            <a:off x="3420000" y="2988000"/>
            <a:ext cx="1800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74000" y="2988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元素合成</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化合物・H₂O等</a:t>
            </a:r>
            <a:r>
              <a:rPr sz="950" b="0" dirty="0">
                <a:solidFill>
                  <a:srgbClr val="1E232D"/>
                </a:solidFill>
                <a:latin typeface="Meiryo"/>
              </a:rPr>
              <a:t>）</a:t>
            </a:r>
          </a:p>
        </p:txBody>
      </p:sp>
      <p:sp>
        <p:nvSpPr>
          <p:cNvPr id="27" name="Rectangle 26"/>
          <p:cNvSpPr/>
          <p:nvPr/>
        </p:nvSpPr>
        <p:spPr>
          <a:xfrm>
            <a:off x="5220000" y="2988000"/>
            <a:ext cx="1800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74000" y="2988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ポーション調合</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反応・変化</a:t>
            </a:r>
            <a:r>
              <a:rPr sz="950" b="0" dirty="0">
                <a:solidFill>
                  <a:srgbClr val="1E232D"/>
                </a:solidFill>
                <a:latin typeface="Meiryo"/>
              </a:rPr>
              <a:t>）</a:t>
            </a:r>
          </a:p>
        </p:txBody>
      </p:sp>
      <p:sp>
        <p:nvSpPr>
          <p:cNvPr id="29" name="Rectangle 28"/>
          <p:cNvSpPr/>
          <p:nvPr/>
        </p:nvSpPr>
        <p:spPr>
          <a:xfrm>
            <a:off x="540000" y="3780000"/>
            <a:ext cx="1152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0000" y="3780000"/>
            <a:ext cx="1152000" cy="792000"/>
          </a:xfrm>
          <a:prstGeom prst="rect">
            <a:avLst/>
          </a:prstGeom>
          <a:noFill/>
          <a:ln>
            <a:noFill/>
          </a:ln>
        </p:spPr>
        <p:txBody>
          <a:bodyPr wrap="square" lIns="54000" tIns="28800" rIns="54000" bIns="28800" anchor="ctr">
            <a:spAutoFit/>
          </a:bodyPr>
          <a:lstStyle/>
          <a:p>
            <a:pPr algn="ctr">
              <a:lnSpc>
                <a:spcPct val="130000"/>
              </a:lnSpc>
            </a:pPr>
            <a:r>
              <a:rPr sz="1050" b="1">
                <a:solidFill>
                  <a:srgbClr val="203A60"/>
                </a:solidFill>
                <a:latin typeface="Meiryo"/>
              </a:rPr>
              <a:t>社会</a:t>
            </a:r>
          </a:p>
        </p:txBody>
      </p:sp>
      <p:sp>
        <p:nvSpPr>
          <p:cNvPr id="31" name="Rectangle 30"/>
          <p:cNvSpPr/>
          <p:nvPr/>
        </p:nvSpPr>
        <p:spPr>
          <a:xfrm>
            <a:off x="1692000" y="3780000"/>
            <a:ext cx="1728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746000" y="3780000"/>
            <a:ext cx="1656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地図の宝探し</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地図記号・方角</a:t>
            </a:r>
            <a:r>
              <a:rPr sz="950" b="0" dirty="0">
                <a:solidFill>
                  <a:srgbClr val="1E232D"/>
                </a:solidFill>
                <a:latin typeface="Meiryo"/>
              </a:rPr>
              <a:t>）</a:t>
            </a:r>
          </a:p>
        </p:txBody>
      </p:sp>
      <p:sp>
        <p:nvSpPr>
          <p:cNvPr id="33" name="Rectangle 32"/>
          <p:cNvSpPr/>
          <p:nvPr/>
        </p:nvSpPr>
        <p:spPr>
          <a:xfrm>
            <a:off x="3420000" y="3780000"/>
            <a:ext cx="1800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74000" y="3780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立地シミュレーション</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地形・立地条件</a:t>
            </a:r>
            <a:r>
              <a:rPr sz="950" b="0" dirty="0">
                <a:solidFill>
                  <a:srgbClr val="1E232D"/>
                </a:solidFill>
                <a:latin typeface="Meiryo"/>
              </a:rPr>
              <a:t>）</a:t>
            </a:r>
          </a:p>
        </p:txBody>
      </p:sp>
      <p:sp>
        <p:nvSpPr>
          <p:cNvPr id="35" name="Rectangle 34"/>
          <p:cNvSpPr/>
          <p:nvPr/>
        </p:nvSpPr>
        <p:spPr>
          <a:xfrm>
            <a:off x="5220000" y="3780000"/>
            <a:ext cx="1800000" cy="79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74000" y="3780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特産品交易ルート</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特産品・最適化</a:t>
            </a:r>
            <a:r>
              <a:rPr sz="950" b="0" dirty="0">
                <a:solidFill>
                  <a:srgbClr val="1E232D"/>
                </a:solidFill>
                <a:latin typeface="Meiryo"/>
              </a:rPr>
              <a:t>）</a:t>
            </a:r>
          </a:p>
        </p:txBody>
      </p:sp>
      <p:sp>
        <p:nvSpPr>
          <p:cNvPr id="37" name="Rectangle 36"/>
          <p:cNvSpPr/>
          <p:nvPr/>
        </p:nvSpPr>
        <p:spPr>
          <a:xfrm>
            <a:off x="540000" y="4572000"/>
            <a:ext cx="1152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0000" y="4572000"/>
            <a:ext cx="1152000" cy="792000"/>
          </a:xfrm>
          <a:prstGeom prst="rect">
            <a:avLst/>
          </a:prstGeom>
          <a:noFill/>
          <a:ln>
            <a:noFill/>
          </a:ln>
        </p:spPr>
        <p:txBody>
          <a:bodyPr wrap="square" lIns="54000" tIns="28800" rIns="54000" bIns="28800" anchor="ctr">
            <a:spAutoFit/>
          </a:bodyPr>
          <a:lstStyle/>
          <a:p>
            <a:pPr algn="ctr">
              <a:lnSpc>
                <a:spcPct val="130000"/>
              </a:lnSpc>
            </a:pPr>
            <a:r>
              <a:rPr sz="1050" b="1">
                <a:solidFill>
                  <a:srgbClr val="203A60"/>
                </a:solidFill>
                <a:latin typeface="Meiryo"/>
              </a:rPr>
              <a:t>プロ</a:t>
            </a:r>
          </a:p>
          <a:p>
            <a:pPr algn="ctr">
              <a:lnSpc>
                <a:spcPct val="130000"/>
              </a:lnSpc>
            </a:pPr>
            <a:r>
              <a:rPr sz="1050" b="1">
                <a:solidFill>
                  <a:srgbClr val="203A60"/>
                </a:solidFill>
                <a:latin typeface="Meiryo"/>
              </a:rPr>
              <a:t>グラミング</a:t>
            </a:r>
          </a:p>
        </p:txBody>
      </p:sp>
      <p:sp>
        <p:nvSpPr>
          <p:cNvPr id="39" name="Rectangle 38"/>
          <p:cNvSpPr/>
          <p:nvPr/>
        </p:nvSpPr>
        <p:spPr>
          <a:xfrm>
            <a:off x="1692000" y="4572000"/>
            <a:ext cx="1728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746000" y="4572000"/>
            <a:ext cx="1656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エージェント移動</a:t>
            </a:r>
          </a:p>
          <a:p>
            <a:pPr algn="l">
              <a:lnSpc>
                <a:spcPct val="140000"/>
              </a:lnSpc>
            </a:pPr>
            <a:r>
              <a:rPr sz="950" b="0">
                <a:solidFill>
                  <a:srgbClr val="1E232D"/>
                </a:solidFill>
                <a:latin typeface="Meiryo"/>
              </a:rPr>
              <a:t>（逐次処理）</a:t>
            </a:r>
          </a:p>
        </p:txBody>
      </p:sp>
      <p:sp>
        <p:nvSpPr>
          <p:cNvPr id="41" name="Rectangle 40"/>
          <p:cNvSpPr/>
          <p:nvPr/>
        </p:nvSpPr>
        <p:spPr>
          <a:xfrm>
            <a:off x="3420000" y="4572000"/>
            <a:ext cx="1800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000" y="4572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ループ塀</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繰り返し・効率化</a:t>
            </a:r>
            <a:r>
              <a:rPr sz="950" b="0" dirty="0">
                <a:solidFill>
                  <a:srgbClr val="1E232D"/>
                </a:solidFill>
                <a:latin typeface="Meiryo"/>
              </a:rPr>
              <a:t>）</a:t>
            </a:r>
          </a:p>
        </p:txBody>
      </p:sp>
      <p:sp>
        <p:nvSpPr>
          <p:cNvPr id="43" name="Rectangle 42"/>
          <p:cNvSpPr/>
          <p:nvPr/>
        </p:nvSpPr>
        <p:spPr>
          <a:xfrm>
            <a:off x="5220000" y="4572000"/>
            <a:ext cx="1800000" cy="792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74000" y="4572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条件分岐装置</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条件・変数・ロジック</a:t>
            </a:r>
            <a:r>
              <a:rPr sz="950" b="0" dirty="0">
                <a:solidFill>
                  <a:srgbClr val="1E232D"/>
                </a:solidFill>
                <a:latin typeface="Meiryo"/>
              </a:rPr>
              <a:t>）</a:t>
            </a:r>
          </a:p>
        </p:txBody>
      </p:sp>
      <p:sp>
        <p:nvSpPr>
          <p:cNvPr id="45" name="Rectangle 44"/>
          <p:cNvSpPr/>
          <p:nvPr/>
        </p:nvSpPr>
        <p:spPr>
          <a:xfrm>
            <a:off x="540000" y="5364000"/>
            <a:ext cx="1152000" cy="792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0000" y="5364000"/>
            <a:ext cx="1152000" cy="792000"/>
          </a:xfrm>
          <a:prstGeom prst="rect">
            <a:avLst/>
          </a:prstGeom>
          <a:noFill/>
          <a:ln>
            <a:noFill/>
          </a:ln>
        </p:spPr>
        <p:txBody>
          <a:bodyPr wrap="square" lIns="54000" tIns="28800" rIns="54000" bIns="28800" anchor="ctr">
            <a:spAutoFit/>
          </a:bodyPr>
          <a:lstStyle/>
          <a:p>
            <a:pPr algn="ctr">
              <a:lnSpc>
                <a:spcPct val="130000"/>
              </a:lnSpc>
            </a:pPr>
            <a:r>
              <a:rPr sz="1050" b="1">
                <a:solidFill>
                  <a:srgbClr val="C98A1B"/>
                </a:solidFill>
                <a:latin typeface="Meiryo"/>
              </a:rPr>
              <a:t>★物理ラボ</a:t>
            </a:r>
          </a:p>
          <a:p>
            <a:pPr algn="ctr">
              <a:lnSpc>
                <a:spcPct val="130000"/>
              </a:lnSpc>
            </a:pPr>
            <a:r>
              <a:rPr sz="1050" b="1">
                <a:solidFill>
                  <a:srgbClr val="C98A1B"/>
                </a:solidFill>
                <a:latin typeface="Meiryo"/>
              </a:rPr>
              <a:t>（算数×理科）</a:t>
            </a:r>
          </a:p>
        </p:txBody>
      </p:sp>
      <p:sp>
        <p:nvSpPr>
          <p:cNvPr id="47" name="Rectangle 46"/>
          <p:cNvSpPr/>
          <p:nvPr/>
        </p:nvSpPr>
        <p:spPr>
          <a:xfrm>
            <a:off x="1692000" y="5364000"/>
            <a:ext cx="1728000" cy="792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746000" y="5364000"/>
            <a:ext cx="1656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トロッコ直線コース</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乗り物の基本</a:t>
            </a:r>
            <a:r>
              <a:rPr sz="950" b="0" dirty="0">
                <a:solidFill>
                  <a:srgbClr val="1E232D"/>
                </a:solidFill>
                <a:latin typeface="Meiryo"/>
              </a:rPr>
              <a:t>）</a:t>
            </a:r>
          </a:p>
        </p:txBody>
      </p:sp>
      <p:sp>
        <p:nvSpPr>
          <p:cNvPr id="49" name="Rectangle 48"/>
          <p:cNvSpPr/>
          <p:nvPr/>
        </p:nvSpPr>
        <p:spPr>
          <a:xfrm>
            <a:off x="3420000" y="5364000"/>
            <a:ext cx="1800000" cy="792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000" y="5364000"/>
            <a:ext cx="1728000" cy="792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レール数計算</a:t>
            </a:r>
            <a:endParaRPr sz="950" b="0" dirty="0">
              <a:solidFill>
                <a:srgbClr val="1E232D"/>
              </a:solidFill>
              <a:latin typeface="Meiryo"/>
            </a:endParaRPr>
          </a:p>
          <a:p>
            <a:pPr algn="l">
              <a:lnSpc>
                <a:spcPct val="140000"/>
              </a:lnSpc>
            </a:pPr>
            <a:r>
              <a:rPr sz="950" b="0" dirty="0">
                <a:solidFill>
                  <a:srgbClr val="1E232D"/>
                </a:solidFill>
                <a:latin typeface="Meiryo"/>
              </a:rPr>
              <a:t>（</a:t>
            </a:r>
            <a:r>
              <a:rPr sz="950" b="0" dirty="0" err="1">
                <a:solidFill>
                  <a:srgbClr val="1E232D"/>
                </a:solidFill>
                <a:latin typeface="Meiryo"/>
              </a:rPr>
              <a:t>距離・材料計算</a:t>
            </a:r>
            <a:r>
              <a:rPr sz="950" b="0" dirty="0">
                <a:solidFill>
                  <a:srgbClr val="1E232D"/>
                </a:solidFill>
                <a:latin typeface="Meiryo"/>
              </a:rPr>
              <a:t>）</a:t>
            </a:r>
          </a:p>
        </p:txBody>
      </p:sp>
      <p:sp>
        <p:nvSpPr>
          <p:cNvPr id="51" name="Rectangle 50"/>
          <p:cNvSpPr/>
          <p:nvPr/>
        </p:nvSpPr>
        <p:spPr>
          <a:xfrm>
            <a:off x="5220000" y="5364000"/>
            <a:ext cx="1800000" cy="792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274000" y="5364000"/>
            <a:ext cx="1728000" cy="792000"/>
          </a:xfrm>
          <a:prstGeom prst="rect">
            <a:avLst/>
          </a:prstGeom>
          <a:noFill/>
          <a:ln>
            <a:noFill/>
          </a:ln>
        </p:spPr>
        <p:txBody>
          <a:bodyPr wrap="square" lIns="54000" tIns="28800" rIns="54000" bIns="28800" anchor="ctr">
            <a:spAutoFit/>
          </a:bodyPr>
          <a:lstStyle/>
          <a:p>
            <a:pPr algn="l">
              <a:lnSpc>
                <a:spcPct val="140000"/>
              </a:lnSpc>
            </a:pPr>
            <a:r>
              <a:rPr sz="950" b="0">
                <a:solidFill>
                  <a:srgbClr val="1E232D"/>
                </a:solidFill>
                <a:latin typeface="Meiryo"/>
              </a:rPr>
              <a:t>エネルギー最速コース</a:t>
            </a:r>
          </a:p>
          <a:p>
            <a:pPr algn="l">
              <a:lnSpc>
                <a:spcPct val="140000"/>
              </a:lnSpc>
            </a:pPr>
            <a:r>
              <a:rPr sz="950" b="0">
                <a:solidFill>
                  <a:srgbClr val="1E232D"/>
                </a:solidFill>
                <a:latin typeface="Meiryo"/>
              </a:rPr>
              <a:t>（位置E・運動E）</a:t>
            </a:r>
          </a:p>
        </p:txBody>
      </p:sp>
      <p:sp>
        <p:nvSpPr>
          <p:cNvPr id="53" name="Rectangle 52"/>
          <p:cNvSpPr/>
          <p:nvPr/>
        </p:nvSpPr>
        <p:spPr>
          <a:xfrm>
            <a:off x="540000" y="6336000"/>
            <a:ext cx="6480000" cy="72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4000" y="6390000"/>
            <a:ext cx="6192000" cy="251999"/>
          </a:xfrm>
          <a:prstGeom prst="rect">
            <a:avLst/>
          </a:prstGeom>
          <a:noFill/>
          <a:ln>
            <a:noFill/>
          </a:ln>
        </p:spPr>
        <p:txBody>
          <a:bodyPr wrap="square" lIns="54000" tIns="28800" rIns="54000" bIns="28800" anchor="t">
            <a:spAutoFit/>
          </a:bodyPr>
          <a:lstStyle/>
          <a:p>
            <a:pPr algn="l">
              <a:lnSpc>
                <a:spcPct val="120000"/>
              </a:lnSpc>
            </a:pPr>
            <a:r>
              <a:rPr sz="1100" b="1">
                <a:solidFill>
                  <a:srgbClr val="FFFFFF"/>
                </a:solidFill>
                <a:latin typeface="Meiryo"/>
              </a:rPr>
              <a:t>卒業エリア（全15ミッションクリア後に解放）</a:t>
            </a:r>
          </a:p>
        </p:txBody>
      </p:sp>
      <p:sp>
        <p:nvSpPr>
          <p:cNvPr id="55" name="TextBox 54"/>
          <p:cNvSpPr txBox="1"/>
          <p:nvPr/>
        </p:nvSpPr>
        <p:spPr>
          <a:xfrm>
            <a:off x="684000" y="6642000"/>
            <a:ext cx="6192000" cy="432000"/>
          </a:xfrm>
          <a:prstGeom prst="rect">
            <a:avLst/>
          </a:prstGeom>
          <a:noFill/>
          <a:ln>
            <a:noFill/>
          </a:ln>
        </p:spPr>
        <p:txBody>
          <a:bodyPr wrap="square" lIns="54000" tIns="28800" rIns="54000" bIns="28800" anchor="t">
            <a:spAutoFit/>
          </a:bodyPr>
          <a:lstStyle/>
          <a:p>
            <a:pPr algn="l">
              <a:lnSpc>
                <a:spcPct val="140000"/>
              </a:lnSpc>
            </a:pPr>
            <a:r>
              <a:rPr sz="950" b="0">
                <a:solidFill>
                  <a:srgbClr val="FFFFFF"/>
                </a:solidFill>
                <a:latin typeface="Meiryo"/>
              </a:rPr>
              <a:t>・限定的な自由建築／サバイバル風体験ゾーン</a:t>
            </a:r>
          </a:p>
          <a:p>
            <a:pPr algn="l">
              <a:lnSpc>
                <a:spcPct val="140000"/>
              </a:lnSpc>
            </a:pPr>
            <a:r>
              <a:rPr sz="950" b="0">
                <a:solidFill>
                  <a:srgbClr val="FFFFFF"/>
                </a:solidFill>
                <a:latin typeface="Meiryo"/>
              </a:rPr>
              <a:t>・英語看板・NASA/ケンブリッジへの誘導掲示／YouTuber紹介</a:t>
            </a:r>
          </a:p>
        </p:txBody>
      </p:sp>
      <p:sp>
        <p:nvSpPr>
          <p:cNvPr id="56" name="TextBox 55"/>
          <p:cNvSpPr txBox="1"/>
          <p:nvPr/>
        </p:nvSpPr>
        <p:spPr>
          <a:xfrm>
            <a:off x="540000" y="9972000"/>
            <a:ext cx="6480000" cy="432000"/>
          </a:xfrm>
          <a:prstGeom prst="rect">
            <a:avLst/>
          </a:prstGeom>
          <a:noFill/>
          <a:ln>
            <a:noFill/>
          </a:ln>
        </p:spPr>
        <p:txBody>
          <a:bodyPr wrap="square" lIns="54000" tIns="28800" rIns="54000" bIns="28800" anchor="t">
            <a:spAutoFit/>
          </a:bodyPr>
          <a:lstStyle/>
          <a:p>
            <a:pPr algn="l">
              <a:lnSpc>
                <a:spcPct val="140000"/>
              </a:lnSpc>
            </a:pPr>
            <a:r>
              <a:rPr sz="950" b="0">
                <a:solidFill>
                  <a:srgbClr val="6E7682"/>
                </a:solidFill>
                <a:latin typeface="Meiryo"/>
              </a:rPr>
              <a:t>※ 国語は全ミッションのNPCセリフ・看板・クエスト文で素地として自然統合。独立エリアなし。</a:t>
            </a:r>
          </a:p>
        </p:txBody>
      </p:sp>
      <p:sp>
        <p:nvSpPr>
          <p:cNvPr id="57" name="TextBox 56"/>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12 / 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12. Webサイト設計（15ゲーム）</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役割分担：Webで反復、マイクラで応用</a:t>
            </a:r>
          </a:p>
        </p:txBody>
      </p:sp>
      <p:sp>
        <p:nvSpPr>
          <p:cNvPr id="6" name="TextBox 5"/>
          <p:cNvSpPr txBox="1"/>
          <p:nvPr/>
        </p:nvSpPr>
        <p:spPr>
          <a:xfrm>
            <a:off x="540000" y="1440000"/>
            <a:ext cx="6480000" cy="900000"/>
          </a:xfrm>
          <a:prstGeom prst="rect">
            <a:avLst/>
          </a:prstGeom>
          <a:noFill/>
          <a:ln>
            <a:noFill/>
          </a:ln>
        </p:spPr>
        <p:txBody>
          <a:bodyPr wrap="square" lIns="54000" tIns="28800" rIns="54000" bIns="28800" anchor="t">
            <a:spAutoFit/>
          </a:bodyPr>
          <a:lstStyle/>
          <a:p>
            <a:pPr algn="l">
              <a:lnSpc>
                <a:spcPct val="160000"/>
              </a:lnSpc>
            </a:pPr>
            <a:r>
              <a:rPr sz="1050" b="0">
                <a:solidFill>
                  <a:srgbClr val="1E232D"/>
                </a:solidFill>
                <a:latin typeface="Meiryo"/>
              </a:rPr>
              <a:t>・Webサイト：マイクラで扱いづらい反復ドリル・スコア競争を担当</a:t>
            </a:r>
          </a:p>
          <a:p>
            <a:pPr algn="l">
              <a:lnSpc>
                <a:spcPct val="160000"/>
              </a:lnSpc>
            </a:pPr>
            <a:r>
              <a:rPr sz="1050" b="0">
                <a:solidFill>
                  <a:srgbClr val="1E232D"/>
                </a:solidFill>
                <a:latin typeface="Meiryo"/>
              </a:rPr>
              <a:t>・ブラウザで完結、インストール不要、スタッフ負担ゼロ</a:t>
            </a:r>
          </a:p>
          <a:p>
            <a:pPr algn="l">
              <a:lnSpc>
                <a:spcPct val="160000"/>
              </a:lnSpc>
            </a:pPr>
            <a:r>
              <a:rPr sz="1050" b="0">
                <a:solidFill>
                  <a:srgbClr val="1E232D"/>
                </a:solidFill>
                <a:latin typeface="Meiryo"/>
              </a:rPr>
              <a:t>・各ゲームは10ステージ構成（1ミッションの10問と対応）</a:t>
            </a:r>
          </a:p>
        </p:txBody>
      </p:sp>
      <p:sp>
        <p:nvSpPr>
          <p:cNvPr id="7" name="Rectangle 6"/>
          <p:cNvSpPr/>
          <p:nvPr/>
        </p:nvSpPr>
        <p:spPr>
          <a:xfrm>
            <a:off x="540000" y="29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8000" y="28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15ゲームラインナップ</a:t>
            </a:r>
          </a:p>
        </p:txBody>
      </p:sp>
      <p:sp>
        <p:nvSpPr>
          <p:cNvPr id="9" name="Rectangle 8"/>
          <p:cNvSpPr/>
          <p:nvPr/>
        </p:nvSpPr>
        <p:spPr>
          <a:xfrm>
            <a:off x="540000" y="3240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000" y="3240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a:t>
            </a:r>
          </a:p>
        </p:txBody>
      </p:sp>
      <p:sp>
        <p:nvSpPr>
          <p:cNvPr id="11" name="TextBox 10"/>
          <p:cNvSpPr txBox="1"/>
          <p:nvPr/>
        </p:nvSpPr>
        <p:spPr>
          <a:xfrm>
            <a:off x="900000" y="3240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算数易</a:t>
            </a:r>
          </a:p>
        </p:txBody>
      </p:sp>
      <p:sp>
        <p:nvSpPr>
          <p:cNvPr id="12" name="TextBox 11"/>
          <p:cNvSpPr txBox="1"/>
          <p:nvPr/>
        </p:nvSpPr>
        <p:spPr>
          <a:xfrm>
            <a:off x="1547999" y="3240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動物エサ足し算バトル</a:t>
            </a:r>
          </a:p>
        </p:txBody>
      </p:sp>
      <p:sp>
        <p:nvSpPr>
          <p:cNvPr id="13" name="Rectangle 12"/>
          <p:cNvSpPr/>
          <p:nvPr/>
        </p:nvSpPr>
        <p:spPr>
          <a:xfrm>
            <a:off x="2724000" y="3240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96000" y="3240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2</a:t>
            </a:r>
          </a:p>
        </p:txBody>
      </p:sp>
      <p:sp>
        <p:nvSpPr>
          <p:cNvPr id="15" name="TextBox 14"/>
          <p:cNvSpPr txBox="1"/>
          <p:nvPr/>
        </p:nvSpPr>
        <p:spPr>
          <a:xfrm>
            <a:off x="3084000" y="3240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算数中</a:t>
            </a:r>
          </a:p>
        </p:txBody>
      </p:sp>
      <p:sp>
        <p:nvSpPr>
          <p:cNvPr id="16" name="TextBox 15"/>
          <p:cNvSpPr txBox="1"/>
          <p:nvPr/>
        </p:nvSpPr>
        <p:spPr>
          <a:xfrm>
            <a:off x="3731999" y="3240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パン分配パズル</a:t>
            </a:r>
          </a:p>
        </p:txBody>
      </p:sp>
      <p:sp>
        <p:nvSpPr>
          <p:cNvPr id="17" name="Rectangle 16"/>
          <p:cNvSpPr/>
          <p:nvPr/>
        </p:nvSpPr>
        <p:spPr>
          <a:xfrm>
            <a:off x="4908000" y="3240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80000" y="3240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3</a:t>
            </a:r>
          </a:p>
        </p:txBody>
      </p:sp>
      <p:sp>
        <p:nvSpPr>
          <p:cNvPr id="19" name="TextBox 18"/>
          <p:cNvSpPr txBox="1"/>
          <p:nvPr/>
        </p:nvSpPr>
        <p:spPr>
          <a:xfrm>
            <a:off x="5268000" y="3240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算数上</a:t>
            </a:r>
          </a:p>
        </p:txBody>
      </p:sp>
      <p:sp>
        <p:nvSpPr>
          <p:cNvPr id="20" name="TextBox 19"/>
          <p:cNvSpPr txBox="1"/>
          <p:nvPr/>
        </p:nvSpPr>
        <p:spPr>
          <a:xfrm>
            <a:off x="5915999" y="3240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倉庫パッキング計算</a:t>
            </a:r>
          </a:p>
        </p:txBody>
      </p:sp>
      <p:sp>
        <p:nvSpPr>
          <p:cNvPr id="21" name="Rectangle 20"/>
          <p:cNvSpPr/>
          <p:nvPr/>
        </p:nvSpPr>
        <p:spPr>
          <a:xfrm>
            <a:off x="540000" y="3672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000" y="3672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4</a:t>
            </a:r>
          </a:p>
        </p:txBody>
      </p:sp>
      <p:sp>
        <p:nvSpPr>
          <p:cNvPr id="23" name="TextBox 22"/>
          <p:cNvSpPr txBox="1"/>
          <p:nvPr/>
        </p:nvSpPr>
        <p:spPr>
          <a:xfrm>
            <a:off x="900000" y="3672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理科易</a:t>
            </a:r>
          </a:p>
        </p:txBody>
      </p:sp>
      <p:sp>
        <p:nvSpPr>
          <p:cNvPr id="24" name="TextBox 23"/>
          <p:cNvSpPr txBox="1"/>
          <p:nvPr/>
        </p:nvSpPr>
        <p:spPr>
          <a:xfrm>
            <a:off x="1547999" y="3672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元素収集カード</a:t>
            </a:r>
          </a:p>
        </p:txBody>
      </p:sp>
      <p:sp>
        <p:nvSpPr>
          <p:cNvPr id="25" name="Rectangle 24"/>
          <p:cNvSpPr/>
          <p:nvPr/>
        </p:nvSpPr>
        <p:spPr>
          <a:xfrm>
            <a:off x="2724000" y="3672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96000" y="3672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5</a:t>
            </a:r>
          </a:p>
        </p:txBody>
      </p:sp>
      <p:sp>
        <p:nvSpPr>
          <p:cNvPr id="27" name="TextBox 26"/>
          <p:cNvSpPr txBox="1"/>
          <p:nvPr/>
        </p:nvSpPr>
        <p:spPr>
          <a:xfrm>
            <a:off x="3084000" y="3672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理科中</a:t>
            </a:r>
          </a:p>
        </p:txBody>
      </p:sp>
      <p:sp>
        <p:nvSpPr>
          <p:cNvPr id="28" name="TextBox 27"/>
          <p:cNvSpPr txBox="1"/>
          <p:nvPr/>
        </p:nvSpPr>
        <p:spPr>
          <a:xfrm>
            <a:off x="3731999" y="3672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元素コンバイナー</a:t>
            </a:r>
          </a:p>
        </p:txBody>
      </p:sp>
      <p:sp>
        <p:nvSpPr>
          <p:cNvPr id="29" name="Rectangle 28"/>
          <p:cNvSpPr/>
          <p:nvPr/>
        </p:nvSpPr>
        <p:spPr>
          <a:xfrm>
            <a:off x="4908000" y="3672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80000" y="3672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6</a:t>
            </a:r>
          </a:p>
        </p:txBody>
      </p:sp>
      <p:sp>
        <p:nvSpPr>
          <p:cNvPr id="31" name="TextBox 30"/>
          <p:cNvSpPr txBox="1"/>
          <p:nvPr/>
        </p:nvSpPr>
        <p:spPr>
          <a:xfrm>
            <a:off x="5268000" y="3672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理科上</a:t>
            </a:r>
          </a:p>
        </p:txBody>
      </p:sp>
      <p:sp>
        <p:nvSpPr>
          <p:cNvPr id="32" name="TextBox 31"/>
          <p:cNvSpPr txBox="1"/>
          <p:nvPr/>
        </p:nvSpPr>
        <p:spPr>
          <a:xfrm>
            <a:off x="5915999" y="3672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ポーション調合シミュ</a:t>
            </a:r>
          </a:p>
        </p:txBody>
      </p:sp>
      <p:sp>
        <p:nvSpPr>
          <p:cNvPr id="33" name="Rectangle 32"/>
          <p:cNvSpPr/>
          <p:nvPr/>
        </p:nvSpPr>
        <p:spPr>
          <a:xfrm>
            <a:off x="540000" y="4104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000" y="4104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7</a:t>
            </a:r>
          </a:p>
        </p:txBody>
      </p:sp>
      <p:sp>
        <p:nvSpPr>
          <p:cNvPr id="35" name="TextBox 34"/>
          <p:cNvSpPr txBox="1"/>
          <p:nvPr/>
        </p:nvSpPr>
        <p:spPr>
          <a:xfrm>
            <a:off x="900000" y="4104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社会易</a:t>
            </a:r>
          </a:p>
        </p:txBody>
      </p:sp>
      <p:sp>
        <p:nvSpPr>
          <p:cNvPr id="36" name="TextBox 35"/>
          <p:cNvSpPr txBox="1"/>
          <p:nvPr/>
        </p:nvSpPr>
        <p:spPr>
          <a:xfrm>
            <a:off x="1547999" y="4104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地図読みクエスト</a:t>
            </a:r>
          </a:p>
        </p:txBody>
      </p:sp>
      <p:sp>
        <p:nvSpPr>
          <p:cNvPr id="37" name="Rectangle 36"/>
          <p:cNvSpPr/>
          <p:nvPr/>
        </p:nvSpPr>
        <p:spPr>
          <a:xfrm>
            <a:off x="2724000" y="4104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796000" y="4104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8</a:t>
            </a:r>
          </a:p>
        </p:txBody>
      </p:sp>
      <p:sp>
        <p:nvSpPr>
          <p:cNvPr id="39" name="TextBox 38"/>
          <p:cNvSpPr txBox="1"/>
          <p:nvPr/>
        </p:nvSpPr>
        <p:spPr>
          <a:xfrm>
            <a:off x="3084000" y="4104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社会中</a:t>
            </a:r>
          </a:p>
        </p:txBody>
      </p:sp>
      <p:sp>
        <p:nvSpPr>
          <p:cNvPr id="40" name="TextBox 39"/>
          <p:cNvSpPr txBox="1"/>
          <p:nvPr/>
        </p:nvSpPr>
        <p:spPr>
          <a:xfrm>
            <a:off x="3731999" y="4104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立地シミュレーター</a:t>
            </a:r>
          </a:p>
        </p:txBody>
      </p:sp>
      <p:sp>
        <p:nvSpPr>
          <p:cNvPr id="41" name="Rectangle 40"/>
          <p:cNvSpPr/>
          <p:nvPr/>
        </p:nvSpPr>
        <p:spPr>
          <a:xfrm>
            <a:off x="4908000" y="4104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980000" y="4104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9</a:t>
            </a:r>
          </a:p>
        </p:txBody>
      </p:sp>
      <p:sp>
        <p:nvSpPr>
          <p:cNvPr id="43" name="TextBox 42"/>
          <p:cNvSpPr txBox="1"/>
          <p:nvPr/>
        </p:nvSpPr>
        <p:spPr>
          <a:xfrm>
            <a:off x="5268000" y="4104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社会上</a:t>
            </a:r>
          </a:p>
        </p:txBody>
      </p:sp>
      <p:sp>
        <p:nvSpPr>
          <p:cNvPr id="44" name="TextBox 43"/>
          <p:cNvSpPr txBox="1"/>
          <p:nvPr/>
        </p:nvSpPr>
        <p:spPr>
          <a:xfrm>
            <a:off x="5915999" y="4104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特産品交易ルートパズル</a:t>
            </a:r>
          </a:p>
        </p:txBody>
      </p:sp>
      <p:sp>
        <p:nvSpPr>
          <p:cNvPr id="45" name="Rectangle 44"/>
          <p:cNvSpPr/>
          <p:nvPr/>
        </p:nvSpPr>
        <p:spPr>
          <a:xfrm>
            <a:off x="540000" y="4536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2000" y="4536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10</a:t>
            </a:r>
          </a:p>
        </p:txBody>
      </p:sp>
      <p:sp>
        <p:nvSpPr>
          <p:cNvPr id="47" name="TextBox 46"/>
          <p:cNvSpPr txBox="1"/>
          <p:nvPr/>
        </p:nvSpPr>
        <p:spPr>
          <a:xfrm>
            <a:off x="900000" y="4536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プロ易</a:t>
            </a:r>
          </a:p>
        </p:txBody>
      </p:sp>
      <p:sp>
        <p:nvSpPr>
          <p:cNvPr id="48" name="TextBox 47"/>
          <p:cNvSpPr txBox="1"/>
          <p:nvPr/>
        </p:nvSpPr>
        <p:spPr>
          <a:xfrm>
            <a:off x="1547999" y="4536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エージェント移動パズル</a:t>
            </a:r>
          </a:p>
        </p:txBody>
      </p:sp>
      <p:sp>
        <p:nvSpPr>
          <p:cNvPr id="49" name="Rectangle 48"/>
          <p:cNvSpPr/>
          <p:nvPr/>
        </p:nvSpPr>
        <p:spPr>
          <a:xfrm>
            <a:off x="2724000" y="4536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796000" y="4536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11</a:t>
            </a:r>
          </a:p>
        </p:txBody>
      </p:sp>
      <p:sp>
        <p:nvSpPr>
          <p:cNvPr id="51" name="TextBox 50"/>
          <p:cNvSpPr txBox="1"/>
          <p:nvPr/>
        </p:nvSpPr>
        <p:spPr>
          <a:xfrm>
            <a:off x="3084000" y="4536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プロ中</a:t>
            </a:r>
          </a:p>
        </p:txBody>
      </p:sp>
      <p:sp>
        <p:nvSpPr>
          <p:cNvPr id="52" name="TextBox 51"/>
          <p:cNvSpPr txBox="1"/>
          <p:nvPr/>
        </p:nvSpPr>
        <p:spPr>
          <a:xfrm>
            <a:off x="3731999" y="4536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ループ塀ビルダー</a:t>
            </a:r>
          </a:p>
        </p:txBody>
      </p:sp>
      <p:sp>
        <p:nvSpPr>
          <p:cNvPr id="53" name="Rectangle 52"/>
          <p:cNvSpPr/>
          <p:nvPr/>
        </p:nvSpPr>
        <p:spPr>
          <a:xfrm>
            <a:off x="4908000" y="4536000"/>
            <a:ext cx="2112000" cy="39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980000" y="4536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12</a:t>
            </a:r>
          </a:p>
        </p:txBody>
      </p:sp>
      <p:sp>
        <p:nvSpPr>
          <p:cNvPr id="55" name="TextBox 54"/>
          <p:cNvSpPr txBox="1"/>
          <p:nvPr/>
        </p:nvSpPr>
        <p:spPr>
          <a:xfrm>
            <a:off x="5268000" y="4536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203A60"/>
                </a:solidFill>
                <a:latin typeface="Meiryo"/>
              </a:rPr>
              <a:t>プロ上</a:t>
            </a:r>
          </a:p>
        </p:txBody>
      </p:sp>
      <p:sp>
        <p:nvSpPr>
          <p:cNvPr id="56" name="TextBox 55"/>
          <p:cNvSpPr txBox="1"/>
          <p:nvPr/>
        </p:nvSpPr>
        <p:spPr>
          <a:xfrm>
            <a:off x="5915999" y="4536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条件分岐装置設計</a:t>
            </a:r>
          </a:p>
        </p:txBody>
      </p:sp>
      <p:sp>
        <p:nvSpPr>
          <p:cNvPr id="57" name="Rectangle 56"/>
          <p:cNvSpPr/>
          <p:nvPr/>
        </p:nvSpPr>
        <p:spPr>
          <a:xfrm>
            <a:off x="540000" y="4968000"/>
            <a:ext cx="2112000" cy="396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2000" y="4968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13</a:t>
            </a:r>
          </a:p>
        </p:txBody>
      </p:sp>
      <p:sp>
        <p:nvSpPr>
          <p:cNvPr id="59" name="TextBox 58"/>
          <p:cNvSpPr txBox="1"/>
          <p:nvPr/>
        </p:nvSpPr>
        <p:spPr>
          <a:xfrm>
            <a:off x="900000" y="4968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C98A1B"/>
                </a:solidFill>
                <a:latin typeface="Meiryo"/>
              </a:rPr>
              <a:t>★物理易</a:t>
            </a:r>
          </a:p>
        </p:txBody>
      </p:sp>
      <p:sp>
        <p:nvSpPr>
          <p:cNvPr id="60" name="TextBox 59"/>
          <p:cNvSpPr txBox="1"/>
          <p:nvPr/>
        </p:nvSpPr>
        <p:spPr>
          <a:xfrm>
            <a:off x="1547999" y="4968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トロッコレール敷設ゲーム</a:t>
            </a:r>
          </a:p>
        </p:txBody>
      </p:sp>
      <p:sp>
        <p:nvSpPr>
          <p:cNvPr id="61" name="Rectangle 60"/>
          <p:cNvSpPr/>
          <p:nvPr/>
        </p:nvSpPr>
        <p:spPr>
          <a:xfrm>
            <a:off x="2724000" y="4968000"/>
            <a:ext cx="2112000" cy="396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796000" y="4968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14</a:t>
            </a:r>
          </a:p>
        </p:txBody>
      </p:sp>
      <p:sp>
        <p:nvSpPr>
          <p:cNvPr id="63" name="TextBox 62"/>
          <p:cNvSpPr txBox="1"/>
          <p:nvPr/>
        </p:nvSpPr>
        <p:spPr>
          <a:xfrm>
            <a:off x="3084000" y="4968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C98A1B"/>
                </a:solidFill>
                <a:latin typeface="Meiryo"/>
              </a:rPr>
              <a:t>★物理中</a:t>
            </a:r>
          </a:p>
        </p:txBody>
      </p:sp>
      <p:sp>
        <p:nvSpPr>
          <p:cNvPr id="64" name="TextBox 63"/>
          <p:cNvSpPr txBox="1"/>
          <p:nvPr/>
        </p:nvSpPr>
        <p:spPr>
          <a:xfrm>
            <a:off x="3731999" y="4968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レール数計算パズル</a:t>
            </a:r>
          </a:p>
        </p:txBody>
      </p:sp>
      <p:sp>
        <p:nvSpPr>
          <p:cNvPr id="65" name="Rectangle 64"/>
          <p:cNvSpPr/>
          <p:nvPr/>
        </p:nvSpPr>
        <p:spPr>
          <a:xfrm>
            <a:off x="4908000" y="4968000"/>
            <a:ext cx="2112000" cy="396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980000" y="4968000"/>
            <a:ext cx="288000" cy="396000"/>
          </a:xfrm>
          <a:prstGeom prst="rect">
            <a:avLst/>
          </a:prstGeom>
          <a:noFill/>
          <a:ln>
            <a:noFill/>
          </a:ln>
        </p:spPr>
        <p:txBody>
          <a:bodyPr wrap="square" lIns="54000" tIns="28800" rIns="54000" bIns="28800" anchor="ctr">
            <a:spAutoFit/>
          </a:bodyPr>
          <a:lstStyle/>
          <a:p>
            <a:pPr algn="l">
              <a:lnSpc>
                <a:spcPct val="120000"/>
              </a:lnSpc>
            </a:pPr>
            <a:r>
              <a:rPr sz="1200" b="1">
                <a:solidFill>
                  <a:srgbClr val="D28C32"/>
                </a:solidFill>
                <a:latin typeface="Meiryo"/>
              </a:rPr>
              <a:t>15</a:t>
            </a:r>
          </a:p>
        </p:txBody>
      </p:sp>
      <p:sp>
        <p:nvSpPr>
          <p:cNvPr id="67" name="TextBox 66"/>
          <p:cNvSpPr txBox="1"/>
          <p:nvPr/>
        </p:nvSpPr>
        <p:spPr>
          <a:xfrm>
            <a:off x="5268000" y="4968000"/>
            <a:ext cx="648000" cy="396000"/>
          </a:xfrm>
          <a:prstGeom prst="rect">
            <a:avLst/>
          </a:prstGeom>
          <a:noFill/>
          <a:ln>
            <a:noFill/>
          </a:ln>
        </p:spPr>
        <p:txBody>
          <a:bodyPr wrap="square" lIns="54000" tIns="28800" rIns="54000" bIns="28800" anchor="ctr">
            <a:spAutoFit/>
          </a:bodyPr>
          <a:lstStyle/>
          <a:p>
            <a:pPr algn="l">
              <a:lnSpc>
                <a:spcPct val="120000"/>
              </a:lnSpc>
            </a:pPr>
            <a:r>
              <a:rPr sz="900" b="1">
                <a:solidFill>
                  <a:srgbClr val="C98A1B"/>
                </a:solidFill>
                <a:latin typeface="Meiryo"/>
              </a:rPr>
              <a:t>★物理上</a:t>
            </a:r>
          </a:p>
        </p:txBody>
      </p:sp>
      <p:sp>
        <p:nvSpPr>
          <p:cNvPr id="68" name="TextBox 67"/>
          <p:cNvSpPr txBox="1"/>
          <p:nvPr/>
        </p:nvSpPr>
        <p:spPr>
          <a:xfrm>
            <a:off x="5915999" y="4968000"/>
            <a:ext cx="1068000" cy="396000"/>
          </a:xfrm>
          <a:prstGeom prst="rect">
            <a:avLst/>
          </a:prstGeom>
          <a:noFill/>
          <a:ln>
            <a:noFill/>
          </a:ln>
        </p:spPr>
        <p:txBody>
          <a:bodyPr wrap="square" lIns="54000" tIns="28800" rIns="54000" bIns="28800" anchor="ctr">
            <a:spAutoFit/>
          </a:bodyPr>
          <a:lstStyle/>
          <a:p>
            <a:pPr algn="l">
              <a:lnSpc>
                <a:spcPct val="130000"/>
              </a:lnSpc>
            </a:pPr>
            <a:r>
              <a:rPr sz="900" b="0">
                <a:solidFill>
                  <a:srgbClr val="1E232D"/>
                </a:solidFill>
                <a:latin typeface="Meiryo"/>
              </a:rPr>
              <a:t>エネルギー最速コース設計</a:t>
            </a:r>
          </a:p>
        </p:txBody>
      </p:sp>
      <p:sp>
        <p:nvSpPr>
          <p:cNvPr id="69" name="Rectangle 68"/>
          <p:cNvSpPr/>
          <p:nvPr/>
        </p:nvSpPr>
        <p:spPr>
          <a:xfrm>
            <a:off x="540000" y="581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8000" y="576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独自性担保メカニズム（差別化の核）</a:t>
            </a:r>
          </a:p>
        </p:txBody>
      </p:sp>
      <p:sp>
        <p:nvSpPr>
          <p:cNvPr id="71" name="TextBox 70"/>
          <p:cNvSpPr txBox="1"/>
          <p:nvPr/>
        </p:nvSpPr>
        <p:spPr>
          <a:xfrm>
            <a:off x="540000" y="6120000"/>
            <a:ext cx="6480000" cy="1800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・PDFに専用アクセスコード印字／初回はコード入力でWebサイト解錠</a:t>
            </a:r>
          </a:p>
          <a:p>
            <a:pPr algn="l">
              <a:lnSpc>
                <a:spcPct val="150000"/>
              </a:lnSpc>
            </a:pPr>
            <a:r>
              <a:rPr sz="1000" b="0">
                <a:solidFill>
                  <a:srgbClr val="1E232D"/>
                </a:solidFill>
                <a:latin typeface="Meiryo"/>
              </a:rPr>
              <a:t>・各ゲームの詳細ルール・応用テクニック・得点倍化法・隠し要素は全てPDFに掲載</a:t>
            </a:r>
          </a:p>
          <a:p>
            <a:pPr algn="l">
              <a:lnSpc>
                <a:spcPct val="150000"/>
              </a:lnSpc>
            </a:pPr>
            <a:r>
              <a:rPr sz="1000" b="0">
                <a:solidFill>
                  <a:srgbClr val="1E232D"/>
                </a:solidFill>
                <a:latin typeface="Meiryo"/>
              </a:rPr>
              <a:t>・マイクラ内スコアとWebスコアをゆるやかに連携</a:t>
            </a:r>
          </a:p>
          <a:p>
            <a:pPr algn="l">
              <a:lnSpc>
                <a:spcPct val="150000"/>
              </a:lnSpc>
            </a:pPr>
            <a:r>
              <a:rPr sz="1000" b="0">
                <a:solidFill>
                  <a:srgbClr val="1E232D"/>
                </a:solidFill>
                <a:latin typeface="Meiryo"/>
              </a:rPr>
              <a:t>   （PDFに「Webで100点取るとマイクラで〇〇が使える」等のヒント）</a:t>
            </a:r>
          </a:p>
          <a:p>
            <a:pPr algn="l">
              <a:lnSpc>
                <a:spcPct val="150000"/>
              </a:lnSpc>
            </a:pPr>
            <a:r>
              <a:rPr sz="1000" b="0">
                <a:solidFill>
                  <a:srgbClr val="1E232D"/>
                </a:solidFill>
                <a:latin typeface="Meiryo"/>
              </a:rPr>
              <a:t>・Webだけ見ても再現不可、PDFを持つ事業所のみ完全運用可能</a:t>
            </a:r>
          </a:p>
        </p:txBody>
      </p:sp>
      <p:sp>
        <p:nvSpPr>
          <p:cNvPr id="72" name="Rectangle 71"/>
          <p:cNvSpPr/>
          <p:nvPr/>
        </p:nvSpPr>
        <p:spPr>
          <a:xfrm>
            <a:off x="540000" y="815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48000" y="810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実装順序</a:t>
            </a:r>
          </a:p>
        </p:txBody>
      </p:sp>
      <p:sp>
        <p:nvSpPr>
          <p:cNvPr id="74" name="TextBox 73"/>
          <p:cNvSpPr txBox="1"/>
          <p:nvPr/>
        </p:nvSpPr>
        <p:spPr>
          <a:xfrm>
            <a:off x="540000" y="8388000"/>
            <a:ext cx="6480000" cy="720000"/>
          </a:xfrm>
          <a:prstGeom prst="rect">
            <a:avLst/>
          </a:prstGeom>
          <a:noFill/>
          <a:ln>
            <a:noFill/>
          </a:ln>
        </p:spPr>
        <p:txBody>
          <a:bodyPr wrap="square" lIns="54000" tIns="28800" rIns="54000" bIns="28800" anchor="t">
            <a:spAutoFit/>
          </a:bodyPr>
          <a:lstStyle/>
          <a:p>
            <a:pPr algn="l">
              <a:lnSpc>
                <a:spcPct val="150000"/>
              </a:lnSpc>
            </a:pPr>
            <a:r>
              <a:rPr sz="1000" b="0">
                <a:solidFill>
                  <a:srgbClr val="1E232D"/>
                </a:solidFill>
                <a:latin typeface="Meiryo"/>
              </a:rPr>
              <a:t>・5〜6月：易5本（MVP・先行実装）／7〜9月：中5本／10〜11月：上5本／12月：全体仕上げ</a:t>
            </a:r>
          </a:p>
        </p:txBody>
      </p:sp>
      <p:sp>
        <p:nvSpPr>
          <p:cNvPr id="75" name="TextBox 74"/>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13 / 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13. 1セッション運用シナリオ</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080000"/>
            <a:ext cx="6480000" cy="540000"/>
          </a:xfrm>
          <a:prstGeom prst="rect">
            <a:avLst/>
          </a:prstGeom>
          <a:noFill/>
          <a:ln>
            <a:noFill/>
          </a:ln>
        </p:spPr>
        <p:txBody>
          <a:bodyPr wrap="square" lIns="54000" tIns="28800" rIns="54000" bIns="28800" anchor="t">
            <a:spAutoFit/>
          </a:bodyPr>
          <a:lstStyle/>
          <a:p>
            <a:pPr algn="l">
              <a:lnSpc>
                <a:spcPct val="120000"/>
              </a:lnSpc>
            </a:pPr>
            <a:r>
              <a:rPr sz="1050" b="0">
                <a:solidFill>
                  <a:srgbClr val="6E7682"/>
                </a:solidFill>
                <a:latin typeface="Meiryo"/>
              </a:rPr>
              <a:t>「スタッフ様がPDFだけ見て運用できる」状態を実現する、60分1セッションの典型的な流れです。</a:t>
            </a:r>
          </a:p>
        </p:txBody>
      </p:sp>
      <p:sp>
        <p:nvSpPr>
          <p:cNvPr id="5" name="Rectangle 4"/>
          <p:cNvSpPr/>
          <p:nvPr/>
        </p:nvSpPr>
        <p:spPr>
          <a:xfrm>
            <a:off x="540000" y="1800000"/>
            <a:ext cx="792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800000"/>
            <a:ext cx="792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時間</a:t>
            </a:r>
          </a:p>
        </p:txBody>
      </p:sp>
      <p:sp>
        <p:nvSpPr>
          <p:cNvPr id="7" name="Rectangle 6"/>
          <p:cNvSpPr/>
          <p:nvPr/>
        </p:nvSpPr>
        <p:spPr>
          <a:xfrm>
            <a:off x="1332000" y="1800000"/>
            <a:ext cx="1080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32000" y="1800000"/>
            <a:ext cx="1080000" cy="324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場面</a:t>
            </a:r>
          </a:p>
        </p:txBody>
      </p:sp>
      <p:sp>
        <p:nvSpPr>
          <p:cNvPr id="9" name="Rectangle 8"/>
          <p:cNvSpPr/>
          <p:nvPr/>
        </p:nvSpPr>
        <p:spPr>
          <a:xfrm>
            <a:off x="2412000" y="1800000"/>
            <a:ext cx="4608000" cy="324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12000" y="1800000"/>
            <a:ext cx="4608000" cy="324000"/>
          </a:xfrm>
          <a:prstGeom prst="rect">
            <a:avLst/>
          </a:prstGeom>
          <a:noFill/>
          <a:ln>
            <a:noFill/>
          </a:ln>
        </p:spPr>
        <p:txBody>
          <a:bodyPr wrap="square" lIns="54000" tIns="28800" rIns="54000" bIns="28800" anchor="ctr">
            <a:spAutoFit/>
          </a:bodyPr>
          <a:lstStyle/>
          <a:p>
            <a:pPr algn="ctr">
              <a:lnSpc>
                <a:spcPct val="120000"/>
              </a:lnSpc>
            </a:pPr>
            <a:r>
              <a:rPr sz="1050" b="1" dirty="0" err="1">
                <a:solidFill>
                  <a:srgbClr val="FFFFFF"/>
                </a:solidFill>
                <a:latin typeface="Meiryo"/>
              </a:rPr>
              <a:t>児童</a:t>
            </a:r>
            <a:r>
              <a:rPr sz="1050" b="1" dirty="0">
                <a:solidFill>
                  <a:srgbClr val="FFFFFF"/>
                </a:solidFill>
                <a:latin typeface="Meiryo"/>
              </a:rPr>
              <a:t> / </a:t>
            </a:r>
            <a:r>
              <a:rPr sz="1050" b="1" dirty="0" err="1">
                <a:solidFill>
                  <a:srgbClr val="FFFFFF"/>
                </a:solidFill>
                <a:latin typeface="Meiryo"/>
              </a:rPr>
              <a:t>スタッフ</a:t>
            </a:r>
            <a:r>
              <a:rPr sz="1050" b="1" dirty="0">
                <a:solidFill>
                  <a:srgbClr val="FFFFFF"/>
                </a:solidFill>
                <a:latin typeface="Meiryo"/>
              </a:rPr>
              <a:t> </a:t>
            </a:r>
            <a:r>
              <a:rPr sz="1050" b="1" dirty="0" err="1">
                <a:solidFill>
                  <a:srgbClr val="FFFFFF"/>
                </a:solidFill>
                <a:latin typeface="Meiryo"/>
              </a:rPr>
              <a:t>動線</a:t>
            </a:r>
            <a:endParaRPr sz="1050" b="1" dirty="0">
              <a:solidFill>
                <a:srgbClr val="FFFFFF"/>
              </a:solidFill>
              <a:latin typeface="Meiryo"/>
            </a:endParaRPr>
          </a:p>
        </p:txBody>
      </p:sp>
      <p:sp>
        <p:nvSpPr>
          <p:cNvPr id="11" name="Rectangle 10"/>
          <p:cNvSpPr/>
          <p:nvPr/>
        </p:nvSpPr>
        <p:spPr>
          <a:xfrm>
            <a:off x="540000" y="2124000"/>
            <a:ext cx="792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000" y="2124000"/>
            <a:ext cx="720000" cy="864000"/>
          </a:xfrm>
          <a:prstGeom prst="rect">
            <a:avLst/>
          </a:prstGeom>
          <a:noFill/>
          <a:ln>
            <a:noFill/>
          </a:ln>
        </p:spPr>
        <p:txBody>
          <a:bodyPr wrap="square" lIns="54000" tIns="28800" rIns="54000" bIns="28800" anchor="ctr">
            <a:spAutoFit/>
          </a:bodyPr>
          <a:lstStyle/>
          <a:p>
            <a:pPr algn="ctr">
              <a:lnSpc>
                <a:spcPct val="140000"/>
              </a:lnSpc>
            </a:pPr>
            <a:r>
              <a:rPr sz="1000" b="0">
                <a:solidFill>
                  <a:srgbClr val="1E232D"/>
                </a:solidFill>
                <a:latin typeface="Meiryo"/>
              </a:rPr>
              <a:t>0〜5分</a:t>
            </a:r>
          </a:p>
        </p:txBody>
      </p:sp>
      <p:sp>
        <p:nvSpPr>
          <p:cNvPr id="13" name="Rectangle 12"/>
          <p:cNvSpPr/>
          <p:nvPr/>
        </p:nvSpPr>
        <p:spPr>
          <a:xfrm>
            <a:off x="1332000" y="2124000"/>
            <a:ext cx="1080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6000" y="2124000"/>
            <a:ext cx="1008000" cy="864000"/>
          </a:xfrm>
          <a:prstGeom prst="rect">
            <a:avLst/>
          </a:prstGeom>
          <a:noFill/>
          <a:ln>
            <a:noFill/>
          </a:ln>
        </p:spPr>
        <p:txBody>
          <a:bodyPr wrap="square" lIns="54000" tIns="28800" rIns="54000" bIns="28800" anchor="ctr">
            <a:spAutoFit/>
          </a:bodyPr>
          <a:lstStyle/>
          <a:p>
            <a:pPr algn="l">
              <a:lnSpc>
                <a:spcPct val="140000"/>
              </a:lnSpc>
            </a:pPr>
            <a:r>
              <a:rPr sz="1000" b="1">
                <a:solidFill>
                  <a:srgbClr val="203A60"/>
                </a:solidFill>
                <a:latin typeface="Meiryo"/>
              </a:rPr>
              <a:t>導入</a:t>
            </a:r>
          </a:p>
        </p:txBody>
      </p:sp>
      <p:sp>
        <p:nvSpPr>
          <p:cNvPr id="15" name="Rectangle 14"/>
          <p:cNvSpPr/>
          <p:nvPr/>
        </p:nvSpPr>
        <p:spPr>
          <a:xfrm>
            <a:off x="2412000" y="2124000"/>
            <a:ext cx="4608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6000" y="2124000"/>
            <a:ext cx="4536000" cy="864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児童：PCの前に座る、ログイン</a:t>
            </a:r>
            <a:endParaRPr sz="950" b="0" dirty="0">
              <a:solidFill>
                <a:srgbClr val="1E232D"/>
              </a:solidFill>
              <a:latin typeface="Meiryo"/>
            </a:endParaRPr>
          </a:p>
          <a:p>
            <a:pPr algn="l">
              <a:lnSpc>
                <a:spcPct val="140000"/>
              </a:lnSpc>
            </a:pPr>
            <a:r>
              <a:rPr sz="950" b="0" dirty="0" err="1">
                <a:solidFill>
                  <a:srgbClr val="1E232D"/>
                </a:solidFill>
                <a:latin typeface="Meiryo"/>
              </a:rPr>
              <a:t>スタッフ：ワールドを開く（既に起動済でもOK</a:t>
            </a:r>
            <a:r>
              <a:rPr sz="950" b="0" dirty="0">
                <a:solidFill>
                  <a:srgbClr val="1E232D"/>
                </a:solidFill>
                <a:latin typeface="Meiryo"/>
              </a:rPr>
              <a:t>）、</a:t>
            </a:r>
            <a:r>
              <a:rPr sz="950" b="0" dirty="0" err="1">
                <a:solidFill>
                  <a:srgbClr val="1E232D"/>
                </a:solidFill>
                <a:latin typeface="Meiryo"/>
              </a:rPr>
              <a:t>今日の目標ミッションを確認</a:t>
            </a:r>
            <a:endParaRPr sz="950" b="0" dirty="0">
              <a:solidFill>
                <a:srgbClr val="1E232D"/>
              </a:solidFill>
              <a:latin typeface="Meiryo"/>
            </a:endParaRPr>
          </a:p>
        </p:txBody>
      </p:sp>
      <p:sp>
        <p:nvSpPr>
          <p:cNvPr id="17" name="Rectangle 16"/>
          <p:cNvSpPr/>
          <p:nvPr/>
        </p:nvSpPr>
        <p:spPr>
          <a:xfrm>
            <a:off x="540000" y="2988000"/>
            <a:ext cx="792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000" y="2988000"/>
            <a:ext cx="720000" cy="864000"/>
          </a:xfrm>
          <a:prstGeom prst="rect">
            <a:avLst/>
          </a:prstGeom>
          <a:noFill/>
          <a:ln>
            <a:noFill/>
          </a:ln>
        </p:spPr>
        <p:txBody>
          <a:bodyPr wrap="square" lIns="54000" tIns="28800" rIns="54000" bIns="28800" anchor="ctr">
            <a:spAutoFit/>
          </a:bodyPr>
          <a:lstStyle/>
          <a:p>
            <a:pPr algn="ctr">
              <a:lnSpc>
                <a:spcPct val="140000"/>
              </a:lnSpc>
            </a:pPr>
            <a:r>
              <a:rPr sz="1000" b="0">
                <a:solidFill>
                  <a:srgbClr val="1E232D"/>
                </a:solidFill>
                <a:latin typeface="Meiryo"/>
              </a:rPr>
              <a:t>5〜10分</a:t>
            </a:r>
          </a:p>
        </p:txBody>
      </p:sp>
      <p:sp>
        <p:nvSpPr>
          <p:cNvPr id="19" name="Rectangle 18"/>
          <p:cNvSpPr/>
          <p:nvPr/>
        </p:nvSpPr>
        <p:spPr>
          <a:xfrm>
            <a:off x="1332000" y="2988000"/>
            <a:ext cx="1080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86000" y="2988000"/>
            <a:ext cx="1008000" cy="864000"/>
          </a:xfrm>
          <a:prstGeom prst="rect">
            <a:avLst/>
          </a:prstGeom>
          <a:noFill/>
          <a:ln>
            <a:noFill/>
          </a:ln>
        </p:spPr>
        <p:txBody>
          <a:bodyPr wrap="square" lIns="54000" tIns="28800" rIns="54000" bIns="28800" anchor="ctr">
            <a:spAutoFit/>
          </a:bodyPr>
          <a:lstStyle/>
          <a:p>
            <a:pPr algn="l">
              <a:lnSpc>
                <a:spcPct val="140000"/>
              </a:lnSpc>
            </a:pPr>
            <a:r>
              <a:rPr sz="1000" b="1">
                <a:solidFill>
                  <a:srgbClr val="203A60"/>
                </a:solidFill>
                <a:latin typeface="Meiryo"/>
              </a:rPr>
              <a:t>ハブ→教科エリア</a:t>
            </a:r>
          </a:p>
        </p:txBody>
      </p:sp>
      <p:sp>
        <p:nvSpPr>
          <p:cNvPr id="21" name="Rectangle 20"/>
          <p:cNvSpPr/>
          <p:nvPr/>
        </p:nvSpPr>
        <p:spPr>
          <a:xfrm>
            <a:off x="2412000" y="2988000"/>
            <a:ext cx="4608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66000" y="2988000"/>
            <a:ext cx="4536000" cy="864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児童：ハブの扉からミッションエリアへテレポート</a:t>
            </a:r>
            <a:endParaRPr sz="950" b="0" dirty="0">
              <a:solidFill>
                <a:srgbClr val="1E232D"/>
              </a:solidFill>
              <a:latin typeface="Meiryo"/>
            </a:endParaRPr>
          </a:p>
          <a:p>
            <a:pPr algn="l">
              <a:lnSpc>
                <a:spcPct val="140000"/>
              </a:lnSpc>
            </a:pPr>
            <a:r>
              <a:rPr sz="950" b="0" dirty="0" err="1">
                <a:solidFill>
                  <a:srgbClr val="1E232D"/>
                </a:solidFill>
                <a:latin typeface="Meiryo"/>
              </a:rPr>
              <a:t>スタッフ：PDFの「今日のミッション」ページを開く</a:t>
            </a:r>
            <a:endParaRPr sz="950" b="0" dirty="0">
              <a:solidFill>
                <a:srgbClr val="1E232D"/>
              </a:solidFill>
              <a:latin typeface="Meiryo"/>
            </a:endParaRPr>
          </a:p>
        </p:txBody>
      </p:sp>
      <p:sp>
        <p:nvSpPr>
          <p:cNvPr id="23" name="Rectangle 22"/>
          <p:cNvSpPr/>
          <p:nvPr/>
        </p:nvSpPr>
        <p:spPr>
          <a:xfrm>
            <a:off x="540000" y="3852000"/>
            <a:ext cx="792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000" y="3852000"/>
            <a:ext cx="720000" cy="864000"/>
          </a:xfrm>
          <a:prstGeom prst="rect">
            <a:avLst/>
          </a:prstGeom>
          <a:noFill/>
          <a:ln>
            <a:noFill/>
          </a:ln>
        </p:spPr>
        <p:txBody>
          <a:bodyPr wrap="square" lIns="54000" tIns="28800" rIns="54000" bIns="28800" anchor="ctr">
            <a:spAutoFit/>
          </a:bodyPr>
          <a:lstStyle/>
          <a:p>
            <a:pPr algn="ctr">
              <a:lnSpc>
                <a:spcPct val="140000"/>
              </a:lnSpc>
            </a:pPr>
            <a:r>
              <a:rPr sz="1000" b="0">
                <a:solidFill>
                  <a:srgbClr val="1E232D"/>
                </a:solidFill>
                <a:latin typeface="Meiryo"/>
              </a:rPr>
              <a:t>10〜45分</a:t>
            </a:r>
          </a:p>
        </p:txBody>
      </p:sp>
      <p:sp>
        <p:nvSpPr>
          <p:cNvPr id="25" name="Rectangle 24"/>
          <p:cNvSpPr/>
          <p:nvPr/>
        </p:nvSpPr>
        <p:spPr>
          <a:xfrm>
            <a:off x="1332000" y="3852000"/>
            <a:ext cx="1080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6000" y="3852000"/>
            <a:ext cx="1008000" cy="864000"/>
          </a:xfrm>
          <a:prstGeom prst="rect">
            <a:avLst/>
          </a:prstGeom>
          <a:noFill/>
          <a:ln>
            <a:noFill/>
          </a:ln>
        </p:spPr>
        <p:txBody>
          <a:bodyPr wrap="square" lIns="54000" tIns="28800" rIns="54000" bIns="28800" anchor="ctr">
            <a:spAutoFit/>
          </a:bodyPr>
          <a:lstStyle/>
          <a:p>
            <a:pPr algn="l">
              <a:lnSpc>
                <a:spcPct val="140000"/>
              </a:lnSpc>
            </a:pPr>
            <a:r>
              <a:rPr sz="1000" b="1">
                <a:solidFill>
                  <a:srgbClr val="203A60"/>
                </a:solidFill>
                <a:latin typeface="Meiryo"/>
              </a:rPr>
              <a:t>ミッション体験（9ステップ）</a:t>
            </a:r>
          </a:p>
        </p:txBody>
      </p:sp>
      <p:sp>
        <p:nvSpPr>
          <p:cNvPr id="27" name="Rectangle 26"/>
          <p:cNvSpPr/>
          <p:nvPr/>
        </p:nvSpPr>
        <p:spPr>
          <a:xfrm>
            <a:off x="2412000" y="3852000"/>
            <a:ext cx="4608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66000" y="3852000"/>
            <a:ext cx="4536000" cy="864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児童：NPCから課題を受け</a:t>
            </a:r>
            <a:r>
              <a:rPr sz="950" b="0" dirty="0">
                <a:solidFill>
                  <a:srgbClr val="1E232D"/>
                </a:solidFill>
                <a:latin typeface="Meiryo"/>
              </a:rPr>
              <a:t>、①〜⑦を進める（約35分）</a:t>
            </a:r>
          </a:p>
          <a:p>
            <a:pPr algn="l">
              <a:lnSpc>
                <a:spcPct val="140000"/>
              </a:lnSpc>
            </a:pPr>
            <a:r>
              <a:rPr sz="950" b="0" dirty="0" err="1">
                <a:solidFill>
                  <a:srgbClr val="1E232D"/>
                </a:solidFill>
                <a:latin typeface="Meiryo"/>
              </a:rPr>
              <a:t>スタッフ：PDFに書かれた声かけに沿って見守り</a:t>
            </a:r>
            <a:r>
              <a:rPr sz="950" b="0" dirty="0">
                <a:solidFill>
                  <a:srgbClr val="1E232D"/>
                </a:solidFill>
                <a:latin typeface="Meiryo"/>
              </a:rPr>
              <a:t>／⑥FB・⑦</a:t>
            </a:r>
            <a:r>
              <a:rPr sz="950" b="0" dirty="0" err="1">
                <a:solidFill>
                  <a:srgbClr val="1E232D"/>
                </a:solidFill>
                <a:latin typeface="Meiryo"/>
              </a:rPr>
              <a:t>称賛のタイミングで関わる</a:t>
            </a:r>
            <a:endParaRPr sz="950" b="0" dirty="0">
              <a:solidFill>
                <a:srgbClr val="1E232D"/>
              </a:solidFill>
              <a:latin typeface="Meiryo"/>
            </a:endParaRPr>
          </a:p>
        </p:txBody>
      </p:sp>
      <p:sp>
        <p:nvSpPr>
          <p:cNvPr id="29" name="Rectangle 28"/>
          <p:cNvSpPr/>
          <p:nvPr/>
        </p:nvSpPr>
        <p:spPr>
          <a:xfrm>
            <a:off x="540000" y="4716000"/>
            <a:ext cx="792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000" y="4716000"/>
            <a:ext cx="720000" cy="864000"/>
          </a:xfrm>
          <a:prstGeom prst="rect">
            <a:avLst/>
          </a:prstGeom>
          <a:noFill/>
          <a:ln>
            <a:noFill/>
          </a:ln>
        </p:spPr>
        <p:txBody>
          <a:bodyPr wrap="square" lIns="54000" tIns="28800" rIns="54000" bIns="28800" anchor="ctr">
            <a:spAutoFit/>
          </a:bodyPr>
          <a:lstStyle/>
          <a:p>
            <a:pPr algn="ctr">
              <a:lnSpc>
                <a:spcPct val="140000"/>
              </a:lnSpc>
            </a:pPr>
            <a:r>
              <a:rPr sz="1000" b="0">
                <a:solidFill>
                  <a:srgbClr val="1E232D"/>
                </a:solidFill>
                <a:latin typeface="Meiryo"/>
              </a:rPr>
              <a:t>45〜55分</a:t>
            </a:r>
          </a:p>
        </p:txBody>
      </p:sp>
      <p:sp>
        <p:nvSpPr>
          <p:cNvPr id="31" name="Rectangle 30"/>
          <p:cNvSpPr/>
          <p:nvPr/>
        </p:nvSpPr>
        <p:spPr>
          <a:xfrm>
            <a:off x="1332000" y="4716000"/>
            <a:ext cx="1080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86000" y="4716000"/>
            <a:ext cx="1008000" cy="864000"/>
          </a:xfrm>
          <a:prstGeom prst="rect">
            <a:avLst/>
          </a:prstGeom>
          <a:noFill/>
          <a:ln>
            <a:noFill/>
          </a:ln>
        </p:spPr>
        <p:txBody>
          <a:bodyPr wrap="square" lIns="54000" tIns="28800" rIns="54000" bIns="28800" anchor="ctr">
            <a:spAutoFit/>
          </a:bodyPr>
          <a:lstStyle/>
          <a:p>
            <a:pPr algn="l">
              <a:lnSpc>
                <a:spcPct val="140000"/>
              </a:lnSpc>
            </a:pPr>
            <a:r>
              <a:rPr sz="1000" b="1">
                <a:solidFill>
                  <a:srgbClr val="203A60"/>
                </a:solidFill>
                <a:latin typeface="Meiryo"/>
              </a:rPr>
              <a:t>振り返り（⑧⑨）</a:t>
            </a:r>
          </a:p>
        </p:txBody>
      </p:sp>
      <p:sp>
        <p:nvSpPr>
          <p:cNvPr id="33" name="Rectangle 32"/>
          <p:cNvSpPr/>
          <p:nvPr/>
        </p:nvSpPr>
        <p:spPr>
          <a:xfrm>
            <a:off x="2412000" y="4716000"/>
            <a:ext cx="4608000" cy="864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466000" y="4716000"/>
            <a:ext cx="4536000" cy="864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児童：ワークシート（PDF児童用）を書き込む／スコア確認</a:t>
            </a:r>
            <a:endParaRPr sz="950" b="0" dirty="0">
              <a:solidFill>
                <a:srgbClr val="1E232D"/>
              </a:solidFill>
              <a:latin typeface="Meiryo"/>
            </a:endParaRPr>
          </a:p>
          <a:p>
            <a:pPr algn="l">
              <a:lnSpc>
                <a:spcPct val="140000"/>
              </a:lnSpc>
            </a:pPr>
            <a:r>
              <a:rPr sz="950" b="0" dirty="0">
                <a:solidFill>
                  <a:srgbClr val="1E232D"/>
                </a:solidFill>
                <a:latin typeface="Meiryo"/>
              </a:rPr>
              <a:t>スタッフ：PDFの「問いかけ例」から1〜2問を選んで問いかける</a:t>
            </a:r>
          </a:p>
        </p:txBody>
      </p:sp>
      <p:sp>
        <p:nvSpPr>
          <p:cNvPr id="35" name="Rectangle 34"/>
          <p:cNvSpPr/>
          <p:nvPr/>
        </p:nvSpPr>
        <p:spPr>
          <a:xfrm>
            <a:off x="540000" y="5580000"/>
            <a:ext cx="792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000" y="5580000"/>
            <a:ext cx="720000" cy="864000"/>
          </a:xfrm>
          <a:prstGeom prst="rect">
            <a:avLst/>
          </a:prstGeom>
          <a:noFill/>
          <a:ln>
            <a:noFill/>
          </a:ln>
        </p:spPr>
        <p:txBody>
          <a:bodyPr wrap="square" lIns="54000" tIns="28800" rIns="54000" bIns="28800" anchor="ctr">
            <a:spAutoFit/>
          </a:bodyPr>
          <a:lstStyle/>
          <a:p>
            <a:pPr algn="ctr">
              <a:lnSpc>
                <a:spcPct val="140000"/>
              </a:lnSpc>
            </a:pPr>
            <a:r>
              <a:rPr sz="1000" b="0">
                <a:solidFill>
                  <a:srgbClr val="1E232D"/>
                </a:solidFill>
                <a:latin typeface="Meiryo"/>
              </a:rPr>
              <a:t>55〜60分</a:t>
            </a:r>
          </a:p>
        </p:txBody>
      </p:sp>
      <p:sp>
        <p:nvSpPr>
          <p:cNvPr id="37" name="Rectangle 36"/>
          <p:cNvSpPr/>
          <p:nvPr/>
        </p:nvSpPr>
        <p:spPr>
          <a:xfrm>
            <a:off x="1332000" y="5580000"/>
            <a:ext cx="1080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86000" y="5580000"/>
            <a:ext cx="1008000" cy="864000"/>
          </a:xfrm>
          <a:prstGeom prst="rect">
            <a:avLst/>
          </a:prstGeom>
          <a:noFill/>
          <a:ln>
            <a:noFill/>
          </a:ln>
        </p:spPr>
        <p:txBody>
          <a:bodyPr wrap="square" lIns="54000" tIns="28800" rIns="54000" bIns="28800" anchor="ctr">
            <a:spAutoFit/>
          </a:bodyPr>
          <a:lstStyle/>
          <a:p>
            <a:pPr algn="l">
              <a:lnSpc>
                <a:spcPct val="140000"/>
              </a:lnSpc>
            </a:pPr>
            <a:r>
              <a:rPr sz="1000" b="1">
                <a:solidFill>
                  <a:srgbClr val="203A60"/>
                </a:solidFill>
                <a:latin typeface="Meiryo"/>
              </a:rPr>
              <a:t>終了</a:t>
            </a:r>
          </a:p>
        </p:txBody>
      </p:sp>
      <p:sp>
        <p:nvSpPr>
          <p:cNvPr id="39" name="Rectangle 38"/>
          <p:cNvSpPr/>
          <p:nvPr/>
        </p:nvSpPr>
        <p:spPr>
          <a:xfrm>
            <a:off x="2412000" y="5580000"/>
            <a:ext cx="4608000" cy="864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466000" y="5580000"/>
            <a:ext cx="4536000" cy="864000"/>
          </a:xfrm>
          <a:prstGeom prst="rect">
            <a:avLst/>
          </a:prstGeom>
          <a:noFill/>
          <a:ln>
            <a:noFill/>
          </a:ln>
        </p:spPr>
        <p:txBody>
          <a:bodyPr wrap="square" lIns="54000" tIns="28800" rIns="54000" bIns="28800" anchor="ctr">
            <a:spAutoFit/>
          </a:bodyPr>
          <a:lstStyle/>
          <a:p>
            <a:pPr algn="l">
              <a:lnSpc>
                <a:spcPct val="140000"/>
              </a:lnSpc>
            </a:pPr>
            <a:r>
              <a:rPr sz="950" b="0" dirty="0" err="1">
                <a:solidFill>
                  <a:srgbClr val="1E232D"/>
                </a:solidFill>
                <a:latin typeface="Meiryo"/>
              </a:rPr>
              <a:t>児童：ログアウト／進捗はアカウントに自動保存</a:t>
            </a:r>
            <a:endParaRPr sz="950" b="0" dirty="0">
              <a:solidFill>
                <a:srgbClr val="1E232D"/>
              </a:solidFill>
              <a:latin typeface="Meiryo"/>
            </a:endParaRPr>
          </a:p>
          <a:p>
            <a:pPr algn="l">
              <a:lnSpc>
                <a:spcPct val="140000"/>
              </a:lnSpc>
            </a:pPr>
            <a:r>
              <a:rPr sz="950" b="0" dirty="0">
                <a:solidFill>
                  <a:srgbClr val="1E232D"/>
                </a:solidFill>
                <a:latin typeface="Meiryo"/>
              </a:rPr>
              <a:t>スタッフ：進捗を児童ノートに1行記録（任意）</a:t>
            </a:r>
          </a:p>
        </p:txBody>
      </p:sp>
      <p:sp>
        <p:nvSpPr>
          <p:cNvPr id="41" name="Rectangle 40"/>
          <p:cNvSpPr/>
          <p:nvPr/>
        </p:nvSpPr>
        <p:spPr>
          <a:xfrm>
            <a:off x="540000" y="707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8000" y="702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スタッフ負担ゼロの根拠</a:t>
            </a:r>
          </a:p>
        </p:txBody>
      </p:sp>
      <p:sp>
        <p:nvSpPr>
          <p:cNvPr id="43" name="TextBox 42"/>
          <p:cNvSpPr txBox="1"/>
          <p:nvPr/>
        </p:nvSpPr>
        <p:spPr>
          <a:xfrm>
            <a:off x="540000" y="7380000"/>
            <a:ext cx="6480000" cy="1440000"/>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a:t>
            </a:r>
            <a:r>
              <a:rPr sz="1000" b="0" dirty="0" err="1">
                <a:solidFill>
                  <a:srgbClr val="1E232D"/>
                </a:solidFill>
                <a:latin typeface="Meiryo"/>
              </a:rPr>
              <a:t>ワールドを開く以外の操作は発生しない（ログインはクライアント側PCで事前設定</a:t>
            </a:r>
            <a:r>
              <a:rPr sz="1000" b="0" dirty="0">
                <a:solidFill>
                  <a:srgbClr val="1E232D"/>
                </a:solidFill>
                <a:latin typeface="Meiryo"/>
              </a:rPr>
              <a:t>）</a:t>
            </a:r>
          </a:p>
          <a:p>
            <a:pPr algn="l">
              <a:lnSpc>
                <a:spcPct val="150000"/>
              </a:lnSpc>
            </a:pPr>
            <a:r>
              <a:rPr sz="1000" b="0" dirty="0">
                <a:solidFill>
                  <a:srgbClr val="1E232D"/>
                </a:solidFill>
                <a:latin typeface="Meiryo"/>
              </a:rPr>
              <a:t>・</a:t>
            </a:r>
            <a:r>
              <a:rPr sz="1000" b="0" dirty="0" err="1">
                <a:solidFill>
                  <a:srgbClr val="1E232D"/>
                </a:solidFill>
                <a:latin typeface="Meiryo"/>
              </a:rPr>
              <a:t>スタッフが判断すべきタイミングはすべてPDFに書かれている</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IT知識ゼロ、ゲーム未経験のスタッフでも、PDFの『問いかけ例』を読むだけで役割を果たせる</a:t>
            </a:r>
            <a:endParaRPr sz="1000" b="0" dirty="0">
              <a:solidFill>
                <a:srgbClr val="1E232D"/>
              </a:solidFill>
              <a:latin typeface="Meiryo"/>
            </a:endParaRPr>
          </a:p>
          <a:p>
            <a:pPr algn="l">
              <a:lnSpc>
                <a:spcPct val="150000"/>
              </a:lnSpc>
            </a:pPr>
            <a:r>
              <a:rPr sz="1000" b="0" dirty="0">
                <a:solidFill>
                  <a:srgbClr val="1E232D"/>
                </a:solidFill>
                <a:latin typeface="Meiryo"/>
              </a:rPr>
              <a:t>・</a:t>
            </a:r>
            <a:r>
              <a:rPr sz="1000" b="0" dirty="0" err="1">
                <a:solidFill>
                  <a:srgbClr val="1E232D"/>
                </a:solidFill>
                <a:latin typeface="Meiryo"/>
              </a:rPr>
              <a:t>児童が詰まっても、アドベンチャーモードのため事故は起きない</a:t>
            </a:r>
            <a:endParaRPr sz="1000" b="0" dirty="0">
              <a:solidFill>
                <a:srgbClr val="1E232D"/>
              </a:solidFill>
              <a:latin typeface="Meiryo"/>
            </a:endParaRPr>
          </a:p>
        </p:txBody>
      </p:sp>
      <p:sp>
        <p:nvSpPr>
          <p:cNvPr id="44" name="TextBox 43"/>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14 / 17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14. スケジュール（2マイルストーン）</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080000"/>
            <a:ext cx="3168000" cy="720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0000" y="1116000"/>
            <a:ext cx="3168000" cy="288000"/>
          </a:xfrm>
          <a:prstGeom prst="rect">
            <a:avLst/>
          </a:prstGeom>
          <a:noFill/>
          <a:ln>
            <a:noFill/>
          </a:ln>
        </p:spPr>
        <p:txBody>
          <a:bodyPr wrap="square" lIns="54000" tIns="28800" rIns="54000" bIns="28800" anchor="ctr">
            <a:spAutoFit/>
          </a:bodyPr>
          <a:lstStyle/>
          <a:p>
            <a:pPr algn="ctr">
              <a:lnSpc>
                <a:spcPct val="120000"/>
              </a:lnSpc>
            </a:pPr>
            <a:r>
              <a:rPr sz="1300" b="1">
                <a:solidFill>
                  <a:srgbClr val="FFFFFF"/>
                </a:solidFill>
                <a:latin typeface="Meiryo"/>
              </a:rPr>
              <a:t>★ ワールド完成</a:t>
            </a:r>
          </a:p>
        </p:txBody>
      </p:sp>
      <p:sp>
        <p:nvSpPr>
          <p:cNvPr id="6" name="TextBox 5"/>
          <p:cNvSpPr txBox="1"/>
          <p:nvPr/>
        </p:nvSpPr>
        <p:spPr>
          <a:xfrm>
            <a:off x="540000" y="1440000"/>
            <a:ext cx="3168000" cy="288000"/>
          </a:xfrm>
          <a:prstGeom prst="rect">
            <a:avLst/>
          </a:prstGeom>
          <a:noFill/>
          <a:ln>
            <a:noFill/>
          </a:ln>
        </p:spPr>
        <p:txBody>
          <a:bodyPr wrap="square" lIns="54000" tIns="28800" rIns="54000" bIns="28800" anchor="ctr">
            <a:spAutoFit/>
          </a:bodyPr>
          <a:lstStyle/>
          <a:p>
            <a:pPr algn="ctr">
              <a:lnSpc>
                <a:spcPct val="120000"/>
              </a:lnSpc>
            </a:pPr>
            <a:r>
              <a:rPr sz="1500" b="1">
                <a:solidFill>
                  <a:srgbClr val="FFFFFF"/>
                </a:solidFill>
                <a:latin typeface="Meiryo"/>
              </a:rPr>
              <a:t>2026年8月末</a:t>
            </a:r>
          </a:p>
        </p:txBody>
      </p:sp>
      <p:sp>
        <p:nvSpPr>
          <p:cNvPr id="7" name="Rectangle 6"/>
          <p:cNvSpPr/>
          <p:nvPr/>
        </p:nvSpPr>
        <p:spPr>
          <a:xfrm>
            <a:off x="3852000" y="1080000"/>
            <a:ext cx="3168000" cy="72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52000" y="1116000"/>
            <a:ext cx="3168000" cy="288000"/>
          </a:xfrm>
          <a:prstGeom prst="rect">
            <a:avLst/>
          </a:prstGeom>
          <a:noFill/>
          <a:ln>
            <a:noFill/>
          </a:ln>
        </p:spPr>
        <p:txBody>
          <a:bodyPr wrap="square" lIns="54000" tIns="28800" rIns="54000" bIns="28800" anchor="ctr">
            <a:spAutoFit/>
          </a:bodyPr>
          <a:lstStyle/>
          <a:p>
            <a:pPr algn="ctr">
              <a:lnSpc>
                <a:spcPct val="120000"/>
              </a:lnSpc>
            </a:pPr>
            <a:r>
              <a:rPr sz="1300" b="1">
                <a:solidFill>
                  <a:srgbClr val="FFFFFF"/>
                </a:solidFill>
                <a:latin typeface="Meiryo"/>
              </a:rPr>
              <a:t>★ プロジェクト完了</a:t>
            </a:r>
          </a:p>
        </p:txBody>
      </p:sp>
      <p:sp>
        <p:nvSpPr>
          <p:cNvPr id="9" name="TextBox 8"/>
          <p:cNvSpPr txBox="1"/>
          <p:nvPr/>
        </p:nvSpPr>
        <p:spPr>
          <a:xfrm>
            <a:off x="3852000" y="1440000"/>
            <a:ext cx="3168000" cy="288000"/>
          </a:xfrm>
          <a:prstGeom prst="rect">
            <a:avLst/>
          </a:prstGeom>
          <a:noFill/>
          <a:ln>
            <a:noFill/>
          </a:ln>
        </p:spPr>
        <p:txBody>
          <a:bodyPr wrap="square" lIns="54000" tIns="28800" rIns="54000" bIns="28800" anchor="ctr">
            <a:spAutoFit/>
          </a:bodyPr>
          <a:lstStyle/>
          <a:p>
            <a:pPr algn="ctr">
              <a:lnSpc>
                <a:spcPct val="120000"/>
              </a:lnSpc>
            </a:pPr>
            <a:r>
              <a:rPr sz="1500" b="1">
                <a:solidFill>
                  <a:srgbClr val="FFFFFF"/>
                </a:solidFill>
                <a:latin typeface="Meiryo"/>
              </a:rPr>
              <a:t>2026年12月末</a:t>
            </a:r>
          </a:p>
        </p:txBody>
      </p:sp>
      <p:sp>
        <p:nvSpPr>
          <p:cNvPr id="10" name="Rectangle 9"/>
          <p:cNvSpPr/>
          <p:nvPr/>
        </p:nvSpPr>
        <p:spPr>
          <a:xfrm>
            <a:off x="540000" y="221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8000" y="216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月次スケジュール（2026年4月〜12月）</a:t>
            </a:r>
          </a:p>
        </p:txBody>
      </p:sp>
      <p:sp>
        <p:nvSpPr>
          <p:cNvPr id="12" name="Rectangle 11"/>
          <p:cNvSpPr/>
          <p:nvPr/>
        </p:nvSpPr>
        <p:spPr>
          <a:xfrm>
            <a:off x="540000" y="2520000"/>
            <a:ext cx="252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000" y="2520000"/>
            <a:ext cx="2448000" cy="251999"/>
          </a:xfrm>
          <a:prstGeom prst="rect">
            <a:avLst/>
          </a:prstGeom>
          <a:noFill/>
          <a:ln>
            <a:noFill/>
          </a:ln>
        </p:spPr>
        <p:txBody>
          <a:bodyPr wrap="square" lIns="54000" tIns="28800" rIns="54000" bIns="28800" anchor="ctr">
            <a:spAutoFit/>
          </a:bodyPr>
          <a:lstStyle/>
          <a:p>
            <a:pPr algn="l">
              <a:lnSpc>
                <a:spcPct val="120000"/>
              </a:lnSpc>
            </a:pPr>
            <a:r>
              <a:rPr sz="950" b="1">
                <a:solidFill>
                  <a:srgbClr val="FFFFFF"/>
                </a:solidFill>
                <a:latin typeface="Meiryo"/>
              </a:rPr>
              <a:t>フェーズ</a:t>
            </a:r>
          </a:p>
        </p:txBody>
      </p:sp>
      <p:sp>
        <p:nvSpPr>
          <p:cNvPr id="14" name="Rectangle 13"/>
          <p:cNvSpPr/>
          <p:nvPr/>
        </p:nvSpPr>
        <p:spPr>
          <a:xfrm>
            <a:off x="306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4月</a:t>
            </a:r>
          </a:p>
        </p:txBody>
      </p:sp>
      <p:sp>
        <p:nvSpPr>
          <p:cNvPr id="16" name="Rectangle 15"/>
          <p:cNvSpPr/>
          <p:nvPr/>
        </p:nvSpPr>
        <p:spPr>
          <a:xfrm>
            <a:off x="350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0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5月</a:t>
            </a:r>
          </a:p>
        </p:txBody>
      </p:sp>
      <p:sp>
        <p:nvSpPr>
          <p:cNvPr id="18" name="Rectangle 17"/>
          <p:cNvSpPr/>
          <p:nvPr/>
        </p:nvSpPr>
        <p:spPr>
          <a:xfrm>
            <a:off x="394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4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6月</a:t>
            </a:r>
          </a:p>
        </p:txBody>
      </p:sp>
      <p:sp>
        <p:nvSpPr>
          <p:cNvPr id="20" name="Rectangle 19"/>
          <p:cNvSpPr/>
          <p:nvPr/>
        </p:nvSpPr>
        <p:spPr>
          <a:xfrm>
            <a:off x="438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8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7月</a:t>
            </a:r>
          </a:p>
        </p:txBody>
      </p:sp>
      <p:sp>
        <p:nvSpPr>
          <p:cNvPr id="22" name="Rectangle 21"/>
          <p:cNvSpPr/>
          <p:nvPr/>
        </p:nvSpPr>
        <p:spPr>
          <a:xfrm>
            <a:off x="482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2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8月</a:t>
            </a:r>
          </a:p>
        </p:txBody>
      </p:sp>
      <p:sp>
        <p:nvSpPr>
          <p:cNvPr id="24" name="Rectangle 23"/>
          <p:cNvSpPr/>
          <p:nvPr/>
        </p:nvSpPr>
        <p:spPr>
          <a:xfrm>
            <a:off x="526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6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9月</a:t>
            </a:r>
          </a:p>
        </p:txBody>
      </p:sp>
      <p:sp>
        <p:nvSpPr>
          <p:cNvPr id="26" name="Rectangle 25"/>
          <p:cNvSpPr/>
          <p:nvPr/>
        </p:nvSpPr>
        <p:spPr>
          <a:xfrm>
            <a:off x="570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0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10月</a:t>
            </a:r>
          </a:p>
        </p:txBody>
      </p:sp>
      <p:sp>
        <p:nvSpPr>
          <p:cNvPr id="28" name="Rectangle 27"/>
          <p:cNvSpPr/>
          <p:nvPr/>
        </p:nvSpPr>
        <p:spPr>
          <a:xfrm>
            <a:off x="614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4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11月</a:t>
            </a:r>
          </a:p>
        </p:txBody>
      </p:sp>
      <p:sp>
        <p:nvSpPr>
          <p:cNvPr id="30" name="Rectangle 29"/>
          <p:cNvSpPr/>
          <p:nvPr/>
        </p:nvSpPr>
        <p:spPr>
          <a:xfrm>
            <a:off x="6580000" y="2520000"/>
            <a:ext cx="440000" cy="251999"/>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0000" y="2520000"/>
            <a:ext cx="440000" cy="251999"/>
          </a:xfrm>
          <a:prstGeom prst="rect">
            <a:avLst/>
          </a:prstGeom>
          <a:noFill/>
          <a:ln>
            <a:noFill/>
          </a:ln>
        </p:spPr>
        <p:txBody>
          <a:bodyPr wrap="square" lIns="10800" tIns="28800" rIns="10800" bIns="28800" anchor="ctr">
            <a:spAutoFit/>
          </a:bodyPr>
          <a:lstStyle/>
          <a:p>
            <a:pPr algn="ctr">
              <a:lnSpc>
                <a:spcPct val="120000"/>
              </a:lnSpc>
            </a:pPr>
            <a:r>
              <a:rPr sz="950" b="1">
                <a:solidFill>
                  <a:srgbClr val="FFFFFF"/>
                </a:solidFill>
                <a:latin typeface="Meiryo"/>
              </a:rPr>
              <a:t>12月</a:t>
            </a:r>
          </a:p>
        </p:txBody>
      </p:sp>
      <p:sp>
        <p:nvSpPr>
          <p:cNvPr id="32" name="Rectangle 31"/>
          <p:cNvSpPr/>
          <p:nvPr/>
        </p:nvSpPr>
        <p:spPr>
          <a:xfrm>
            <a:off x="540000" y="2771999"/>
            <a:ext cx="252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000" y="27719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フェーズ0：方針確定・合意</a:t>
            </a:r>
          </a:p>
        </p:txBody>
      </p:sp>
      <p:sp>
        <p:nvSpPr>
          <p:cNvPr id="34" name="Rectangle 33"/>
          <p:cNvSpPr/>
          <p:nvPr/>
        </p:nvSpPr>
        <p:spPr>
          <a:xfrm>
            <a:off x="3060000" y="27719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50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94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8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82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26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70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4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580000" y="27719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40000" y="3031199"/>
            <a:ext cx="252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2000" y="30311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フェーズ1：ハブ + 第1ミッション試作</a:t>
            </a:r>
          </a:p>
        </p:txBody>
      </p:sp>
      <p:sp>
        <p:nvSpPr>
          <p:cNvPr id="45" name="Rectangle 44"/>
          <p:cNvSpPr/>
          <p:nvPr/>
        </p:nvSpPr>
        <p:spPr>
          <a:xfrm>
            <a:off x="306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500000" y="30311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394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38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82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26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570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14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580000" y="30311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40000" y="3290399"/>
            <a:ext cx="252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12000" y="32903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フェーズ2：算数・理科 6ミッション</a:t>
            </a:r>
          </a:p>
        </p:txBody>
      </p:sp>
      <p:sp>
        <p:nvSpPr>
          <p:cNvPr id="56" name="Rectangle 55"/>
          <p:cNvSpPr/>
          <p:nvPr/>
        </p:nvSpPr>
        <p:spPr>
          <a:xfrm>
            <a:off x="306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350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940000" y="32903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38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82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26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70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14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6580000" y="3290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40000" y="3549599"/>
            <a:ext cx="252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2000" y="35495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フェーズ3：社会・プロ 6ミッション</a:t>
            </a:r>
          </a:p>
        </p:txBody>
      </p:sp>
      <p:sp>
        <p:nvSpPr>
          <p:cNvPr id="67" name="Rectangle 66"/>
          <p:cNvSpPr/>
          <p:nvPr/>
        </p:nvSpPr>
        <p:spPr>
          <a:xfrm>
            <a:off x="306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50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394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380000" y="35495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482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26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70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614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580000" y="35495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40000" y="3808799"/>
            <a:ext cx="252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12000" y="38087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フェーズ4：物理ラボ3 + ワールド統合</a:t>
            </a:r>
          </a:p>
        </p:txBody>
      </p:sp>
      <p:sp>
        <p:nvSpPr>
          <p:cNvPr id="78" name="Rectangle 77"/>
          <p:cNvSpPr/>
          <p:nvPr/>
        </p:nvSpPr>
        <p:spPr>
          <a:xfrm>
            <a:off x="306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350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394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438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4820000" y="38087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526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570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614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6580000" y="38087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40000" y="4067999"/>
            <a:ext cx="252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12000" y="40679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フェーズ5：PDF教材 全15セット仕上げ</a:t>
            </a:r>
          </a:p>
        </p:txBody>
      </p:sp>
      <p:sp>
        <p:nvSpPr>
          <p:cNvPr id="89" name="Rectangle 88"/>
          <p:cNvSpPr/>
          <p:nvPr/>
        </p:nvSpPr>
        <p:spPr>
          <a:xfrm>
            <a:off x="306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350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394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438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82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5260000" y="40679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570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614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6580000" y="4067999"/>
            <a:ext cx="44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540000" y="4327199"/>
            <a:ext cx="252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612000" y="4327199"/>
            <a:ext cx="2448000" cy="259200"/>
          </a:xfrm>
          <a:prstGeom prst="rect">
            <a:avLst/>
          </a:prstGeom>
          <a:noFill/>
          <a:ln>
            <a:noFill/>
          </a:ln>
        </p:spPr>
        <p:txBody>
          <a:bodyPr wrap="square" lIns="54000" tIns="28800" rIns="54000" bIns="28800" anchor="ctr">
            <a:spAutoFit/>
          </a:bodyPr>
          <a:lstStyle/>
          <a:p>
            <a:pPr algn="l">
              <a:lnSpc>
                <a:spcPct val="120000"/>
              </a:lnSpc>
            </a:pPr>
            <a:r>
              <a:rPr sz="850" b="0">
                <a:solidFill>
                  <a:srgbClr val="1E232D"/>
                </a:solidFill>
                <a:latin typeface="Meiryo"/>
              </a:rPr>
              <a:t>フェーズ6：運用マニュアル + 内部テスト</a:t>
            </a:r>
          </a:p>
        </p:txBody>
      </p:sp>
      <p:sp>
        <p:nvSpPr>
          <p:cNvPr id="100" name="Rectangle 99"/>
          <p:cNvSpPr/>
          <p:nvPr/>
        </p:nvSpPr>
        <p:spPr>
          <a:xfrm>
            <a:off x="306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350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394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38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482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526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5700000" y="43271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14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6580000" y="43271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540000" y="4586399"/>
            <a:ext cx="2520000" cy="2592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540000" y="4586399"/>
            <a:ext cx="252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12000" y="4611705"/>
            <a:ext cx="2448000" cy="208588"/>
          </a:xfrm>
          <a:prstGeom prst="rect">
            <a:avLst/>
          </a:prstGeom>
          <a:noFill/>
          <a:ln>
            <a:noFill/>
          </a:ln>
        </p:spPr>
        <p:txBody>
          <a:bodyPr wrap="square" lIns="54000" tIns="28800" rIns="54000" bIns="28800" anchor="ctr">
            <a:spAutoFit/>
          </a:bodyPr>
          <a:lstStyle/>
          <a:p>
            <a:pPr algn="l">
              <a:lnSpc>
                <a:spcPct val="120000"/>
              </a:lnSpc>
            </a:pPr>
            <a:r>
              <a:rPr sz="850" b="0" dirty="0">
                <a:solidFill>
                  <a:srgbClr val="1E232D"/>
                </a:solidFill>
                <a:latin typeface="Meiryo"/>
              </a:rPr>
              <a:t>フェーズ</a:t>
            </a:r>
            <a:r>
              <a:rPr lang="en-US" altLang="ja-JP" sz="850" b="0" dirty="0">
                <a:solidFill>
                  <a:srgbClr val="1E232D"/>
                </a:solidFill>
                <a:latin typeface="Meiryo"/>
              </a:rPr>
              <a:t>7</a:t>
            </a:r>
            <a:r>
              <a:rPr sz="850" b="0" dirty="0">
                <a:solidFill>
                  <a:srgbClr val="1E232D"/>
                </a:solidFill>
                <a:latin typeface="Meiryo"/>
              </a:rPr>
              <a:t>：最終修正・納品</a:t>
            </a:r>
          </a:p>
        </p:txBody>
      </p:sp>
      <p:sp>
        <p:nvSpPr>
          <p:cNvPr id="122" name="Rectangle 121"/>
          <p:cNvSpPr/>
          <p:nvPr/>
        </p:nvSpPr>
        <p:spPr>
          <a:xfrm>
            <a:off x="306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350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394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438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482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526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p:cNvSpPr/>
          <p:nvPr/>
        </p:nvSpPr>
        <p:spPr>
          <a:xfrm>
            <a:off x="570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p:cNvSpPr/>
          <p:nvPr/>
        </p:nvSpPr>
        <p:spPr>
          <a:xfrm>
            <a:off x="6140000" y="4586399"/>
            <a:ext cx="440000" cy="2592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6580000" y="4586399"/>
            <a:ext cx="440000" cy="2592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540000" y="4845599"/>
            <a:ext cx="2520000" cy="2592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648000" y="4845599"/>
            <a:ext cx="2448000" cy="259200"/>
          </a:xfrm>
          <a:prstGeom prst="rect">
            <a:avLst/>
          </a:prstGeom>
          <a:noFill/>
          <a:ln>
            <a:noFill/>
          </a:ln>
        </p:spPr>
        <p:txBody>
          <a:bodyPr wrap="square" lIns="54000" tIns="28800" rIns="54000" bIns="28800" anchor="ctr">
            <a:spAutoFit/>
          </a:bodyPr>
          <a:lstStyle/>
          <a:p>
            <a:pPr algn="l">
              <a:lnSpc>
                <a:spcPct val="120000"/>
              </a:lnSpc>
            </a:pPr>
            <a:r>
              <a:rPr sz="850" b="1" dirty="0" err="1">
                <a:solidFill>
                  <a:srgbClr val="C98A1B"/>
                </a:solidFill>
                <a:latin typeface="Meiryo"/>
              </a:rPr>
              <a:t>Webサイト開発（並行進行</a:t>
            </a:r>
            <a:r>
              <a:rPr sz="850" b="1" dirty="0">
                <a:solidFill>
                  <a:srgbClr val="C98A1B"/>
                </a:solidFill>
                <a:latin typeface="Meiryo"/>
              </a:rPr>
              <a:t>）</a:t>
            </a:r>
          </a:p>
        </p:txBody>
      </p:sp>
      <p:sp>
        <p:nvSpPr>
          <p:cNvPr id="133" name="Rectangle 132"/>
          <p:cNvSpPr/>
          <p:nvPr/>
        </p:nvSpPr>
        <p:spPr>
          <a:xfrm>
            <a:off x="3060000" y="4845599"/>
            <a:ext cx="440000" cy="2592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350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394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438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482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526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570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6140000" y="4845599"/>
            <a:ext cx="440000" cy="2592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6580000" y="4845599"/>
            <a:ext cx="440000" cy="259200"/>
          </a:xfrm>
          <a:prstGeom prst="rect">
            <a:avLst/>
          </a:prstGeom>
          <a:solidFill>
            <a:srgbClr val="C98A1B"/>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540000" y="581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648000" y="576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主要マイルストーン説明</a:t>
            </a:r>
          </a:p>
        </p:txBody>
      </p:sp>
      <p:sp>
        <p:nvSpPr>
          <p:cNvPr id="144" name="TextBox 143"/>
          <p:cNvSpPr txBox="1"/>
          <p:nvPr/>
        </p:nvSpPr>
        <p:spPr>
          <a:xfrm>
            <a:off x="540000" y="6120000"/>
            <a:ext cx="6480000" cy="1423921"/>
          </a:xfrm>
          <a:prstGeom prst="rect">
            <a:avLst/>
          </a:prstGeom>
          <a:noFill/>
          <a:ln>
            <a:noFill/>
          </a:ln>
        </p:spPr>
        <p:txBody>
          <a:bodyPr wrap="square" lIns="54000" tIns="28800" rIns="54000" bIns="28800" anchor="t">
            <a:spAutoFit/>
          </a:bodyPr>
          <a:lstStyle/>
          <a:p>
            <a:pPr algn="l">
              <a:lnSpc>
                <a:spcPct val="150000"/>
              </a:lnSpc>
            </a:pPr>
            <a:r>
              <a:rPr sz="1000" b="0" dirty="0">
                <a:solidFill>
                  <a:srgbClr val="1E232D"/>
                </a:solidFill>
                <a:latin typeface="Meiryo"/>
              </a:rPr>
              <a:t>・5月末：第1ミッション試作版をクライアント様にご確認いただく</a:t>
            </a:r>
          </a:p>
          <a:p>
            <a:pPr algn="l">
              <a:lnSpc>
                <a:spcPct val="150000"/>
              </a:lnSpc>
            </a:pPr>
            <a:r>
              <a:rPr sz="1000" b="0" dirty="0">
                <a:solidFill>
                  <a:srgbClr val="1E232D"/>
                </a:solidFill>
                <a:latin typeface="Meiryo"/>
              </a:rPr>
              <a:t>  → この時点でのフィードバックを基に、残り14ミッションの設計基準を確定します</a:t>
            </a:r>
          </a:p>
          <a:p>
            <a:pPr algn="l">
              <a:lnSpc>
                <a:spcPct val="150000"/>
              </a:lnSpc>
            </a:pPr>
            <a:r>
              <a:rPr sz="1000" b="0" dirty="0">
                <a:solidFill>
                  <a:srgbClr val="1E232D"/>
                </a:solidFill>
                <a:latin typeface="Meiryo"/>
              </a:rPr>
              <a:t>  （</a:t>
            </a:r>
            <a:r>
              <a:rPr sz="1000" b="0" dirty="0" err="1">
                <a:solidFill>
                  <a:srgbClr val="1E232D"/>
                </a:solidFill>
                <a:latin typeface="Meiryo"/>
              </a:rPr>
              <a:t>最重要のフィードバックタイミング</a:t>
            </a:r>
            <a:r>
              <a:rPr sz="1000" b="0" dirty="0">
                <a:solidFill>
                  <a:srgbClr val="1E232D"/>
                </a:solidFill>
                <a:latin typeface="Meiryo"/>
              </a:rPr>
              <a:t>）</a:t>
            </a:r>
          </a:p>
          <a:p>
            <a:pPr algn="l">
              <a:lnSpc>
                <a:spcPct val="150000"/>
              </a:lnSpc>
            </a:pPr>
            <a:endParaRPr sz="1000" b="0" dirty="0">
              <a:solidFill>
                <a:srgbClr val="1E232D"/>
              </a:solidFill>
              <a:latin typeface="Meiryo"/>
            </a:endParaRPr>
          </a:p>
          <a:p>
            <a:pPr algn="l">
              <a:lnSpc>
                <a:spcPct val="150000"/>
              </a:lnSpc>
            </a:pPr>
            <a:r>
              <a:rPr sz="1000" b="0" dirty="0">
                <a:solidFill>
                  <a:srgbClr val="1E232D"/>
                </a:solidFill>
                <a:latin typeface="Meiryo"/>
              </a:rPr>
              <a:t>・8月末：★ ワールド完成。全15ミッションを収録した .</a:t>
            </a:r>
            <a:r>
              <a:rPr sz="1000" b="0" dirty="0" err="1">
                <a:solidFill>
                  <a:srgbClr val="1E232D"/>
                </a:solidFill>
                <a:latin typeface="Meiryo"/>
              </a:rPr>
              <a:t>mcworld</a:t>
            </a:r>
            <a:r>
              <a:rPr sz="1000" b="0" dirty="0">
                <a:solidFill>
                  <a:srgbClr val="1E232D"/>
                </a:solidFill>
                <a:latin typeface="Meiryo"/>
              </a:rPr>
              <a:t> </a:t>
            </a:r>
            <a:r>
              <a:rPr sz="1000" b="0" dirty="0" err="1">
                <a:solidFill>
                  <a:srgbClr val="1E232D"/>
                </a:solidFill>
                <a:latin typeface="Meiryo"/>
              </a:rPr>
              <a:t>を納品</a:t>
            </a:r>
            <a:endParaRPr sz="1000" b="0" dirty="0">
              <a:solidFill>
                <a:srgbClr val="1E232D"/>
              </a:solidFill>
              <a:latin typeface="Meiryo"/>
            </a:endParaRPr>
          </a:p>
          <a:p>
            <a:pPr algn="l">
              <a:lnSpc>
                <a:spcPct val="150000"/>
              </a:lnSpc>
            </a:pPr>
            <a:r>
              <a:rPr sz="1000" b="0" dirty="0">
                <a:solidFill>
                  <a:srgbClr val="1E232D"/>
                </a:solidFill>
                <a:latin typeface="Meiryo"/>
              </a:rPr>
              <a:t>・12月末：★ </a:t>
            </a:r>
            <a:r>
              <a:rPr sz="1000" b="0" dirty="0" err="1">
                <a:solidFill>
                  <a:srgbClr val="1E232D"/>
                </a:solidFill>
                <a:latin typeface="Meiryo"/>
              </a:rPr>
              <a:t>最終納品</a:t>
            </a:r>
            <a:r>
              <a:rPr sz="1000" b="0" dirty="0">
                <a:solidFill>
                  <a:srgbClr val="1E232D"/>
                </a:solidFill>
                <a:latin typeface="Meiryo"/>
              </a:rPr>
              <a:t>（.</a:t>
            </a:r>
            <a:r>
              <a:rPr sz="1000" b="0" dirty="0" err="1">
                <a:solidFill>
                  <a:srgbClr val="1E232D"/>
                </a:solidFill>
                <a:latin typeface="Meiryo"/>
              </a:rPr>
              <a:t>mcworld</a:t>
            </a:r>
            <a:r>
              <a:rPr sz="1000" b="0" dirty="0">
                <a:solidFill>
                  <a:srgbClr val="1E232D"/>
                </a:solidFill>
                <a:latin typeface="Meiryo"/>
              </a:rPr>
              <a:t> + PDF15セット + </a:t>
            </a:r>
            <a:r>
              <a:rPr sz="1000" b="0" dirty="0" err="1">
                <a:solidFill>
                  <a:srgbClr val="1E232D"/>
                </a:solidFill>
                <a:latin typeface="Meiryo"/>
              </a:rPr>
              <a:t>運用マニュアル</a:t>
            </a:r>
            <a:r>
              <a:rPr sz="1000" b="0" dirty="0">
                <a:solidFill>
                  <a:srgbClr val="1E232D"/>
                </a:solidFill>
                <a:latin typeface="Meiryo"/>
              </a:rPr>
              <a:t> + </a:t>
            </a:r>
            <a:r>
              <a:rPr sz="1000" b="0" dirty="0" err="1">
                <a:solidFill>
                  <a:srgbClr val="1E232D"/>
                </a:solidFill>
                <a:latin typeface="Meiryo"/>
              </a:rPr>
              <a:t>Webサイト</a:t>
            </a:r>
            <a:r>
              <a:rPr sz="1000" b="0" dirty="0">
                <a:solidFill>
                  <a:srgbClr val="1E232D"/>
                </a:solidFill>
                <a:latin typeface="Meiryo"/>
              </a:rPr>
              <a:t>）</a:t>
            </a:r>
          </a:p>
        </p:txBody>
      </p:sp>
      <p:sp>
        <p:nvSpPr>
          <p:cNvPr id="145" name="TextBox 144"/>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15 / 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15. クライアント様へのお願い</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080000"/>
            <a:ext cx="1152000" cy="1260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0000" y="1080000"/>
            <a:ext cx="1152000" cy="1260000"/>
          </a:xfrm>
          <a:prstGeom prst="rect">
            <a:avLst/>
          </a:prstGeom>
          <a:noFill/>
          <a:ln>
            <a:noFill/>
          </a:ln>
        </p:spPr>
        <p:txBody>
          <a:bodyPr wrap="square" lIns="54000" tIns="28800" rIns="54000" bIns="28800" anchor="ctr">
            <a:spAutoFit/>
          </a:bodyPr>
          <a:lstStyle/>
          <a:p>
            <a:pPr algn="ctr">
              <a:lnSpc>
                <a:spcPct val="120000"/>
              </a:lnSpc>
            </a:pPr>
            <a:r>
              <a:rPr sz="1100" b="1">
                <a:solidFill>
                  <a:srgbClr val="FFFFFF"/>
                </a:solidFill>
                <a:latin typeface="Meiryo"/>
              </a:rPr>
              <a:t>4月30日(目安)</a:t>
            </a:r>
          </a:p>
        </p:txBody>
      </p:sp>
      <p:sp>
        <p:nvSpPr>
          <p:cNvPr id="6" name="Rectangle 5"/>
          <p:cNvSpPr/>
          <p:nvPr/>
        </p:nvSpPr>
        <p:spPr>
          <a:xfrm>
            <a:off x="1692000" y="1080000"/>
            <a:ext cx="5328000" cy="126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64000" y="1152000"/>
            <a:ext cx="5184000" cy="251999"/>
          </a:xfrm>
          <a:prstGeom prst="rect">
            <a:avLst/>
          </a:prstGeom>
          <a:noFill/>
          <a:ln>
            <a:noFill/>
          </a:ln>
        </p:spPr>
        <p:txBody>
          <a:bodyPr wrap="square" lIns="54000" tIns="28800" rIns="54000" bIns="28800" anchor="t">
            <a:spAutoFit/>
          </a:bodyPr>
          <a:lstStyle/>
          <a:p>
            <a:pPr algn="l">
              <a:lnSpc>
                <a:spcPct val="120000"/>
              </a:lnSpc>
            </a:pPr>
            <a:r>
              <a:rPr sz="1100" b="1">
                <a:solidFill>
                  <a:srgbClr val="203A60"/>
                </a:solidFill>
                <a:latin typeface="Meiryo"/>
              </a:rPr>
              <a:t>本提案書へのご判断</a:t>
            </a:r>
          </a:p>
        </p:txBody>
      </p:sp>
      <p:sp>
        <p:nvSpPr>
          <p:cNvPr id="8" name="TextBox 7"/>
          <p:cNvSpPr txBox="1"/>
          <p:nvPr/>
        </p:nvSpPr>
        <p:spPr>
          <a:xfrm>
            <a:off x="1764000" y="1404000"/>
            <a:ext cx="5184000" cy="900000"/>
          </a:xfrm>
          <a:prstGeom prst="rect">
            <a:avLst/>
          </a:prstGeom>
          <a:noFill/>
          <a:ln>
            <a:noFill/>
          </a:ln>
        </p:spPr>
        <p:txBody>
          <a:bodyPr wrap="square" lIns="54000" tIns="28800" rIns="54000" bIns="28800" anchor="t">
            <a:spAutoFit/>
          </a:bodyPr>
          <a:lstStyle/>
          <a:p>
            <a:pPr algn="l">
              <a:lnSpc>
                <a:spcPct val="150000"/>
              </a:lnSpc>
            </a:pPr>
            <a:r>
              <a:rPr sz="950" b="0" dirty="0">
                <a:solidFill>
                  <a:srgbClr val="1E232D"/>
                </a:solidFill>
                <a:latin typeface="Meiryo"/>
              </a:rPr>
              <a:t>・2択① </a:t>
            </a:r>
            <a:r>
              <a:rPr sz="950" b="0" dirty="0" err="1">
                <a:solidFill>
                  <a:srgbClr val="1E232D"/>
                </a:solidFill>
                <a:latin typeface="Meiryo"/>
              </a:rPr>
              <a:t>構造の主軸（推奨A：教科別＋物理ラボ＋国語素地</a:t>
            </a:r>
            <a:r>
              <a:rPr sz="950" b="0" dirty="0">
                <a:solidFill>
                  <a:srgbClr val="1E232D"/>
                </a:solidFill>
                <a:latin typeface="Meiryo"/>
              </a:rPr>
              <a:t>）</a:t>
            </a:r>
          </a:p>
          <a:p>
            <a:pPr algn="l">
              <a:lnSpc>
                <a:spcPct val="150000"/>
              </a:lnSpc>
            </a:pPr>
            <a:r>
              <a:rPr sz="950" b="0" dirty="0">
                <a:solidFill>
                  <a:srgbClr val="1E232D"/>
                </a:solidFill>
                <a:latin typeface="Meiryo"/>
              </a:rPr>
              <a:t>・2択② </a:t>
            </a:r>
            <a:r>
              <a:rPr sz="950" b="0" dirty="0" err="1">
                <a:solidFill>
                  <a:srgbClr val="1E232D"/>
                </a:solidFill>
                <a:latin typeface="Meiryo"/>
              </a:rPr>
              <a:t>独自価値の方向（推奨B：発展接続型</a:t>
            </a:r>
            <a:r>
              <a:rPr sz="950" b="0" dirty="0">
                <a:solidFill>
                  <a:srgbClr val="1E232D"/>
                </a:solidFill>
                <a:latin typeface="Meiryo"/>
              </a:rPr>
              <a:t>）</a:t>
            </a:r>
          </a:p>
          <a:p>
            <a:pPr algn="l">
              <a:lnSpc>
                <a:spcPct val="150000"/>
              </a:lnSpc>
            </a:pPr>
            <a:r>
              <a:rPr sz="950" b="0" dirty="0">
                <a:solidFill>
                  <a:srgbClr val="1E232D"/>
                </a:solidFill>
                <a:latin typeface="Meiryo"/>
              </a:rPr>
              <a:t>・前提・仮定ページの内容（問題数10問、難易度設計等）</a:t>
            </a:r>
          </a:p>
          <a:p>
            <a:pPr algn="l">
              <a:lnSpc>
                <a:spcPct val="150000"/>
              </a:lnSpc>
            </a:pPr>
            <a:r>
              <a:rPr sz="950" b="0" dirty="0">
                <a:solidFill>
                  <a:srgbClr val="1E232D"/>
                </a:solidFill>
                <a:latin typeface="Meiryo"/>
              </a:rPr>
              <a:t>上記3点について、『</a:t>
            </a:r>
            <a:r>
              <a:rPr sz="950" b="0" dirty="0" err="1">
                <a:solidFill>
                  <a:srgbClr val="1E232D"/>
                </a:solidFill>
                <a:latin typeface="Meiryo"/>
              </a:rPr>
              <a:t>そのまま承認』または『ここを調整希望』をご連絡ください</a:t>
            </a:r>
            <a:r>
              <a:rPr sz="950" b="0" dirty="0">
                <a:solidFill>
                  <a:srgbClr val="1E232D"/>
                </a:solidFill>
                <a:latin typeface="Meiryo"/>
              </a:rPr>
              <a:t>。</a:t>
            </a:r>
          </a:p>
        </p:txBody>
      </p:sp>
      <p:sp>
        <p:nvSpPr>
          <p:cNvPr id="9" name="Rectangle 8"/>
          <p:cNvSpPr/>
          <p:nvPr/>
        </p:nvSpPr>
        <p:spPr>
          <a:xfrm>
            <a:off x="540000" y="2448000"/>
            <a:ext cx="1152000" cy="1260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0000" y="2448000"/>
            <a:ext cx="1152000" cy="1260000"/>
          </a:xfrm>
          <a:prstGeom prst="rect">
            <a:avLst/>
          </a:prstGeom>
          <a:noFill/>
          <a:ln>
            <a:noFill/>
          </a:ln>
        </p:spPr>
        <p:txBody>
          <a:bodyPr wrap="square" lIns="54000" tIns="28800" rIns="54000" bIns="28800" anchor="ctr">
            <a:spAutoFit/>
          </a:bodyPr>
          <a:lstStyle/>
          <a:p>
            <a:pPr algn="ctr">
              <a:lnSpc>
                <a:spcPct val="120000"/>
              </a:lnSpc>
            </a:pPr>
            <a:r>
              <a:rPr sz="1100" b="1">
                <a:solidFill>
                  <a:srgbClr val="FFFFFF"/>
                </a:solidFill>
                <a:latin typeface="Meiryo"/>
              </a:rPr>
              <a:t>5月末</a:t>
            </a:r>
          </a:p>
        </p:txBody>
      </p:sp>
      <p:sp>
        <p:nvSpPr>
          <p:cNvPr id="11" name="Rectangle 10"/>
          <p:cNvSpPr/>
          <p:nvPr/>
        </p:nvSpPr>
        <p:spPr>
          <a:xfrm>
            <a:off x="1692000" y="2448000"/>
            <a:ext cx="5328000" cy="126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64000" y="2520000"/>
            <a:ext cx="5184000" cy="251999"/>
          </a:xfrm>
          <a:prstGeom prst="rect">
            <a:avLst/>
          </a:prstGeom>
          <a:noFill/>
          <a:ln>
            <a:noFill/>
          </a:ln>
        </p:spPr>
        <p:txBody>
          <a:bodyPr wrap="square" lIns="54000" tIns="28800" rIns="54000" bIns="28800" anchor="t">
            <a:spAutoFit/>
          </a:bodyPr>
          <a:lstStyle/>
          <a:p>
            <a:pPr algn="l">
              <a:lnSpc>
                <a:spcPct val="120000"/>
              </a:lnSpc>
            </a:pPr>
            <a:r>
              <a:rPr sz="1100" b="1" dirty="0" err="1">
                <a:solidFill>
                  <a:srgbClr val="203A60"/>
                </a:solidFill>
                <a:latin typeface="Meiryo"/>
              </a:rPr>
              <a:t>試作版のフィードバック</a:t>
            </a:r>
            <a:endParaRPr sz="1100" b="1" dirty="0">
              <a:solidFill>
                <a:srgbClr val="203A60"/>
              </a:solidFill>
              <a:latin typeface="Meiryo"/>
            </a:endParaRPr>
          </a:p>
        </p:txBody>
      </p:sp>
      <p:sp>
        <p:nvSpPr>
          <p:cNvPr id="13" name="TextBox 12"/>
          <p:cNvSpPr txBox="1"/>
          <p:nvPr/>
        </p:nvSpPr>
        <p:spPr>
          <a:xfrm>
            <a:off x="1764000" y="2772000"/>
            <a:ext cx="5184000" cy="697761"/>
          </a:xfrm>
          <a:prstGeom prst="rect">
            <a:avLst/>
          </a:prstGeom>
          <a:noFill/>
          <a:ln>
            <a:noFill/>
          </a:ln>
        </p:spPr>
        <p:txBody>
          <a:bodyPr wrap="square" lIns="54000" tIns="28800" rIns="54000" bIns="28800" anchor="t">
            <a:spAutoFit/>
          </a:bodyPr>
          <a:lstStyle/>
          <a:p>
            <a:pPr algn="l">
              <a:lnSpc>
                <a:spcPct val="150000"/>
              </a:lnSpc>
            </a:pPr>
            <a:r>
              <a:rPr sz="950" b="0" dirty="0" err="1">
                <a:solidFill>
                  <a:srgbClr val="1E232D"/>
                </a:solidFill>
                <a:latin typeface="Meiryo"/>
              </a:rPr>
              <a:t>ハブ拠点</a:t>
            </a:r>
            <a:r>
              <a:rPr sz="950" b="0" dirty="0">
                <a:solidFill>
                  <a:srgbClr val="1E232D"/>
                </a:solidFill>
                <a:latin typeface="Meiryo"/>
              </a:rPr>
              <a:t> + 第1ミッションの試作版を共有します。</a:t>
            </a:r>
          </a:p>
          <a:p>
            <a:pPr algn="l">
              <a:lnSpc>
                <a:spcPct val="150000"/>
              </a:lnSpc>
            </a:pPr>
            <a:r>
              <a:rPr sz="950" b="0" dirty="0">
                <a:solidFill>
                  <a:srgbClr val="1E232D"/>
                </a:solidFill>
                <a:latin typeface="Meiryo"/>
              </a:rPr>
              <a:t>「</a:t>
            </a:r>
            <a:r>
              <a:rPr sz="950" b="0" dirty="0" err="1">
                <a:solidFill>
                  <a:srgbClr val="1E232D"/>
                </a:solidFill>
                <a:latin typeface="Meiryo"/>
              </a:rPr>
              <a:t>方向性として違和感がないか</a:t>
            </a:r>
            <a:r>
              <a:rPr sz="950" b="0" dirty="0">
                <a:solidFill>
                  <a:srgbClr val="1E232D"/>
                </a:solidFill>
                <a:latin typeface="Meiryo"/>
              </a:rPr>
              <a:t>」「</a:t>
            </a:r>
            <a:r>
              <a:rPr sz="950" b="0" dirty="0" err="1">
                <a:solidFill>
                  <a:srgbClr val="1E232D"/>
                </a:solidFill>
                <a:latin typeface="Meiryo"/>
              </a:rPr>
              <a:t>児童に合うか」をご確認ください</a:t>
            </a:r>
            <a:r>
              <a:rPr sz="950" b="0" dirty="0">
                <a:solidFill>
                  <a:srgbClr val="1E232D"/>
                </a:solidFill>
                <a:latin typeface="Meiryo"/>
              </a:rPr>
              <a:t>。</a:t>
            </a:r>
          </a:p>
          <a:p>
            <a:pPr algn="l">
              <a:lnSpc>
                <a:spcPct val="150000"/>
              </a:lnSpc>
            </a:pPr>
            <a:r>
              <a:rPr sz="950" b="0" dirty="0">
                <a:solidFill>
                  <a:srgbClr val="1E232D"/>
                </a:solidFill>
                <a:latin typeface="Meiryo"/>
              </a:rPr>
              <a:t>このタイミングのフィードバックが残り14ミッションの品質を決めるポイント</a:t>
            </a:r>
            <a:r>
              <a:rPr lang="ja-JP" altLang="en-US" sz="950" b="0" dirty="0">
                <a:solidFill>
                  <a:srgbClr val="1E232D"/>
                </a:solidFill>
                <a:latin typeface="メイリオ" panose="020B0604030504040204" pitchFamily="50" charset="-128"/>
                <a:ea typeface="メイリオ" panose="020B0604030504040204" pitchFamily="50" charset="-128"/>
              </a:rPr>
              <a:t>となります。</a:t>
            </a:r>
            <a:endParaRPr sz="950" b="0" dirty="0">
              <a:solidFill>
                <a:srgbClr val="1E232D"/>
              </a:solidFill>
              <a:latin typeface="メイリオ" panose="020B0604030504040204" pitchFamily="50" charset="-128"/>
              <a:ea typeface="メイリオ" panose="020B0604030504040204" pitchFamily="50" charset="-128"/>
            </a:endParaRPr>
          </a:p>
        </p:txBody>
      </p:sp>
      <p:sp>
        <p:nvSpPr>
          <p:cNvPr id="14" name="Rectangle 13"/>
          <p:cNvSpPr/>
          <p:nvPr/>
        </p:nvSpPr>
        <p:spPr>
          <a:xfrm>
            <a:off x="540000" y="3816000"/>
            <a:ext cx="1152000" cy="1260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0000" y="3816000"/>
            <a:ext cx="1152000" cy="1260000"/>
          </a:xfrm>
          <a:prstGeom prst="rect">
            <a:avLst/>
          </a:prstGeom>
          <a:noFill/>
          <a:ln>
            <a:noFill/>
          </a:ln>
        </p:spPr>
        <p:txBody>
          <a:bodyPr wrap="square" lIns="54000" tIns="28800" rIns="54000" bIns="28800" anchor="ctr">
            <a:spAutoFit/>
          </a:bodyPr>
          <a:lstStyle/>
          <a:p>
            <a:pPr algn="ctr">
              <a:lnSpc>
                <a:spcPct val="120000"/>
              </a:lnSpc>
            </a:pPr>
            <a:r>
              <a:rPr sz="1100" b="1">
                <a:solidFill>
                  <a:srgbClr val="FFFFFF"/>
                </a:solidFill>
                <a:latin typeface="Meiryo"/>
              </a:rPr>
              <a:t>各フェーズ末</a:t>
            </a:r>
          </a:p>
        </p:txBody>
      </p:sp>
      <p:sp>
        <p:nvSpPr>
          <p:cNvPr id="16" name="Rectangle 15"/>
          <p:cNvSpPr/>
          <p:nvPr/>
        </p:nvSpPr>
        <p:spPr>
          <a:xfrm>
            <a:off x="1692000" y="3816000"/>
            <a:ext cx="5328000" cy="126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64000" y="3888000"/>
            <a:ext cx="5184000" cy="251999"/>
          </a:xfrm>
          <a:prstGeom prst="rect">
            <a:avLst/>
          </a:prstGeom>
          <a:noFill/>
          <a:ln>
            <a:noFill/>
          </a:ln>
        </p:spPr>
        <p:txBody>
          <a:bodyPr wrap="square" lIns="54000" tIns="28800" rIns="54000" bIns="28800" anchor="t">
            <a:spAutoFit/>
          </a:bodyPr>
          <a:lstStyle/>
          <a:p>
            <a:pPr algn="l">
              <a:lnSpc>
                <a:spcPct val="120000"/>
              </a:lnSpc>
            </a:pPr>
            <a:r>
              <a:rPr sz="1100" b="1" dirty="0" err="1">
                <a:solidFill>
                  <a:srgbClr val="203A60"/>
                </a:solidFill>
                <a:latin typeface="Meiryo"/>
              </a:rPr>
              <a:t>進捗報告への目視確認</a:t>
            </a:r>
            <a:endParaRPr sz="1100" b="1" dirty="0">
              <a:solidFill>
                <a:srgbClr val="203A60"/>
              </a:solidFill>
              <a:latin typeface="Meiryo"/>
            </a:endParaRPr>
          </a:p>
        </p:txBody>
      </p:sp>
      <p:sp>
        <p:nvSpPr>
          <p:cNvPr id="18" name="TextBox 17"/>
          <p:cNvSpPr txBox="1"/>
          <p:nvPr/>
        </p:nvSpPr>
        <p:spPr>
          <a:xfrm>
            <a:off x="1764000" y="4140000"/>
            <a:ext cx="5184000" cy="900000"/>
          </a:xfrm>
          <a:prstGeom prst="rect">
            <a:avLst/>
          </a:prstGeom>
          <a:noFill/>
          <a:ln>
            <a:noFill/>
          </a:ln>
        </p:spPr>
        <p:txBody>
          <a:bodyPr wrap="square" lIns="54000" tIns="28800" rIns="54000" bIns="28800" anchor="t">
            <a:spAutoFit/>
          </a:bodyPr>
          <a:lstStyle/>
          <a:p>
            <a:pPr algn="l">
              <a:lnSpc>
                <a:spcPct val="150000"/>
              </a:lnSpc>
            </a:pPr>
            <a:r>
              <a:rPr sz="950" b="0">
                <a:solidFill>
                  <a:srgbClr val="1E232D"/>
                </a:solidFill>
                <a:latin typeface="Meiryo"/>
              </a:rPr>
              <a:t>月1回程度、進捗レポート・動画・試作ファイルを共有します。</a:t>
            </a:r>
          </a:p>
          <a:p>
            <a:pPr algn="l">
              <a:lnSpc>
                <a:spcPct val="150000"/>
              </a:lnSpc>
            </a:pPr>
            <a:r>
              <a:rPr sz="950" b="0">
                <a:solidFill>
                  <a:srgbClr val="1E232D"/>
                </a:solidFill>
                <a:latin typeface="Meiryo"/>
              </a:rPr>
              <a:t>1〜2営業日以内の『受領・問題なし』のお返事をお願いできますと進行が滞りません。</a:t>
            </a:r>
          </a:p>
        </p:txBody>
      </p:sp>
      <p:sp>
        <p:nvSpPr>
          <p:cNvPr id="19" name="Rectangle 18"/>
          <p:cNvSpPr/>
          <p:nvPr/>
        </p:nvSpPr>
        <p:spPr>
          <a:xfrm>
            <a:off x="540000" y="5184000"/>
            <a:ext cx="1152000" cy="1260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692000" y="5184000"/>
            <a:ext cx="5328000" cy="126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9675" y="5238000"/>
            <a:ext cx="1152000" cy="1260000"/>
          </a:xfrm>
          <a:prstGeom prst="rect">
            <a:avLst/>
          </a:prstGeom>
          <a:noFill/>
          <a:ln>
            <a:noFill/>
          </a:ln>
        </p:spPr>
        <p:txBody>
          <a:bodyPr wrap="square" lIns="54000" tIns="28800" rIns="54000" bIns="28800" anchor="ctr">
            <a:spAutoFit/>
          </a:bodyPr>
          <a:lstStyle/>
          <a:p>
            <a:pPr algn="ctr">
              <a:lnSpc>
                <a:spcPct val="120000"/>
              </a:lnSpc>
            </a:pPr>
            <a:r>
              <a:rPr sz="1100" b="1" dirty="0" err="1">
                <a:solidFill>
                  <a:srgbClr val="FFFFFF"/>
                </a:solidFill>
                <a:latin typeface="Meiryo"/>
              </a:rPr>
              <a:t>随時</a:t>
            </a:r>
            <a:endParaRPr sz="1100" b="1" dirty="0">
              <a:solidFill>
                <a:srgbClr val="FFFFFF"/>
              </a:solidFill>
              <a:latin typeface="Meiryo"/>
            </a:endParaRPr>
          </a:p>
        </p:txBody>
      </p:sp>
      <p:sp>
        <p:nvSpPr>
          <p:cNvPr id="27" name="TextBox 26"/>
          <p:cNvSpPr txBox="1"/>
          <p:nvPr/>
        </p:nvSpPr>
        <p:spPr>
          <a:xfrm>
            <a:off x="1763675" y="5310000"/>
            <a:ext cx="5184000" cy="251999"/>
          </a:xfrm>
          <a:prstGeom prst="rect">
            <a:avLst/>
          </a:prstGeom>
          <a:noFill/>
          <a:ln>
            <a:noFill/>
          </a:ln>
        </p:spPr>
        <p:txBody>
          <a:bodyPr wrap="square" lIns="54000" tIns="28800" rIns="54000" bIns="28800" anchor="t">
            <a:spAutoFit/>
          </a:bodyPr>
          <a:lstStyle/>
          <a:p>
            <a:pPr algn="l">
              <a:lnSpc>
                <a:spcPct val="120000"/>
              </a:lnSpc>
            </a:pPr>
            <a:r>
              <a:rPr sz="1100" b="1">
                <a:solidFill>
                  <a:srgbClr val="203A60"/>
                </a:solidFill>
                <a:latin typeface="Meiryo"/>
              </a:rPr>
              <a:t>発達特性配慮に関するご助言</a:t>
            </a:r>
          </a:p>
        </p:txBody>
      </p:sp>
      <p:sp>
        <p:nvSpPr>
          <p:cNvPr id="28" name="TextBox 27"/>
          <p:cNvSpPr txBox="1"/>
          <p:nvPr/>
        </p:nvSpPr>
        <p:spPr>
          <a:xfrm>
            <a:off x="1763675" y="5562000"/>
            <a:ext cx="5184000" cy="900000"/>
          </a:xfrm>
          <a:prstGeom prst="rect">
            <a:avLst/>
          </a:prstGeom>
          <a:noFill/>
          <a:ln>
            <a:noFill/>
          </a:ln>
        </p:spPr>
        <p:txBody>
          <a:bodyPr wrap="square" lIns="54000" tIns="28800" rIns="54000" bIns="28800" anchor="t">
            <a:spAutoFit/>
          </a:bodyPr>
          <a:lstStyle/>
          <a:p>
            <a:pPr algn="l">
              <a:lnSpc>
                <a:spcPct val="150000"/>
              </a:lnSpc>
            </a:pPr>
            <a:r>
              <a:rPr sz="950" b="0" dirty="0" err="1">
                <a:solidFill>
                  <a:srgbClr val="1E232D"/>
                </a:solidFill>
                <a:latin typeface="Meiryo"/>
              </a:rPr>
              <a:t>児童向けの表現・禁則事項・避けるべき演出など、現場知見を</a:t>
            </a:r>
            <a:endParaRPr sz="950" b="0" dirty="0">
              <a:solidFill>
                <a:srgbClr val="1E232D"/>
              </a:solidFill>
              <a:latin typeface="Meiryo"/>
            </a:endParaRPr>
          </a:p>
          <a:p>
            <a:pPr algn="l">
              <a:lnSpc>
                <a:spcPct val="150000"/>
              </a:lnSpc>
            </a:pPr>
            <a:r>
              <a:rPr sz="950" b="0" dirty="0" err="1">
                <a:solidFill>
                  <a:srgbClr val="1E232D"/>
                </a:solidFill>
                <a:latin typeface="Meiryo"/>
              </a:rPr>
              <a:t>いつでもお聞かせください（Chatwork等でお願いします</a:t>
            </a:r>
            <a:r>
              <a:rPr sz="950" b="0" dirty="0">
                <a:solidFill>
                  <a:srgbClr val="1E232D"/>
                </a:solidFill>
                <a:latin typeface="Meiryo"/>
              </a:rPr>
              <a:t>）。</a:t>
            </a:r>
          </a:p>
        </p:txBody>
      </p:sp>
      <p:sp>
        <p:nvSpPr>
          <p:cNvPr id="29" name="TextBox 28"/>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16 / 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432000"/>
            <a:ext cx="6480000" cy="360000"/>
          </a:xfrm>
          <a:prstGeom prst="rect">
            <a:avLst/>
          </a:prstGeom>
          <a:noFill/>
          <a:ln>
            <a:noFill/>
          </a:ln>
        </p:spPr>
        <p:txBody>
          <a:bodyPr wrap="square" lIns="54000" tIns="28800" rIns="54000" bIns="28800" anchor="t">
            <a:spAutoFit/>
          </a:bodyPr>
          <a:lstStyle/>
          <a:p>
            <a:pPr algn="l">
              <a:lnSpc>
                <a:spcPct val="120000"/>
              </a:lnSpc>
            </a:pPr>
            <a:r>
              <a:rPr sz="1700" b="1">
                <a:solidFill>
                  <a:srgbClr val="203A60"/>
                </a:solidFill>
                <a:latin typeface="Meiryo"/>
              </a:rPr>
              <a:t>16. リスクと対応方針／結び</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8000" y="108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主要リスクと対応方針</a:t>
            </a:r>
          </a:p>
        </p:txBody>
      </p:sp>
      <p:sp>
        <p:nvSpPr>
          <p:cNvPr id="6" name="Rectangle 5"/>
          <p:cNvSpPr/>
          <p:nvPr/>
        </p:nvSpPr>
        <p:spPr>
          <a:xfrm>
            <a:off x="540000" y="1440000"/>
            <a:ext cx="2880000" cy="288000"/>
          </a:xfrm>
          <a:prstGeom prst="rect">
            <a:avLst/>
          </a:prstGeom>
          <a:solidFill>
            <a:srgbClr val="A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1440000"/>
            <a:ext cx="2880000" cy="288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リスク</a:t>
            </a:r>
          </a:p>
        </p:txBody>
      </p:sp>
      <p:sp>
        <p:nvSpPr>
          <p:cNvPr id="8" name="Rectangle 7"/>
          <p:cNvSpPr/>
          <p:nvPr/>
        </p:nvSpPr>
        <p:spPr>
          <a:xfrm>
            <a:off x="3420000" y="1440000"/>
            <a:ext cx="360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20000" y="1440000"/>
            <a:ext cx="3600000" cy="288000"/>
          </a:xfrm>
          <a:prstGeom prst="rect">
            <a:avLst/>
          </a:prstGeom>
          <a:noFill/>
          <a:ln>
            <a:noFill/>
          </a:ln>
        </p:spPr>
        <p:txBody>
          <a:bodyPr wrap="square" lIns="54000" tIns="28800" rIns="54000" bIns="28800" anchor="ctr">
            <a:spAutoFit/>
          </a:bodyPr>
          <a:lstStyle/>
          <a:p>
            <a:pPr algn="ctr">
              <a:lnSpc>
                <a:spcPct val="120000"/>
              </a:lnSpc>
            </a:pPr>
            <a:r>
              <a:rPr sz="1050" b="1">
                <a:solidFill>
                  <a:srgbClr val="FFFFFF"/>
                </a:solidFill>
                <a:latin typeface="Meiryo"/>
              </a:rPr>
              <a:t>対応方針</a:t>
            </a:r>
          </a:p>
        </p:txBody>
      </p:sp>
      <p:sp>
        <p:nvSpPr>
          <p:cNvPr id="10" name="Rectangle 9"/>
          <p:cNvSpPr/>
          <p:nvPr/>
        </p:nvSpPr>
        <p:spPr>
          <a:xfrm>
            <a:off x="540000" y="1728000"/>
            <a:ext cx="28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000" y="1728000"/>
            <a:ext cx="2772000" cy="720000"/>
          </a:xfrm>
          <a:prstGeom prst="rect">
            <a:avLst/>
          </a:prstGeom>
          <a:noFill/>
          <a:ln>
            <a:noFill/>
          </a:ln>
        </p:spPr>
        <p:txBody>
          <a:bodyPr wrap="square" lIns="54000" tIns="28800" rIns="54000" bIns="28800" anchor="ctr">
            <a:spAutoFit/>
          </a:bodyPr>
          <a:lstStyle/>
          <a:p>
            <a:pPr algn="l">
              <a:lnSpc>
                <a:spcPct val="140000"/>
              </a:lnSpc>
            </a:pPr>
            <a:r>
              <a:rPr sz="1000" b="0">
                <a:solidFill>
                  <a:srgbClr val="1E232D"/>
                </a:solidFill>
                <a:latin typeface="Meiryo"/>
              </a:rPr>
              <a:t>フェーズ1試作後に方針変更の要望が入る</a:t>
            </a:r>
          </a:p>
        </p:txBody>
      </p:sp>
      <p:sp>
        <p:nvSpPr>
          <p:cNvPr id="12" name="Rectangle 11"/>
          <p:cNvSpPr/>
          <p:nvPr/>
        </p:nvSpPr>
        <p:spPr>
          <a:xfrm>
            <a:off x="3420000" y="1728000"/>
            <a:ext cx="36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92000" y="1728000"/>
            <a:ext cx="3492000" cy="720000"/>
          </a:xfrm>
          <a:prstGeom prst="rect">
            <a:avLst/>
          </a:prstGeom>
          <a:noFill/>
          <a:ln>
            <a:noFill/>
          </a:ln>
        </p:spPr>
        <p:txBody>
          <a:bodyPr wrap="square" lIns="54000" tIns="28800" rIns="54000" bIns="28800" anchor="ctr">
            <a:spAutoFit/>
          </a:bodyPr>
          <a:lstStyle/>
          <a:p>
            <a:pPr algn="l">
              <a:lnSpc>
                <a:spcPct val="140000"/>
              </a:lnSpc>
            </a:pPr>
            <a:r>
              <a:rPr sz="1000" b="0" dirty="0">
                <a:solidFill>
                  <a:srgbClr val="1E232D"/>
                </a:solidFill>
                <a:latin typeface="Meiryo"/>
              </a:rPr>
              <a:t>フェーズ1を最小プロトタイプと位置付け、5月末に方向性を固定。以降は差分調整に留める。</a:t>
            </a:r>
          </a:p>
        </p:txBody>
      </p:sp>
      <p:sp>
        <p:nvSpPr>
          <p:cNvPr id="14" name="Rectangle 13"/>
          <p:cNvSpPr/>
          <p:nvPr/>
        </p:nvSpPr>
        <p:spPr>
          <a:xfrm>
            <a:off x="540000" y="2448000"/>
            <a:ext cx="288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000" y="2448000"/>
            <a:ext cx="2772000" cy="720000"/>
          </a:xfrm>
          <a:prstGeom prst="rect">
            <a:avLst/>
          </a:prstGeom>
          <a:noFill/>
          <a:ln>
            <a:noFill/>
          </a:ln>
        </p:spPr>
        <p:txBody>
          <a:bodyPr wrap="square" lIns="54000" tIns="28800" rIns="54000" bIns="28800" anchor="ctr">
            <a:spAutoFit/>
          </a:bodyPr>
          <a:lstStyle/>
          <a:p>
            <a:pPr algn="l">
              <a:lnSpc>
                <a:spcPct val="140000"/>
              </a:lnSpc>
            </a:pPr>
            <a:r>
              <a:rPr sz="1000" b="0" dirty="0">
                <a:solidFill>
                  <a:srgbClr val="1E232D"/>
                </a:solidFill>
                <a:latin typeface="Meiryo"/>
              </a:rPr>
              <a:t>.</a:t>
            </a:r>
            <a:r>
              <a:rPr sz="1000" b="0" dirty="0" err="1">
                <a:solidFill>
                  <a:srgbClr val="1E232D"/>
                </a:solidFill>
                <a:latin typeface="Meiryo"/>
              </a:rPr>
              <a:t>mcworld</a:t>
            </a:r>
            <a:r>
              <a:rPr sz="1000" b="0" dirty="0">
                <a:solidFill>
                  <a:srgbClr val="1E232D"/>
                </a:solidFill>
                <a:latin typeface="Meiryo"/>
              </a:rPr>
              <a:t> </a:t>
            </a:r>
            <a:r>
              <a:rPr sz="1000" b="0" dirty="0" err="1">
                <a:solidFill>
                  <a:srgbClr val="1E232D"/>
                </a:solidFill>
                <a:latin typeface="Meiryo"/>
              </a:rPr>
              <a:t>のファイルサイズ肥大化</a:t>
            </a:r>
            <a:endParaRPr sz="1000" b="0" dirty="0">
              <a:solidFill>
                <a:srgbClr val="1E232D"/>
              </a:solidFill>
              <a:latin typeface="Meiryo"/>
            </a:endParaRPr>
          </a:p>
        </p:txBody>
      </p:sp>
      <p:sp>
        <p:nvSpPr>
          <p:cNvPr id="16" name="Rectangle 15"/>
          <p:cNvSpPr/>
          <p:nvPr/>
        </p:nvSpPr>
        <p:spPr>
          <a:xfrm>
            <a:off x="3420000" y="2448000"/>
            <a:ext cx="360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2000" y="2448000"/>
            <a:ext cx="3492000" cy="720000"/>
          </a:xfrm>
          <a:prstGeom prst="rect">
            <a:avLst/>
          </a:prstGeom>
          <a:noFill/>
          <a:ln>
            <a:noFill/>
          </a:ln>
        </p:spPr>
        <p:txBody>
          <a:bodyPr wrap="square" lIns="54000" tIns="28800" rIns="54000" bIns="28800" anchor="ctr">
            <a:spAutoFit/>
          </a:bodyPr>
          <a:lstStyle/>
          <a:p>
            <a:pPr algn="l">
              <a:lnSpc>
                <a:spcPct val="140000"/>
              </a:lnSpc>
            </a:pPr>
            <a:r>
              <a:rPr sz="1000" b="0" dirty="0" err="1">
                <a:solidFill>
                  <a:srgbClr val="1E232D"/>
                </a:solidFill>
                <a:latin typeface="Meiryo"/>
              </a:rPr>
              <a:t>各フェーズ終了時にサイズ計測。必要に応じ地形精度を段階的にダウン調整</a:t>
            </a:r>
            <a:r>
              <a:rPr sz="1000" b="0" dirty="0">
                <a:solidFill>
                  <a:srgbClr val="1E232D"/>
                </a:solidFill>
                <a:latin typeface="Meiryo"/>
              </a:rPr>
              <a:t>。</a:t>
            </a:r>
          </a:p>
        </p:txBody>
      </p:sp>
      <p:sp>
        <p:nvSpPr>
          <p:cNvPr id="18" name="Rectangle 17"/>
          <p:cNvSpPr/>
          <p:nvPr/>
        </p:nvSpPr>
        <p:spPr>
          <a:xfrm>
            <a:off x="540000" y="3168000"/>
            <a:ext cx="28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000" y="3168000"/>
            <a:ext cx="2772000" cy="720000"/>
          </a:xfrm>
          <a:prstGeom prst="rect">
            <a:avLst/>
          </a:prstGeom>
          <a:noFill/>
          <a:ln>
            <a:noFill/>
          </a:ln>
        </p:spPr>
        <p:txBody>
          <a:bodyPr wrap="square" lIns="54000" tIns="28800" rIns="54000" bIns="28800" anchor="ctr">
            <a:spAutoFit/>
          </a:bodyPr>
          <a:lstStyle/>
          <a:p>
            <a:pPr algn="l">
              <a:lnSpc>
                <a:spcPct val="140000"/>
              </a:lnSpc>
            </a:pPr>
            <a:r>
              <a:rPr sz="1000" b="0" dirty="0" err="1">
                <a:solidFill>
                  <a:srgbClr val="1E232D"/>
                </a:solidFill>
                <a:latin typeface="Meiryo"/>
              </a:rPr>
              <a:t>Webサイトの並行開発で工数が逼迫</a:t>
            </a:r>
            <a:endParaRPr sz="1000" b="0" dirty="0">
              <a:solidFill>
                <a:srgbClr val="1E232D"/>
              </a:solidFill>
              <a:latin typeface="Meiryo"/>
            </a:endParaRPr>
          </a:p>
        </p:txBody>
      </p:sp>
      <p:sp>
        <p:nvSpPr>
          <p:cNvPr id="20" name="Rectangle 19"/>
          <p:cNvSpPr/>
          <p:nvPr/>
        </p:nvSpPr>
        <p:spPr>
          <a:xfrm>
            <a:off x="3420000" y="3168000"/>
            <a:ext cx="36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92000" y="3168000"/>
            <a:ext cx="3492000" cy="720000"/>
          </a:xfrm>
          <a:prstGeom prst="rect">
            <a:avLst/>
          </a:prstGeom>
          <a:noFill/>
          <a:ln>
            <a:noFill/>
          </a:ln>
        </p:spPr>
        <p:txBody>
          <a:bodyPr wrap="square" lIns="54000" tIns="28800" rIns="54000" bIns="28800" anchor="ctr">
            <a:spAutoFit/>
          </a:bodyPr>
          <a:lstStyle/>
          <a:p>
            <a:pPr algn="l">
              <a:lnSpc>
                <a:spcPct val="140000"/>
              </a:lnSpc>
            </a:pPr>
            <a:r>
              <a:rPr sz="1000" b="0" dirty="0">
                <a:solidFill>
                  <a:srgbClr val="1E232D"/>
                </a:solidFill>
                <a:latin typeface="Meiryo"/>
              </a:rPr>
              <a:t>Web易5本をMVPとして5〜6月に集中実装。中・上は各フェーズに分散配置。</a:t>
            </a:r>
          </a:p>
        </p:txBody>
      </p:sp>
      <p:sp>
        <p:nvSpPr>
          <p:cNvPr id="22" name="Rectangle 21"/>
          <p:cNvSpPr/>
          <p:nvPr/>
        </p:nvSpPr>
        <p:spPr>
          <a:xfrm>
            <a:off x="540000" y="3888000"/>
            <a:ext cx="288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000" y="3888000"/>
            <a:ext cx="2772000" cy="720000"/>
          </a:xfrm>
          <a:prstGeom prst="rect">
            <a:avLst/>
          </a:prstGeom>
          <a:noFill/>
          <a:ln>
            <a:noFill/>
          </a:ln>
        </p:spPr>
        <p:txBody>
          <a:bodyPr wrap="square" lIns="54000" tIns="28800" rIns="54000" bIns="28800" anchor="ctr">
            <a:spAutoFit/>
          </a:bodyPr>
          <a:lstStyle/>
          <a:p>
            <a:pPr algn="l">
              <a:lnSpc>
                <a:spcPct val="140000"/>
              </a:lnSpc>
            </a:pPr>
            <a:r>
              <a:rPr sz="1000" b="0">
                <a:solidFill>
                  <a:srgbClr val="1E232D"/>
                </a:solidFill>
                <a:latin typeface="Meiryo"/>
              </a:rPr>
              <a:t>PDF教材15セットの制作工数増</a:t>
            </a:r>
          </a:p>
        </p:txBody>
      </p:sp>
      <p:sp>
        <p:nvSpPr>
          <p:cNvPr id="24" name="Rectangle 23"/>
          <p:cNvSpPr/>
          <p:nvPr/>
        </p:nvSpPr>
        <p:spPr>
          <a:xfrm>
            <a:off x="3420000" y="3888000"/>
            <a:ext cx="360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92000" y="3888000"/>
            <a:ext cx="3492000" cy="720000"/>
          </a:xfrm>
          <a:prstGeom prst="rect">
            <a:avLst/>
          </a:prstGeom>
          <a:noFill/>
          <a:ln>
            <a:noFill/>
          </a:ln>
        </p:spPr>
        <p:txBody>
          <a:bodyPr wrap="square" lIns="54000" tIns="28800" rIns="54000" bIns="28800" anchor="ctr">
            <a:spAutoFit/>
          </a:bodyPr>
          <a:lstStyle/>
          <a:p>
            <a:pPr algn="l">
              <a:lnSpc>
                <a:spcPct val="140000"/>
              </a:lnSpc>
            </a:pPr>
            <a:r>
              <a:rPr sz="1000" b="0" dirty="0" err="1">
                <a:solidFill>
                  <a:srgbClr val="1E232D"/>
                </a:solidFill>
                <a:latin typeface="Meiryo"/>
              </a:rPr>
              <a:t>スタッフ向けスクリプトをテンプレート化。ミッション差分のみ記述する効率運用</a:t>
            </a:r>
            <a:r>
              <a:rPr sz="1000" b="0" dirty="0">
                <a:solidFill>
                  <a:srgbClr val="1E232D"/>
                </a:solidFill>
                <a:latin typeface="Meiryo"/>
              </a:rPr>
              <a:t>。</a:t>
            </a:r>
          </a:p>
        </p:txBody>
      </p:sp>
      <p:sp>
        <p:nvSpPr>
          <p:cNvPr id="26" name="Rectangle 25"/>
          <p:cNvSpPr/>
          <p:nvPr/>
        </p:nvSpPr>
        <p:spPr>
          <a:xfrm>
            <a:off x="540000" y="4608000"/>
            <a:ext cx="28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20000" y="4608000"/>
            <a:ext cx="36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2000" y="4864740"/>
            <a:ext cx="2772000" cy="258217"/>
          </a:xfrm>
          <a:prstGeom prst="rect">
            <a:avLst/>
          </a:prstGeom>
          <a:noFill/>
          <a:ln>
            <a:noFill/>
          </a:ln>
        </p:spPr>
        <p:txBody>
          <a:bodyPr wrap="square" lIns="54000" tIns="28800" rIns="54000" bIns="28800" anchor="ctr">
            <a:spAutoFit/>
          </a:bodyPr>
          <a:lstStyle/>
          <a:p>
            <a:pPr algn="l">
              <a:lnSpc>
                <a:spcPct val="140000"/>
              </a:lnSpc>
            </a:pPr>
            <a:r>
              <a:rPr sz="1000" b="0" dirty="0" err="1">
                <a:solidFill>
                  <a:srgbClr val="1E232D"/>
                </a:solidFill>
                <a:latin typeface="Meiryo"/>
              </a:rPr>
              <a:t>納品タイミング調整</a:t>
            </a:r>
            <a:endParaRPr sz="1000" b="0" dirty="0">
              <a:solidFill>
                <a:srgbClr val="1E232D"/>
              </a:solidFill>
              <a:latin typeface="Meiryo"/>
            </a:endParaRPr>
          </a:p>
        </p:txBody>
      </p:sp>
      <p:sp>
        <p:nvSpPr>
          <p:cNvPr id="33" name="TextBox 32"/>
          <p:cNvSpPr txBox="1"/>
          <p:nvPr/>
        </p:nvSpPr>
        <p:spPr>
          <a:xfrm>
            <a:off x="3492000" y="4633849"/>
            <a:ext cx="3492000" cy="720000"/>
          </a:xfrm>
          <a:prstGeom prst="rect">
            <a:avLst/>
          </a:prstGeom>
          <a:noFill/>
          <a:ln>
            <a:noFill/>
          </a:ln>
        </p:spPr>
        <p:txBody>
          <a:bodyPr wrap="square" lIns="54000" tIns="28800" rIns="54000" bIns="28800" anchor="ctr">
            <a:spAutoFit/>
          </a:bodyPr>
          <a:lstStyle/>
          <a:p>
            <a:pPr algn="l">
              <a:lnSpc>
                <a:spcPct val="140000"/>
              </a:lnSpc>
            </a:pPr>
            <a:r>
              <a:rPr sz="1000" b="0" dirty="0">
                <a:solidFill>
                  <a:srgbClr val="1E232D"/>
                </a:solidFill>
                <a:latin typeface="Meiryo"/>
              </a:rPr>
              <a:t>12月前半に最終版を完成。後半2週間を受け渡しバッファとして確保。</a:t>
            </a:r>
          </a:p>
        </p:txBody>
      </p:sp>
      <p:sp>
        <p:nvSpPr>
          <p:cNvPr id="34" name="Rectangle 33"/>
          <p:cNvSpPr/>
          <p:nvPr/>
        </p:nvSpPr>
        <p:spPr>
          <a:xfrm>
            <a:off x="540000" y="635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8000" y="6300000"/>
            <a:ext cx="6840000" cy="324000"/>
          </a:xfrm>
          <a:prstGeom prst="rect">
            <a:avLst/>
          </a:prstGeom>
          <a:noFill/>
          <a:ln>
            <a:noFill/>
          </a:ln>
        </p:spPr>
        <p:txBody>
          <a:bodyPr wrap="square" lIns="54000" tIns="28800" rIns="54000" bIns="28800" anchor="t">
            <a:spAutoFit/>
          </a:bodyPr>
          <a:lstStyle/>
          <a:p>
            <a:pPr algn="l">
              <a:lnSpc>
                <a:spcPct val="120000"/>
              </a:lnSpc>
            </a:pPr>
            <a:r>
              <a:rPr sz="1300" b="1">
                <a:solidFill>
                  <a:srgbClr val="203A60"/>
                </a:solidFill>
                <a:latin typeface="Meiryo"/>
              </a:rPr>
              <a:t>結びのメッセージ</a:t>
            </a:r>
          </a:p>
        </p:txBody>
      </p:sp>
      <p:sp>
        <p:nvSpPr>
          <p:cNvPr id="36" name="Rectangle 35"/>
          <p:cNvSpPr/>
          <p:nvPr/>
        </p:nvSpPr>
        <p:spPr>
          <a:xfrm>
            <a:off x="540000" y="6660000"/>
            <a:ext cx="6480000" cy="2160000"/>
          </a:xfrm>
          <a:prstGeom prst="rect">
            <a:avLst/>
          </a:prstGeom>
          <a:solidFill>
            <a:srgbClr val="FFF5DE"/>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0000" y="6768000"/>
            <a:ext cx="6120000" cy="1944000"/>
          </a:xfrm>
          <a:prstGeom prst="rect">
            <a:avLst/>
          </a:prstGeom>
          <a:noFill/>
          <a:ln>
            <a:noFill/>
          </a:ln>
        </p:spPr>
        <p:txBody>
          <a:bodyPr wrap="square" lIns="54000" tIns="28800" rIns="54000" bIns="28800" anchor="ctr">
            <a:spAutoFit/>
          </a:bodyPr>
          <a:lstStyle/>
          <a:p>
            <a:pPr algn="ctr">
              <a:lnSpc>
                <a:spcPct val="160000"/>
              </a:lnSpc>
            </a:pPr>
            <a:r>
              <a:rPr sz="1150" b="0" dirty="0">
                <a:solidFill>
                  <a:srgbClr val="1E232D"/>
                </a:solidFill>
                <a:latin typeface="Meiryo"/>
              </a:rPr>
              <a:t>本プログラムは、単なる15ミッションのセットではなく、</a:t>
            </a:r>
          </a:p>
          <a:p>
            <a:pPr algn="ctr">
              <a:lnSpc>
                <a:spcPct val="160000"/>
              </a:lnSpc>
            </a:pPr>
            <a:r>
              <a:rPr sz="1150" b="0" dirty="0" err="1">
                <a:solidFill>
                  <a:srgbClr val="1E232D"/>
                </a:solidFill>
                <a:latin typeface="Meiryo"/>
              </a:rPr>
              <a:t>子どもが『学ぶって楽しい</a:t>
            </a:r>
            <a:r>
              <a:rPr sz="1150" b="0" dirty="0">
                <a:solidFill>
                  <a:srgbClr val="1E232D"/>
                </a:solidFill>
                <a:latin typeface="Meiryo"/>
              </a:rPr>
              <a:t>』『</a:t>
            </a:r>
            <a:r>
              <a:rPr sz="1150" b="0" dirty="0" err="1">
                <a:solidFill>
                  <a:srgbClr val="1E232D"/>
                </a:solidFill>
                <a:latin typeface="Meiryo"/>
              </a:rPr>
              <a:t>マイクラって楽しい』と感じ</a:t>
            </a:r>
            <a:r>
              <a:rPr sz="1150" b="0" dirty="0">
                <a:solidFill>
                  <a:srgbClr val="1E232D"/>
                </a:solidFill>
                <a:latin typeface="Meiryo"/>
              </a:rPr>
              <a:t>、</a:t>
            </a:r>
          </a:p>
          <a:p>
            <a:pPr algn="ctr">
              <a:lnSpc>
                <a:spcPct val="160000"/>
              </a:lnSpc>
            </a:pPr>
            <a:r>
              <a:rPr sz="1150" b="0" dirty="0" err="1">
                <a:solidFill>
                  <a:srgbClr val="1E232D"/>
                </a:solidFill>
                <a:latin typeface="Meiryo"/>
              </a:rPr>
              <a:t>その火を自律的な学びへと育てていくためのゲートウェイです</a:t>
            </a:r>
            <a:r>
              <a:rPr sz="1150" b="0" dirty="0">
                <a:solidFill>
                  <a:srgbClr val="1E232D"/>
                </a:solidFill>
                <a:latin typeface="Meiryo"/>
              </a:rPr>
              <a:t>。</a:t>
            </a:r>
          </a:p>
          <a:p>
            <a:pPr algn="ctr">
              <a:lnSpc>
                <a:spcPct val="160000"/>
              </a:lnSpc>
            </a:pPr>
            <a:endParaRPr sz="1150" b="0" dirty="0">
              <a:solidFill>
                <a:srgbClr val="1E232D"/>
              </a:solidFill>
              <a:latin typeface="Meiryo"/>
            </a:endParaRPr>
          </a:p>
          <a:p>
            <a:pPr algn="ctr">
              <a:lnSpc>
                <a:spcPct val="160000"/>
              </a:lnSpc>
            </a:pPr>
            <a:r>
              <a:rPr sz="1150" b="0" dirty="0" err="1">
                <a:solidFill>
                  <a:srgbClr val="1E232D"/>
                </a:solidFill>
                <a:latin typeface="Meiryo"/>
              </a:rPr>
              <a:t>クライアント様と手を取り合いながら、現場で確かに機能する</a:t>
            </a:r>
            <a:endParaRPr sz="1150" b="0" dirty="0">
              <a:solidFill>
                <a:srgbClr val="1E232D"/>
              </a:solidFill>
              <a:latin typeface="Meiryo"/>
            </a:endParaRPr>
          </a:p>
          <a:p>
            <a:pPr algn="ctr">
              <a:lnSpc>
                <a:spcPct val="160000"/>
              </a:lnSpc>
            </a:pPr>
            <a:r>
              <a:rPr sz="1150" b="0" dirty="0">
                <a:solidFill>
                  <a:srgbClr val="1E232D"/>
                </a:solidFill>
                <a:latin typeface="Meiryo"/>
              </a:rPr>
              <a:t>プログラムを2026年内に完成させてまいります。</a:t>
            </a:r>
          </a:p>
          <a:p>
            <a:pPr algn="ctr">
              <a:lnSpc>
                <a:spcPct val="160000"/>
              </a:lnSpc>
            </a:pPr>
            <a:endParaRPr sz="1150" b="0" dirty="0">
              <a:solidFill>
                <a:srgbClr val="1E232D"/>
              </a:solidFill>
              <a:latin typeface="Meiryo"/>
            </a:endParaRPr>
          </a:p>
          <a:p>
            <a:pPr algn="ctr">
              <a:lnSpc>
                <a:spcPct val="160000"/>
              </a:lnSpc>
            </a:pPr>
            <a:r>
              <a:rPr sz="1150" b="0" dirty="0" err="1">
                <a:solidFill>
                  <a:srgbClr val="1E232D"/>
                </a:solidFill>
                <a:latin typeface="Meiryo"/>
              </a:rPr>
              <a:t>どうぞよろしくお願いいたします</a:t>
            </a:r>
            <a:r>
              <a:rPr sz="1150" b="0" dirty="0">
                <a:solidFill>
                  <a:srgbClr val="1E232D"/>
                </a:solidFill>
                <a:latin typeface="Meiryo"/>
              </a:rPr>
              <a:t>。</a:t>
            </a:r>
          </a:p>
        </p:txBody>
      </p:sp>
      <p:sp>
        <p:nvSpPr>
          <p:cNvPr id="38" name="TextBox 37"/>
          <p:cNvSpPr txBox="1"/>
          <p:nvPr/>
        </p:nvSpPr>
        <p:spPr>
          <a:xfrm>
            <a:off x="540000" y="10368000"/>
            <a:ext cx="6480000" cy="199740"/>
          </a:xfrm>
          <a:prstGeom prst="rect">
            <a:avLst/>
          </a:prstGeom>
          <a:noFill/>
          <a:ln>
            <a:noFill/>
          </a:ln>
        </p:spPr>
        <p:txBody>
          <a:bodyPr wrap="square" lIns="54000" tIns="28800" rIns="54000" bIns="28800" anchor="t">
            <a:spAutoFit/>
          </a:bodyPr>
          <a:lstStyle/>
          <a:p>
            <a:pPr algn="ctr">
              <a:lnSpc>
                <a:spcPct val="120000"/>
              </a:lnSpc>
            </a:pPr>
            <a:r>
              <a:rPr sz="800" b="0" dirty="0" err="1">
                <a:solidFill>
                  <a:srgbClr val="6E7682"/>
                </a:solidFill>
                <a:latin typeface="Meiryo"/>
              </a:rPr>
              <a:t>ワンライフ様</a:t>
            </a:r>
            <a:r>
              <a:rPr sz="800" b="0" dirty="0">
                <a:solidFill>
                  <a:srgbClr val="6E7682"/>
                </a:solidFill>
                <a:latin typeface="Meiryo"/>
              </a:rPr>
              <a:t> </a:t>
            </a:r>
            <a:r>
              <a:rPr sz="800" b="0" dirty="0" err="1">
                <a:solidFill>
                  <a:srgbClr val="6E7682"/>
                </a:solidFill>
                <a:latin typeface="Meiryo"/>
              </a:rPr>
              <a:t>Minecraft学習プログラム</a:t>
            </a:r>
            <a:r>
              <a:rPr sz="800" b="0" dirty="0">
                <a:solidFill>
                  <a:srgbClr val="6E7682"/>
                </a:solidFill>
                <a:latin typeface="Meiryo"/>
              </a:rPr>
              <a:t> </a:t>
            </a:r>
            <a:r>
              <a:rPr sz="800" b="0" dirty="0" err="1">
                <a:solidFill>
                  <a:srgbClr val="6E7682"/>
                </a:solidFill>
                <a:latin typeface="Meiryo"/>
              </a:rPr>
              <a:t>開発提案書</a:t>
            </a:r>
            <a:r>
              <a:rPr sz="800" b="0" dirty="0">
                <a:solidFill>
                  <a:srgbClr val="6E7682"/>
                </a:solidFill>
                <a:latin typeface="Meiryo"/>
              </a:rPr>
              <a:t>     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180</TotalTime>
  <Words>2653</Words>
  <Application>Microsoft Office PowerPoint</Application>
  <PresentationFormat>ユーザー設定</PresentationFormat>
  <Paragraphs>630</Paragraphs>
  <Slides>17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17</vt:i4>
      </vt:variant>
    </vt:vector>
  </HeadingPairs>
  <TitlesOfParts>
    <vt:vector size="22" baseType="lpstr">
      <vt:lpstr>Meiryo</vt:lpstr>
      <vt:lpstr>Meiryo</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丸岡　大也</cp:lastModifiedBy>
  <cp:revision>2</cp:revision>
  <cp:lastPrinted>2026-04-23T05:54:03Z</cp:lastPrinted>
  <dcterms:created xsi:type="dcterms:W3CDTF">2013-01-27T09:14:16Z</dcterms:created>
  <dcterms:modified xsi:type="dcterms:W3CDTF">2026-04-23T07:49:27Z</dcterms:modified>
  <cp:category/>
</cp:coreProperties>
</file>