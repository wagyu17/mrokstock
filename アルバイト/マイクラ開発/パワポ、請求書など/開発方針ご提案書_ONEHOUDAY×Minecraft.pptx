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5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3152"/>
          </a:xfrm>
          <a:prstGeom prst="rect">
            <a:avLst/>
          </a:prstGeom>
          <a:solidFill>
            <a:srgbClr val="4A8C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0"/>
            <a:ext cx="64648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ONEHOUDAY × Minecraft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3291840"/>
            <a:ext cx="64648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5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放課後等デイサービス向け学習プログラム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409444" y="4114800"/>
            <a:ext cx="2743200" cy="27432"/>
          </a:xfrm>
          <a:prstGeom prst="rect">
            <a:avLst/>
          </a:prstGeom>
          <a:solidFill>
            <a:srgbClr val="4A8C4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480560"/>
            <a:ext cx="64648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開発方針ご提案書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5120640"/>
            <a:ext cx="6464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8C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― ミッション型学習プログラムのご提案 ―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72284" y="6035040"/>
            <a:ext cx="548640" cy="548640"/>
          </a:xfrm>
          <a:prstGeom prst="ellipse">
            <a:avLst/>
          </a:prstGeom>
          <a:solidFill>
            <a:srgbClr val="4A8C4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2012" y="6144768"/>
            <a:ext cx="329184" cy="32918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506724" y="6035040"/>
            <a:ext cx="548640" cy="548640"/>
          </a:xfrm>
          <a:prstGeom prst="ellipse">
            <a:avLst/>
          </a:prstGeom>
          <a:solidFill>
            <a:srgbClr val="4A8C4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6452" y="6144768"/>
            <a:ext cx="329184" cy="32918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741164" y="6035040"/>
            <a:ext cx="548640" cy="548640"/>
          </a:xfrm>
          <a:prstGeom prst="ellipse">
            <a:avLst/>
          </a:prstGeom>
          <a:solidFill>
            <a:srgbClr val="4A8C4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0892" y="614476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8640" y="8046720"/>
            <a:ext cx="6464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8C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2025年2月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323576"/>
            <a:ext cx="7562088" cy="365760"/>
          </a:xfrm>
          <a:prstGeom prst="rect">
            <a:avLst/>
          </a:prstGeom>
          <a:solidFill>
            <a:srgbClr val="2B5F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341864"/>
            <a:ext cx="5550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ONEHOUDAY × Minecraft 学習プログラム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099048" y="1034186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/ 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562088" cy="822960"/>
          </a:xfrm>
          <a:prstGeom prst="rect">
            <a:avLst/>
          </a:prstGeom>
          <a:solidFill>
            <a:srgbClr val="2B5F2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64648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設計思想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6464808" cy="146304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1732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280160"/>
            <a:ext cx="52760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「教科を教える」のではなく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「生活の中で勉強が役立つ体験」を提供する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463040" y="2011680"/>
            <a:ext cx="5276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放課後等デイサービスの役割は、学校のように体系的に教えることではありません。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子どもたちが「勉強って生活で使うんだ！」と気づき、学ぶ楽しさを実感することが目的です。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3017520"/>
            <a:ext cx="6464808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3017520"/>
            <a:ext cx="64008" cy="1737360"/>
          </a:xfrm>
          <a:prstGeom prst="rect">
            <a:avLst/>
          </a:prstGeom>
          <a:solidFill>
            <a:srgbClr val="2B5F2B"/>
          </a:solidFill>
          <a:ln/>
        </p:spPr>
      </p:sp>
      <p:sp>
        <p:nvSpPr>
          <p:cNvPr id="13" name="Shape 10"/>
          <p:cNvSpPr/>
          <p:nvPr/>
        </p:nvSpPr>
        <p:spPr>
          <a:xfrm>
            <a:off x="868680" y="3200400"/>
            <a:ext cx="502920" cy="502920"/>
          </a:xfrm>
          <a:prstGeom prst="ellipse">
            <a:avLst/>
          </a:prstGeom>
          <a:solidFill>
            <a:srgbClr val="2B5F2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29184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00200" y="3200400"/>
            <a:ext cx="5093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対象の子どもたち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600200" y="3566160"/>
            <a:ext cx="50932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発達に特性のある小学生が中心です。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じっとしていることが苦手だったり、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勉強に苦手意識を持っている子が多く、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「楽しい！」「できた！」という体験が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何より大切です。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48640" y="5029200"/>
            <a:ext cx="6464808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48640" y="5029200"/>
            <a:ext cx="64008" cy="1737360"/>
          </a:xfrm>
          <a:prstGeom prst="rect">
            <a:avLst/>
          </a:prstGeom>
          <a:solidFill>
            <a:srgbClr val="2B5F2B"/>
          </a:solidFill>
          <a:ln/>
        </p:spPr>
      </p:sp>
      <p:sp>
        <p:nvSpPr>
          <p:cNvPr id="19" name="Shape 15"/>
          <p:cNvSpPr/>
          <p:nvPr/>
        </p:nvSpPr>
        <p:spPr>
          <a:xfrm>
            <a:off x="868680" y="5212080"/>
            <a:ext cx="502920" cy="502920"/>
          </a:xfrm>
          <a:prstGeom prst="ellipse">
            <a:avLst/>
          </a:prstGeom>
          <a:solidFill>
            <a:srgbClr val="2B5F2B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530352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00200" y="5212080"/>
            <a:ext cx="5093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安全な学習環境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600200" y="5577840"/>
            <a:ext cx="50932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レベル分けによるラベリングをせず、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「自分は初級だ」と意識させません。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失敗しても「もう一度やってみよう」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と前向きに取り組める設計にし、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否定されない空間を作ります。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48640" y="7040880"/>
            <a:ext cx="6464808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48640" y="7040880"/>
            <a:ext cx="64008" cy="1737360"/>
          </a:xfrm>
          <a:prstGeom prst="rect">
            <a:avLst/>
          </a:prstGeom>
          <a:solidFill>
            <a:srgbClr val="2B5F2B"/>
          </a:solidFill>
          <a:ln/>
        </p:spPr>
      </p:sp>
      <p:sp>
        <p:nvSpPr>
          <p:cNvPr id="25" name="Shape 20"/>
          <p:cNvSpPr/>
          <p:nvPr/>
        </p:nvSpPr>
        <p:spPr>
          <a:xfrm>
            <a:off x="868680" y="7223760"/>
            <a:ext cx="502920" cy="502920"/>
          </a:xfrm>
          <a:prstGeom prst="ellipse">
            <a:avLst/>
          </a:prstGeom>
          <a:solidFill>
            <a:srgbClr val="2B5F2B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7315200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600200" y="7223760"/>
            <a:ext cx="5093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目指すゴール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1600200" y="7589520"/>
            <a:ext cx="50932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中学受験のような発展的内容ではなく、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「お金の計算は買い物で使うんだ」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「地図が読めると道に迷わない」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といった、勉強と生活のつながりを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実感してもらうことがゴールです。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323576"/>
            <a:ext cx="7562088" cy="365760"/>
          </a:xfrm>
          <a:prstGeom prst="rect">
            <a:avLst/>
          </a:prstGeom>
          <a:solidFill>
            <a:srgbClr val="2B5F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341864"/>
            <a:ext cx="5550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ONEHOUDAY × Minecraft 学習プログラム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099048" y="1034186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/ 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562088" cy="822960"/>
          </a:xfrm>
          <a:prstGeom prst="rect">
            <a:avLst/>
          </a:prstGeom>
          <a:solidFill>
            <a:srgbClr val="2B5F2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64648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アプローチ：ミッション型学習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64648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教科別ではなく、子どもが共感できる「ミッション（お仕事）」を軸に学習を設計します。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1つのミッションの中に、算数・国語・理科・社会の要素が自然に含まれます。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3095244" cy="22860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148840"/>
            <a:ext cx="27752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従来の考え方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560320"/>
            <a:ext cx="277520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教科別にワールドを分ける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（算数ワールド、国語ワールド…）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初級・中級・上級でレベル分け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651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学校の勉強と同じ構造になりがち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18204" y="2011680"/>
            <a:ext cx="3095244" cy="228600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918204" y="2011680"/>
            <a:ext cx="3095244" cy="45720"/>
          </a:xfrm>
          <a:prstGeom prst="rect">
            <a:avLst/>
          </a:prstGeom>
          <a:solidFill>
            <a:srgbClr val="2B5F2B"/>
          </a:solidFill>
          <a:ln/>
        </p:spPr>
      </p:sp>
      <p:sp>
        <p:nvSpPr>
          <p:cNvPr id="13" name="Text 11"/>
          <p:cNvSpPr/>
          <p:nvPr/>
        </p:nvSpPr>
        <p:spPr>
          <a:xfrm>
            <a:off x="4101084" y="2148840"/>
            <a:ext cx="27752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本プログラムの考え方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01084" y="2560320"/>
            <a:ext cx="277520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生活場面のミッションが軸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（お店を開こう、動物を助けよう…）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1つのミッションに複数教科が自然に融合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1B7A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「勉強は生活の道具」を体感できる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4663440"/>
            <a:ext cx="6464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プログラムの全体構造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409444" y="5212080"/>
            <a:ext cx="2743200" cy="640080"/>
          </a:xfrm>
          <a:prstGeom prst="rect">
            <a:avLst/>
          </a:prstGeom>
          <a:solidFill>
            <a:srgbClr val="2B5F2B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409444" y="52120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🏘️ 冒険者の村（ハブワールド）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81044" y="5852160"/>
            <a:ext cx="0" cy="274320"/>
          </a:xfrm>
          <a:prstGeom prst="line">
            <a:avLst/>
          </a:prstGeom>
          <a:noFill/>
          <a:ln w="25400">
            <a:solidFill>
              <a:srgbClr val="4A8C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3524" y="6263640"/>
            <a:ext cx="1097280" cy="502920"/>
          </a:xfrm>
          <a:prstGeom prst="rect">
            <a:avLst/>
          </a:prstGeom>
          <a:solidFill>
            <a:srgbClr val="4A8C4A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63524" y="62636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ミッション1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312164" y="6080760"/>
            <a:ext cx="0" cy="182880"/>
          </a:xfrm>
          <a:prstGeom prst="line">
            <a:avLst/>
          </a:prstGeom>
          <a:noFill/>
          <a:ln w="12700">
            <a:solidFill>
              <a:srgbClr val="4A8C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97964" y="6263640"/>
            <a:ext cx="1097280" cy="502920"/>
          </a:xfrm>
          <a:prstGeom prst="rect">
            <a:avLst/>
          </a:prstGeom>
          <a:solidFill>
            <a:srgbClr val="4A8C4A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997964" y="62636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ミッション2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46604" y="6080760"/>
            <a:ext cx="0" cy="182880"/>
          </a:xfrm>
          <a:prstGeom prst="line">
            <a:avLst/>
          </a:prstGeom>
          <a:noFill/>
          <a:ln w="12700">
            <a:solidFill>
              <a:srgbClr val="4A8C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32404" y="6263640"/>
            <a:ext cx="1097280" cy="502920"/>
          </a:xfrm>
          <a:prstGeom prst="rect">
            <a:avLst/>
          </a:prstGeom>
          <a:solidFill>
            <a:srgbClr val="4A8C4A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232404" y="62636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ミッション3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781044" y="6080760"/>
            <a:ext cx="0" cy="182880"/>
          </a:xfrm>
          <a:prstGeom prst="line">
            <a:avLst/>
          </a:prstGeom>
          <a:noFill/>
          <a:ln w="12700">
            <a:solidFill>
              <a:srgbClr val="4A8C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66844" y="6263640"/>
            <a:ext cx="1097280" cy="502920"/>
          </a:xfrm>
          <a:prstGeom prst="rect">
            <a:avLst/>
          </a:prstGeom>
          <a:solidFill>
            <a:srgbClr val="4A8C4A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466844" y="62636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ミッション4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15484" y="6080760"/>
            <a:ext cx="0" cy="182880"/>
          </a:xfrm>
          <a:prstGeom prst="line">
            <a:avLst/>
          </a:prstGeom>
          <a:noFill/>
          <a:ln w="12700">
            <a:solidFill>
              <a:srgbClr val="4A8C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01284" y="6263640"/>
            <a:ext cx="1097280" cy="502920"/>
          </a:xfrm>
          <a:prstGeom prst="rect">
            <a:avLst/>
          </a:prstGeom>
          <a:solidFill>
            <a:srgbClr val="4A8C4A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701284" y="62636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…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49924" y="6080760"/>
            <a:ext cx="0" cy="182880"/>
          </a:xfrm>
          <a:prstGeom prst="line">
            <a:avLst/>
          </a:prstGeom>
          <a:noFill/>
          <a:ln w="12700">
            <a:solidFill>
              <a:srgbClr val="4A8C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6903720"/>
            <a:ext cx="6464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各ミッションは独立した .mcworld ファイルで管理 → 個別に修復・更新が可能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8640" y="7452360"/>
            <a:ext cx="6464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この設計のメリット</a:t>
            </a:r>
            <a:endParaRPr lang="en-US" sz="1400" dirty="0"/>
          </a:p>
        </p:txBody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7936992"/>
            <a:ext cx="228600" cy="22860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1051560" y="7909560"/>
            <a:ext cx="5824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「考え、試し、結果を見て、直し、伝える」の探求サイクルがミッション遂行そのもの</a:t>
            </a:r>
            <a:endParaRPr lang="en-US" sz="1000" dirty="0"/>
          </a:p>
        </p:txBody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8321040"/>
            <a:ext cx="228600" cy="228600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1051560" y="8293608"/>
            <a:ext cx="5824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レベル分けがないため、子どもの自己肯定感を守れる</a:t>
            </a:r>
            <a:endParaRPr lang="en-US" sz="1000" dirty="0"/>
          </a:p>
        </p:txBody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8705088"/>
            <a:ext cx="228600" cy="228600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1051560" y="8677656"/>
            <a:ext cx="5824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新しいミッションを後から追加でき、拡張性が高い</a:t>
            </a:r>
            <a:endParaRPr lang="en-US" sz="1000" dirty="0"/>
          </a:p>
        </p:txBody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9089136"/>
            <a:ext cx="228600" cy="228600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1051560" y="9061704"/>
            <a:ext cx="5824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ワールドが独立しているため、トラブル時の影響範囲が限定される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323576"/>
            <a:ext cx="7562088" cy="365760"/>
          </a:xfrm>
          <a:prstGeom prst="rect">
            <a:avLst/>
          </a:prstGeom>
          <a:solidFill>
            <a:srgbClr val="2B5F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341864"/>
            <a:ext cx="5550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ONEHOUDAY × Minecraft 学習プログラム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099048" y="1034186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 / 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562088" cy="822960"/>
          </a:xfrm>
          <a:prstGeom prst="rect">
            <a:avLst/>
          </a:prstGeom>
          <a:solidFill>
            <a:srgbClr val="2B5F2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64648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ミッション案（1/2）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6464808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097280"/>
            <a:ext cx="6464808" cy="45720"/>
          </a:xfrm>
          <a:prstGeom prst="rect">
            <a:avLst/>
          </a:prstGeom>
          <a:solidFill>
            <a:srgbClr val="2B5F2B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1280160"/>
            <a:ext cx="502920" cy="502920"/>
          </a:xfrm>
          <a:prstGeom prst="ellipse">
            <a:avLst/>
          </a:prstGeom>
          <a:solidFill>
            <a:srgbClr val="2B5F2B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37160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63040" y="1280160"/>
            <a:ext cx="5276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ミッション①「お店を開こう」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463040" y="1572768"/>
            <a:ext cx="5276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村に新しいお店を開くことになった。お店を建てて、商品を並べて、お客さんを迎えよう！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77240" y="1965960"/>
            <a:ext cx="530352" cy="2743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1965960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算数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1399032" y="1965960"/>
            <a:ext cx="530352" cy="2743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6" name="Text 13"/>
          <p:cNvSpPr/>
          <p:nvPr/>
        </p:nvSpPr>
        <p:spPr>
          <a:xfrm>
            <a:off x="1399032" y="1965960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国語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020824" y="1965960"/>
            <a:ext cx="530352" cy="2743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8" name="Text 15"/>
          <p:cNvSpPr/>
          <p:nvPr/>
        </p:nvSpPr>
        <p:spPr>
          <a:xfrm>
            <a:off x="2020824" y="1965960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理科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777240" y="2350008"/>
            <a:ext cx="600760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お店を建てる → ブロック数の計算（算数）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看板・メニューを書く → 名前・説明文（国語）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おつりを計算する → たし算・ひき算・お金の概念（算数）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材料の性質を調べる → 木・石・鉄の違い（理科）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🎮 NPCのお客さんに正しいおつりを渡すとエメラルド獲得！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48640" y="3474720"/>
            <a:ext cx="6464808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48640" y="3474720"/>
            <a:ext cx="6464808" cy="45720"/>
          </a:xfrm>
          <a:prstGeom prst="rect">
            <a:avLst/>
          </a:prstGeom>
          <a:solidFill>
            <a:srgbClr val="2B5F2B"/>
          </a:solidFill>
          <a:ln/>
        </p:spPr>
      </p:sp>
      <p:sp>
        <p:nvSpPr>
          <p:cNvPr id="22" name="Shape 19"/>
          <p:cNvSpPr/>
          <p:nvPr/>
        </p:nvSpPr>
        <p:spPr>
          <a:xfrm>
            <a:off x="777240" y="3657600"/>
            <a:ext cx="502920" cy="502920"/>
          </a:xfrm>
          <a:prstGeom prst="ellipse">
            <a:avLst/>
          </a:prstGeom>
          <a:solidFill>
            <a:srgbClr val="2B5F2B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749040"/>
            <a:ext cx="320040" cy="32004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463040" y="3657600"/>
            <a:ext cx="5276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ミッション②「動物園を作ろう」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463040" y="3950208"/>
            <a:ext cx="5276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村の近くに動物たちがいるけど、安全に暮らせる場所がない。動物園を作って守ろう！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777240" y="4343400"/>
            <a:ext cx="530352" cy="2743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7" name="Text 23"/>
          <p:cNvSpPr/>
          <p:nvPr/>
        </p:nvSpPr>
        <p:spPr>
          <a:xfrm>
            <a:off x="777240" y="4343400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算数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1399032" y="4343400"/>
            <a:ext cx="530352" cy="2743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9" name="Text 25"/>
          <p:cNvSpPr/>
          <p:nvPr/>
        </p:nvSpPr>
        <p:spPr>
          <a:xfrm>
            <a:off x="1399032" y="4343400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国語</a:t>
            </a:r>
            <a:endParaRPr lang="en-US" sz="800" dirty="0"/>
          </a:p>
        </p:txBody>
      </p:sp>
      <p:sp>
        <p:nvSpPr>
          <p:cNvPr id="30" name="Shape 26"/>
          <p:cNvSpPr/>
          <p:nvPr/>
        </p:nvSpPr>
        <p:spPr>
          <a:xfrm>
            <a:off x="2020824" y="4343400"/>
            <a:ext cx="530352" cy="2743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1" name="Text 27"/>
          <p:cNvSpPr/>
          <p:nvPr/>
        </p:nvSpPr>
        <p:spPr>
          <a:xfrm>
            <a:off x="2020824" y="4343400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理科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2642616" y="4343400"/>
            <a:ext cx="530352" cy="2743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3" name="Text 29"/>
          <p:cNvSpPr/>
          <p:nvPr/>
        </p:nvSpPr>
        <p:spPr>
          <a:xfrm>
            <a:off x="2642616" y="4343400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社会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777240" y="4727448"/>
            <a:ext cx="600760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動物の柵を作る → 周りの長さ・ブロック数の計算（算数）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説明看板を書く → 特徴を文章にする（国語）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エサを用意する → 草食・肉食の違い（理科）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動物園の地図を作る → 方角・地図の見方（社会）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🎮 正しい大きさの柵を作ると動物がスポーン！エサを間違えると食べてくれない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548640" y="5852160"/>
            <a:ext cx="6464808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548640" y="5852160"/>
            <a:ext cx="6464808" cy="45720"/>
          </a:xfrm>
          <a:prstGeom prst="rect">
            <a:avLst/>
          </a:prstGeom>
          <a:solidFill>
            <a:srgbClr val="2B5F2B"/>
          </a:solidFill>
          <a:ln/>
        </p:spPr>
      </p:sp>
      <p:sp>
        <p:nvSpPr>
          <p:cNvPr id="37" name="Shape 33"/>
          <p:cNvSpPr/>
          <p:nvPr/>
        </p:nvSpPr>
        <p:spPr>
          <a:xfrm>
            <a:off x="777240" y="6035040"/>
            <a:ext cx="502920" cy="502920"/>
          </a:xfrm>
          <a:prstGeom prst="ellipse">
            <a:avLst/>
          </a:prstGeom>
          <a:solidFill>
            <a:srgbClr val="2B5F2B"/>
          </a:solidFill>
          <a:ln/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6126480"/>
            <a:ext cx="320040" cy="320040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1463040" y="6035040"/>
            <a:ext cx="5276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ミッション③「お祭りを準備しよう」</a:t>
            </a:r>
            <a:endParaRPr lang="en-US" sz="1400" dirty="0"/>
          </a:p>
        </p:txBody>
      </p:sp>
      <p:sp>
        <p:nvSpPr>
          <p:cNvPr id="40" name="Text 35"/>
          <p:cNvSpPr/>
          <p:nvPr/>
        </p:nvSpPr>
        <p:spPr>
          <a:xfrm>
            <a:off x="1463040" y="6327648"/>
            <a:ext cx="5276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村のお祭りが近づいている！みんなで準備を分担して、最高のお祭りにしよう！</a:t>
            </a:r>
            <a:endParaRPr lang="en-US" sz="900" dirty="0"/>
          </a:p>
        </p:txBody>
      </p:sp>
      <p:sp>
        <p:nvSpPr>
          <p:cNvPr id="41" name="Shape 36"/>
          <p:cNvSpPr/>
          <p:nvPr/>
        </p:nvSpPr>
        <p:spPr>
          <a:xfrm>
            <a:off x="777240" y="6720840"/>
            <a:ext cx="530352" cy="2743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2" name="Text 37"/>
          <p:cNvSpPr/>
          <p:nvPr/>
        </p:nvSpPr>
        <p:spPr>
          <a:xfrm>
            <a:off x="777240" y="6720840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算数</a:t>
            </a:r>
            <a:endParaRPr lang="en-US" sz="800" dirty="0"/>
          </a:p>
        </p:txBody>
      </p:sp>
      <p:sp>
        <p:nvSpPr>
          <p:cNvPr id="43" name="Shape 38"/>
          <p:cNvSpPr/>
          <p:nvPr/>
        </p:nvSpPr>
        <p:spPr>
          <a:xfrm>
            <a:off x="1399032" y="6720840"/>
            <a:ext cx="530352" cy="2743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4" name="Text 39"/>
          <p:cNvSpPr/>
          <p:nvPr/>
        </p:nvSpPr>
        <p:spPr>
          <a:xfrm>
            <a:off x="1399032" y="6720840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国語</a:t>
            </a:r>
            <a:endParaRPr lang="en-US" sz="800" dirty="0"/>
          </a:p>
        </p:txBody>
      </p:sp>
      <p:sp>
        <p:nvSpPr>
          <p:cNvPr id="45" name="Shape 40"/>
          <p:cNvSpPr/>
          <p:nvPr/>
        </p:nvSpPr>
        <p:spPr>
          <a:xfrm>
            <a:off x="2020824" y="6720840"/>
            <a:ext cx="530352" cy="2743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6" name="Text 41"/>
          <p:cNvSpPr/>
          <p:nvPr/>
        </p:nvSpPr>
        <p:spPr>
          <a:xfrm>
            <a:off x="2020824" y="6720840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理科</a:t>
            </a:r>
            <a:endParaRPr lang="en-US" sz="800" dirty="0"/>
          </a:p>
        </p:txBody>
      </p:sp>
      <p:sp>
        <p:nvSpPr>
          <p:cNvPr id="47" name="Shape 42"/>
          <p:cNvSpPr/>
          <p:nvPr/>
        </p:nvSpPr>
        <p:spPr>
          <a:xfrm>
            <a:off x="2642616" y="6720840"/>
            <a:ext cx="530352" cy="2743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8" name="Text 43"/>
          <p:cNvSpPr/>
          <p:nvPr/>
        </p:nvSpPr>
        <p:spPr>
          <a:xfrm>
            <a:off x="2642616" y="6720840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社会</a:t>
            </a:r>
            <a:endParaRPr lang="en-US" sz="800" dirty="0"/>
          </a:p>
        </p:txBody>
      </p:sp>
      <p:sp>
        <p:nvSpPr>
          <p:cNvPr id="49" name="Text 44"/>
          <p:cNvSpPr/>
          <p:nvPr/>
        </p:nvSpPr>
        <p:spPr>
          <a:xfrm>
            <a:off x="777240" y="7104888"/>
            <a:ext cx="600760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屋台を建てる → 材料の数・かけ算（算数）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ポスターを書く → 伝わる文章・キャッチコピー（国語）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花火の仕掛けを作る → レッドストーン回路（理科）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お祭りの歴史を調べる → 日本の伝統行事（社会）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🎮 レッドストーン回路で花火を打ち上げ！正しく配線するとフィナーレ演出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323576"/>
            <a:ext cx="7562088" cy="365760"/>
          </a:xfrm>
          <a:prstGeom prst="rect">
            <a:avLst/>
          </a:prstGeom>
          <a:solidFill>
            <a:srgbClr val="2B5F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341864"/>
            <a:ext cx="5550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ONEHOUDAY × Minecraft 学習プログラム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099048" y="1034186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/ 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562088" cy="822960"/>
          </a:xfrm>
          <a:prstGeom prst="rect">
            <a:avLst/>
          </a:prstGeom>
          <a:solidFill>
            <a:srgbClr val="2B5F2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64648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ミッション案（2/2）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6464808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097280"/>
            <a:ext cx="6464808" cy="45720"/>
          </a:xfrm>
          <a:prstGeom prst="rect">
            <a:avLst/>
          </a:prstGeom>
          <a:solidFill>
            <a:srgbClr val="2B5F2B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1280160"/>
            <a:ext cx="502920" cy="502920"/>
          </a:xfrm>
          <a:prstGeom prst="ellipse">
            <a:avLst/>
          </a:prstGeom>
          <a:solidFill>
            <a:srgbClr val="2B5F2B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37160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63040" y="1280160"/>
            <a:ext cx="5276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ミッション④「宝の地図を読み解こう」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463040" y="1572768"/>
            <a:ext cx="5276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古い地図を見つけた。暗号や手がかりを解読して、隠された宝を探し出そう！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77240" y="1965960"/>
            <a:ext cx="530352" cy="2743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1965960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算数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1399032" y="1965960"/>
            <a:ext cx="530352" cy="2743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6" name="Text 13"/>
          <p:cNvSpPr/>
          <p:nvPr/>
        </p:nvSpPr>
        <p:spPr>
          <a:xfrm>
            <a:off x="1399032" y="1965960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国語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020824" y="1965960"/>
            <a:ext cx="530352" cy="2743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8" name="Text 15"/>
          <p:cNvSpPr/>
          <p:nvPr/>
        </p:nvSpPr>
        <p:spPr>
          <a:xfrm>
            <a:off x="2020824" y="1965960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社会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2642616" y="1965960"/>
            <a:ext cx="530352" cy="2743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0" name="Text 17"/>
          <p:cNvSpPr/>
          <p:nvPr/>
        </p:nvSpPr>
        <p:spPr>
          <a:xfrm>
            <a:off x="2642616" y="1965960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理科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777240" y="2350008"/>
            <a:ext cx="600760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暗号を解読する → 文字の読み・文章の意味（国語）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距離と方角を計算する → 数の大小・距離の概念（算数）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地図を読む → 東西南北・地図記号（社会）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地形の特徴から場所を特定 → 山・川・海の特徴（理科）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🎮 手がかりを1つ解くごとに次の場所が表示、最後に宝箱が開く！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48640" y="3474720"/>
            <a:ext cx="6464808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48640" y="3474720"/>
            <a:ext cx="6464808" cy="45720"/>
          </a:xfrm>
          <a:prstGeom prst="rect">
            <a:avLst/>
          </a:prstGeom>
          <a:solidFill>
            <a:srgbClr val="2B5F2B"/>
          </a:solidFill>
          <a:ln/>
        </p:spPr>
      </p:sp>
      <p:sp>
        <p:nvSpPr>
          <p:cNvPr id="24" name="Shape 21"/>
          <p:cNvSpPr/>
          <p:nvPr/>
        </p:nvSpPr>
        <p:spPr>
          <a:xfrm>
            <a:off x="777240" y="3657600"/>
            <a:ext cx="502920" cy="502920"/>
          </a:xfrm>
          <a:prstGeom prst="ellipse">
            <a:avLst/>
          </a:prstGeom>
          <a:solidFill>
            <a:srgbClr val="2B5F2B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749040"/>
            <a:ext cx="320040" cy="32004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463040" y="3657600"/>
            <a:ext cx="5276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ミッション⑤「みんなの家を建てよう」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1463040" y="3950208"/>
            <a:ext cx="5276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新しく村に引っ越してきた家族のために家を建ててあげよう！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777240" y="4343400"/>
            <a:ext cx="530352" cy="2743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9" name="Text 25"/>
          <p:cNvSpPr/>
          <p:nvPr/>
        </p:nvSpPr>
        <p:spPr>
          <a:xfrm>
            <a:off x="777240" y="4343400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算数</a:t>
            </a:r>
            <a:endParaRPr lang="en-US" sz="800" dirty="0"/>
          </a:p>
        </p:txBody>
      </p:sp>
      <p:sp>
        <p:nvSpPr>
          <p:cNvPr id="30" name="Shape 26"/>
          <p:cNvSpPr/>
          <p:nvPr/>
        </p:nvSpPr>
        <p:spPr>
          <a:xfrm>
            <a:off x="1399032" y="4343400"/>
            <a:ext cx="530352" cy="2743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1" name="Text 27"/>
          <p:cNvSpPr/>
          <p:nvPr/>
        </p:nvSpPr>
        <p:spPr>
          <a:xfrm>
            <a:off x="1399032" y="4343400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国語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2020824" y="4343400"/>
            <a:ext cx="530352" cy="2743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3" name="Text 29"/>
          <p:cNvSpPr/>
          <p:nvPr/>
        </p:nvSpPr>
        <p:spPr>
          <a:xfrm>
            <a:off x="2020824" y="4343400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理科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777240" y="4727448"/>
            <a:ext cx="600760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設計図を読む → 指示文の読解・順序の理解（国語）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必要なブロック数を計算 → かけ算・面積・体積（算数）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周りの環境を整える → 植物の種類・日当たり（理科）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🎮 テキストの設計図通りに建てると完成チェック、住人NPCが引っ越してくる！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548640" y="5852160"/>
            <a:ext cx="6464808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548640" y="5852160"/>
            <a:ext cx="6464808" cy="45720"/>
          </a:xfrm>
          <a:prstGeom prst="rect">
            <a:avLst/>
          </a:prstGeom>
          <a:solidFill>
            <a:srgbClr val="2B5F2B"/>
          </a:solidFill>
          <a:ln/>
        </p:spPr>
      </p:sp>
      <p:sp>
        <p:nvSpPr>
          <p:cNvPr id="37" name="Shape 33"/>
          <p:cNvSpPr/>
          <p:nvPr/>
        </p:nvSpPr>
        <p:spPr>
          <a:xfrm>
            <a:off x="777240" y="6035040"/>
            <a:ext cx="502920" cy="502920"/>
          </a:xfrm>
          <a:prstGeom prst="ellipse">
            <a:avLst/>
          </a:prstGeom>
          <a:solidFill>
            <a:srgbClr val="2B5F2B"/>
          </a:solidFill>
          <a:ln/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6126480"/>
            <a:ext cx="320040" cy="320040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1463040" y="6035040"/>
            <a:ext cx="5276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ミッション⑥「農場で収穫祭だ！」</a:t>
            </a:r>
            <a:endParaRPr lang="en-US" sz="1400" dirty="0"/>
          </a:p>
        </p:txBody>
      </p:sp>
      <p:sp>
        <p:nvSpPr>
          <p:cNvPr id="40" name="Text 35"/>
          <p:cNvSpPr/>
          <p:nvPr/>
        </p:nvSpPr>
        <p:spPr>
          <a:xfrm>
            <a:off x="1463040" y="6327648"/>
            <a:ext cx="5276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村の農場で作物を育てて、みんなで収穫祭を開こう！</a:t>
            </a:r>
            <a:endParaRPr lang="en-US" sz="900" dirty="0"/>
          </a:p>
        </p:txBody>
      </p:sp>
      <p:sp>
        <p:nvSpPr>
          <p:cNvPr id="41" name="Shape 36"/>
          <p:cNvSpPr/>
          <p:nvPr/>
        </p:nvSpPr>
        <p:spPr>
          <a:xfrm>
            <a:off x="777240" y="6720840"/>
            <a:ext cx="530352" cy="2743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2" name="Text 37"/>
          <p:cNvSpPr/>
          <p:nvPr/>
        </p:nvSpPr>
        <p:spPr>
          <a:xfrm>
            <a:off x="777240" y="6720840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算数</a:t>
            </a:r>
            <a:endParaRPr lang="en-US" sz="800" dirty="0"/>
          </a:p>
        </p:txBody>
      </p:sp>
      <p:sp>
        <p:nvSpPr>
          <p:cNvPr id="43" name="Shape 38"/>
          <p:cNvSpPr/>
          <p:nvPr/>
        </p:nvSpPr>
        <p:spPr>
          <a:xfrm>
            <a:off x="1399032" y="6720840"/>
            <a:ext cx="530352" cy="2743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4" name="Text 39"/>
          <p:cNvSpPr/>
          <p:nvPr/>
        </p:nvSpPr>
        <p:spPr>
          <a:xfrm>
            <a:off x="1399032" y="6720840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理科</a:t>
            </a:r>
            <a:endParaRPr lang="en-US" sz="800" dirty="0"/>
          </a:p>
        </p:txBody>
      </p:sp>
      <p:sp>
        <p:nvSpPr>
          <p:cNvPr id="45" name="Shape 40"/>
          <p:cNvSpPr/>
          <p:nvPr/>
        </p:nvSpPr>
        <p:spPr>
          <a:xfrm>
            <a:off x="2020824" y="6720840"/>
            <a:ext cx="530352" cy="2743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6" name="Text 41"/>
          <p:cNvSpPr/>
          <p:nvPr/>
        </p:nvSpPr>
        <p:spPr>
          <a:xfrm>
            <a:off x="2020824" y="6720840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国語</a:t>
            </a:r>
            <a:endParaRPr lang="en-US" sz="800" dirty="0"/>
          </a:p>
        </p:txBody>
      </p:sp>
      <p:sp>
        <p:nvSpPr>
          <p:cNvPr id="47" name="Text 42"/>
          <p:cNvSpPr/>
          <p:nvPr/>
        </p:nvSpPr>
        <p:spPr>
          <a:xfrm>
            <a:off x="777240" y="7104888"/>
            <a:ext cx="600760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畑の区画を作る → 面積・等分（算数）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作物の育て方を調べる → 成長条件・光・水（理科）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収穫量を記録する → 数を数える・表の基礎（算数）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収穫祭の案内を書く → 招待状の書き方（国語）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🎮 正しい条件で植えると作物が育つ、収穫量に応じてお祭りの規模が変化！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323576"/>
            <a:ext cx="7562088" cy="365760"/>
          </a:xfrm>
          <a:prstGeom prst="rect">
            <a:avLst/>
          </a:prstGeom>
          <a:solidFill>
            <a:srgbClr val="2B5F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341864"/>
            <a:ext cx="5550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ONEHOUDAY × Minecraft 学習プログラム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099048" y="1034186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 / 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562088" cy="822960"/>
          </a:xfrm>
          <a:prstGeom prst="rect">
            <a:avLst/>
          </a:prstGeom>
          <a:solidFill>
            <a:srgbClr val="2B5F2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64648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その他のミッション案と既存コンテンツ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6464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追加ミッション候補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6464808" cy="640080"/>
          </a:xfrm>
          <a:prstGeom prst="rect">
            <a:avLst/>
          </a:prstGeom>
          <a:solidFill>
            <a:srgbClr val="F1F8F1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4A8C4A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71600" y="1600200"/>
            <a:ext cx="5367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「村のお医者さんを手伝おう」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371600" y="1874520"/>
            <a:ext cx="5367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薬草を集め、患者の症状を聞き取り、正しい薬を調合する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" y="2377440"/>
            <a:ext cx="6464808" cy="640080"/>
          </a:xfrm>
          <a:prstGeom prst="rect">
            <a:avLst/>
          </a:prstGeom>
          <a:solidFill>
            <a:srgbClr val="F1F8F1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31520" y="2468880"/>
            <a:ext cx="457200" cy="457200"/>
          </a:xfrm>
          <a:prstGeom prst="ellipse">
            <a:avLst/>
          </a:prstGeom>
          <a:solidFill>
            <a:srgbClr val="4A8C4A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56032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371600" y="2423160"/>
            <a:ext cx="5367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「トロッコ鉄道を作ろう」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371600" y="2697480"/>
            <a:ext cx="5367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線路の長さを計算し、レッドストーンで信号を作り、路線図を描く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548640" y="3291840"/>
            <a:ext cx="6464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ミッションは運用開始後もいつでも追加可能です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548640" y="3840480"/>
            <a:ext cx="6464808" cy="36576"/>
          </a:xfrm>
          <a:prstGeom prst="rect">
            <a:avLst/>
          </a:prstGeom>
          <a:solidFill>
            <a:srgbClr val="4A8C4A"/>
          </a:solidFill>
          <a:ln/>
        </p:spPr>
      </p:sp>
      <p:sp>
        <p:nvSpPr>
          <p:cNvPr id="20" name="Text 16"/>
          <p:cNvSpPr/>
          <p:nvPr/>
        </p:nvSpPr>
        <p:spPr>
          <a:xfrm>
            <a:off x="548640" y="4114800"/>
            <a:ext cx="6464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開発済みコンテンツの活用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548640" y="4572000"/>
            <a:ext cx="6464808" cy="20116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822960" y="4663440"/>
            <a:ext cx="5916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現在開発中の「森の洋館ダンジョン（算数）」は、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そのままミッションの1つとして組み込みます。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822960" y="5212080"/>
            <a:ext cx="591616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5D40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「洋館の謎を解け！」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ロボットに回答を入力 → 正解でアイテム入手 → 先へ進む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テキスト（PowerPoint）と画面の連動学習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具体物（10個のリンゴ等）による抽象→具体の学習体験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1B7A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現在の開発内容がそのまま新しい構造に自然に統合されます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548640" y="6949440"/>
            <a:ext cx="6464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難易度への対応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548640" y="7315200"/>
            <a:ext cx="6464808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548640" y="7315200"/>
            <a:ext cx="64008" cy="22860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7" name="Text 23"/>
          <p:cNvSpPr/>
          <p:nvPr/>
        </p:nvSpPr>
        <p:spPr>
          <a:xfrm>
            <a:off x="822960" y="7406640"/>
            <a:ext cx="5916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初級・中級・上級というレベル分けは行いません。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822960" y="7726680"/>
            <a:ext cx="5916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代わりに、同じミッション内で問題のバリエーションを用意します。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822960" y="8092440"/>
            <a:ext cx="59161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例：「お店を開こう」ミッションの場合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やさしい問題：「リンゴ3個とミカン2個で何個？」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もう少しがんばる問題：「500円で何が買える？」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1B7A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スタッフが子どもの様子を見て「こっちやってみる？」と声かけ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1B7A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子ども自身に「自分は何級」と意識させない設計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323576"/>
            <a:ext cx="7562088" cy="365760"/>
          </a:xfrm>
          <a:prstGeom prst="rect">
            <a:avLst/>
          </a:prstGeom>
          <a:solidFill>
            <a:srgbClr val="2B5F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341864"/>
            <a:ext cx="5550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ONEHOUDAY × Minecraft 学習プログラム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099048" y="1034186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 / 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562088" cy="822960"/>
          </a:xfrm>
          <a:prstGeom prst="rect">
            <a:avLst/>
          </a:prstGeom>
          <a:solidFill>
            <a:srgbClr val="2B5F2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64648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学習の流れと納品物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6464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各ミッションの学習フロー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28700" y="1554480"/>
            <a:ext cx="365760" cy="365760"/>
          </a:xfrm>
          <a:prstGeom prst="ellipse">
            <a:avLst/>
          </a:prstGeom>
          <a:solidFill>
            <a:srgbClr val="2B5F2B"/>
          </a:solidFill>
          <a:ln/>
        </p:spPr>
      </p:sp>
      <p:sp>
        <p:nvSpPr>
          <p:cNvPr id="9" name="Text 7"/>
          <p:cNvSpPr/>
          <p:nvPr/>
        </p:nvSpPr>
        <p:spPr>
          <a:xfrm>
            <a:off x="102870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01168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ミッション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受注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24231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ハブワールドの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掲示板から選択</a:t>
            </a:r>
            <a:endParaRPr lang="en-US" sz="8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5648" y="2103120"/>
            <a:ext cx="182880" cy="18288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2308860" y="1554480"/>
            <a:ext cx="365760" cy="365760"/>
          </a:xfrm>
          <a:prstGeom prst="ellipse">
            <a:avLst/>
          </a:prstGeom>
          <a:solidFill>
            <a:srgbClr val="2B5F2B"/>
          </a:solidFill>
          <a:ln/>
        </p:spPr>
      </p:sp>
      <p:sp>
        <p:nvSpPr>
          <p:cNvPr id="14" name="Text 11"/>
          <p:cNvSpPr/>
          <p:nvPr/>
        </p:nvSpPr>
        <p:spPr>
          <a:xfrm>
            <a:off x="230886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965960" y="201168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テキストで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予習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965960" y="24231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背景知識・基礎を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紙で確認</a:t>
            </a:r>
            <a:endParaRPr lang="en-US" sz="8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808" y="2103120"/>
            <a:ext cx="182880" cy="18288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3589020" y="1554480"/>
            <a:ext cx="365760" cy="365760"/>
          </a:xfrm>
          <a:prstGeom prst="ellipse">
            <a:avLst/>
          </a:prstGeom>
          <a:solidFill>
            <a:srgbClr val="2B5F2B"/>
          </a:solidFill>
          <a:ln/>
        </p:spPr>
      </p:sp>
      <p:sp>
        <p:nvSpPr>
          <p:cNvPr id="19" name="Text 15"/>
          <p:cNvSpPr/>
          <p:nvPr/>
        </p:nvSpPr>
        <p:spPr>
          <a:xfrm>
            <a:off x="358902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3246120" y="201168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マイクラで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挑戦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3246120" y="24231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ミッションに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取り組む</a:t>
            </a:r>
            <a:endParaRPr lang="en-US" sz="8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968" y="2103120"/>
            <a:ext cx="182880" cy="18288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4869180" y="1554480"/>
            <a:ext cx="365760" cy="365760"/>
          </a:xfrm>
          <a:prstGeom prst="ellipse">
            <a:avLst/>
          </a:prstGeom>
          <a:solidFill>
            <a:srgbClr val="2B5F2B"/>
          </a:solidFill>
          <a:ln/>
        </p:spPr>
      </p:sp>
      <p:sp>
        <p:nvSpPr>
          <p:cNvPr id="24" name="Text 19"/>
          <p:cNvSpPr/>
          <p:nvPr/>
        </p:nvSpPr>
        <p:spPr>
          <a:xfrm>
            <a:off x="486918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4526280" y="201168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完成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フィードバック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4526280" y="24231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スタッフが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褒めて認める</a:t>
            </a:r>
            <a:endParaRPr lang="en-US" sz="8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6128" y="2103120"/>
            <a:ext cx="182880" cy="18288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6149340" y="1554480"/>
            <a:ext cx="365760" cy="365760"/>
          </a:xfrm>
          <a:prstGeom prst="ellipse">
            <a:avLst/>
          </a:prstGeom>
          <a:solidFill>
            <a:srgbClr val="2B5F2B"/>
          </a:solidFill>
          <a:ln/>
        </p:spPr>
      </p:sp>
      <p:sp>
        <p:nvSpPr>
          <p:cNvPr id="29" name="Text 23"/>
          <p:cNvSpPr/>
          <p:nvPr/>
        </p:nvSpPr>
        <p:spPr>
          <a:xfrm>
            <a:off x="614934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5806440" y="201168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振り返り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5806440" y="24231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できたこと・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次の目標を確認</a:t>
            </a:r>
            <a:endParaRPr lang="en-US" sz="800" dirty="0"/>
          </a:p>
        </p:txBody>
      </p:sp>
      <p:sp>
        <p:nvSpPr>
          <p:cNvPr id="32" name="Shape 26"/>
          <p:cNvSpPr/>
          <p:nvPr/>
        </p:nvSpPr>
        <p:spPr>
          <a:xfrm>
            <a:off x="548640" y="2880360"/>
            <a:ext cx="6464808" cy="50292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33" name="Text 27"/>
          <p:cNvSpPr/>
          <p:nvPr/>
        </p:nvSpPr>
        <p:spPr>
          <a:xfrm>
            <a:off x="731520" y="2880360"/>
            <a:ext cx="6099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ブリーフィングの「考え、試し、結果を見て、直し、伝える」サイクルが、このフローに対応しています。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548640" y="3749040"/>
            <a:ext cx="6464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ミッションごとの納品物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60520"/>
          <a:ext cx="6464808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3172968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lnSpc>
                          <a:spcPct val="13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納品物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3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形式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3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内容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F2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lnSpc>
                          <a:spcPct val="130000"/>
                        </a:lnSpc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Minecraftワールド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30000"/>
                        </a:lnSpc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.mcworldファイル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30000"/>
                        </a:lnSpc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ミッションのゲーム環境一式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indent="0" marL="0">
                        <a:lnSpc>
                          <a:spcPct val="130000"/>
                        </a:lnSpc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（ギミック・NPC・問題・フィードバック）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lnSpc>
                          <a:spcPct val="130000"/>
                        </a:lnSpc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生徒用テキスト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30000"/>
                        </a:lnSpc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PowerPoint（印刷用）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30000"/>
                        </a:lnSpc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ミッションの背景知識・学習ページ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indent="0" marL="0">
                        <a:lnSpc>
                          <a:spcPct val="130000"/>
                        </a:lnSpc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問題・メモ欄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lnSpc>
                          <a:spcPct val="130000"/>
                        </a:lnSpc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スタッフ用ガイド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30000"/>
                        </a:lnSpc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PDF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30000"/>
                        </a:lnSpc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指導の流れ・声かけ例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indent="0" marL="0">
                        <a:lnSpc>
                          <a:spcPct val="130000"/>
                        </a:lnSpc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フィードバックの与え方・トラブル対応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6" name="Text 29"/>
          <p:cNvSpPr/>
          <p:nvPr/>
        </p:nvSpPr>
        <p:spPr>
          <a:xfrm>
            <a:off x="548640" y="6400800"/>
            <a:ext cx="6464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開発スコープ</a:t>
            </a:r>
            <a:endParaRPr lang="en-US" sz="1400" dirty="0"/>
          </a:p>
        </p:txBody>
      </p:sp>
      <p:sp>
        <p:nvSpPr>
          <p:cNvPr id="37" name="Shape 30"/>
          <p:cNvSpPr/>
          <p:nvPr/>
        </p:nvSpPr>
        <p:spPr>
          <a:xfrm>
            <a:off x="548640" y="6812280"/>
            <a:ext cx="6464808" cy="228600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38" name="Text 31"/>
          <p:cNvSpPr/>
          <p:nvPr/>
        </p:nvSpPr>
        <p:spPr>
          <a:xfrm>
            <a:off x="868680" y="6903720"/>
            <a:ext cx="582472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3月末までの納品目標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ハブワールド（冒険者の村）× 1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ミッションワールド × 4〜6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各ミッションの生徒用テキスト＋スタッフ用ガイド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各ミッションは独立ファイルのため、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運用開始後もミッションを順次追加し、コンテンツを拡充していくことが可能です。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323576"/>
            <a:ext cx="7562088" cy="365760"/>
          </a:xfrm>
          <a:prstGeom prst="rect">
            <a:avLst/>
          </a:prstGeom>
          <a:solidFill>
            <a:srgbClr val="2B5F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341864"/>
            <a:ext cx="5550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ONEHOUDAY × Minecraft 学習プログラム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099048" y="1034186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 / 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562088" cy="822960"/>
          </a:xfrm>
          <a:prstGeom prst="rect">
            <a:avLst/>
          </a:prstGeom>
          <a:solidFill>
            <a:srgbClr val="2B5F2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64648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次のステップ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6464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本書の方針をご確認いただき、以下についてフィードバックをお願いいたします。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6464808" cy="868680"/>
          </a:xfrm>
          <a:prstGeom prst="rect">
            <a:avLst/>
          </a:prstGeom>
          <a:solidFill>
            <a:srgbClr val="F1F8F1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1920240"/>
            <a:ext cx="457200" cy="457200"/>
          </a:xfrm>
          <a:prstGeom prst="ellipse">
            <a:avLst/>
          </a:prstGeom>
          <a:solidFill>
            <a:srgbClr val="2B5F2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1847088"/>
            <a:ext cx="5367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ミッション型アプローチについて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2176272"/>
            <a:ext cx="5367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教科別ではなく、生活場面のミッションを軸にする方針でよいか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6464808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017520"/>
            <a:ext cx="457200" cy="457200"/>
          </a:xfrm>
          <a:prstGeom prst="ellipse">
            <a:avLst/>
          </a:prstGeom>
          <a:solidFill>
            <a:srgbClr val="2B5F2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2944368"/>
            <a:ext cx="5367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レベル分けをしない設計について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3273552"/>
            <a:ext cx="5367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初級・中級・上級を設けず、同じミッション内で問題のバリエーションで対応する方針でよいか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931920"/>
            <a:ext cx="6464808" cy="868680"/>
          </a:xfrm>
          <a:prstGeom prst="rect">
            <a:avLst/>
          </a:prstGeom>
          <a:solidFill>
            <a:srgbClr val="F1F8F1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4114800"/>
            <a:ext cx="457200" cy="457200"/>
          </a:xfrm>
          <a:prstGeom prst="ellipse">
            <a:avLst/>
          </a:prstGeom>
          <a:solidFill>
            <a:srgbClr val="2B5F2B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4041648"/>
            <a:ext cx="5367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ミッションの内容について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4370832"/>
            <a:ext cx="5367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提案した8つのミッション案の中で、特に優先したいもの・追加したいテーマがあるか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5029200"/>
            <a:ext cx="6464808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1520" y="5212080"/>
            <a:ext cx="457200" cy="457200"/>
          </a:xfrm>
          <a:prstGeom prst="ellipse">
            <a:avLst/>
          </a:prstGeom>
          <a:solidFill>
            <a:srgbClr val="2B5F2B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5212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71600" y="5138928"/>
            <a:ext cx="5367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納品物の構成について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71600" y="5468112"/>
            <a:ext cx="5367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ワールド＋生徒用テキスト＋スタッフ用ガイドの3点セットでよいか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6126480"/>
            <a:ext cx="6464808" cy="868680"/>
          </a:xfrm>
          <a:prstGeom prst="rect">
            <a:avLst/>
          </a:prstGeom>
          <a:solidFill>
            <a:srgbClr val="F1F8F1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1520" y="6309360"/>
            <a:ext cx="457200" cy="457200"/>
          </a:xfrm>
          <a:prstGeom prst="ellipse">
            <a:avLst/>
          </a:prstGeom>
          <a:solidFill>
            <a:srgbClr val="2B5F2B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6309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371600" y="6236208"/>
            <a:ext cx="5367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F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算数ダンジョン（開発済み）について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371600" y="6565392"/>
            <a:ext cx="5367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プレイ動画をご覧いただいたフィードバック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7498080"/>
            <a:ext cx="6464808" cy="1828800"/>
          </a:xfrm>
          <a:prstGeom prst="rect">
            <a:avLst/>
          </a:prstGeom>
          <a:solidFill>
            <a:srgbClr val="2B5F2B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0" y="7772400"/>
            <a:ext cx="573328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上記についてご確認・フィードバックをいただけましたら、</a:t>
            </a:r>
            <a:endParaRPr lang="en-US" sz="11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具体的なミッションの開発に着手いたします。</a:t>
            </a:r>
            <a:endParaRPr lang="en-US" sz="1100" dirty="0"/>
          </a:p>
          <a:p>
            <a:pPr algn="ctr" indent="0" marL="0">
              <a:lnSpc>
                <a:spcPct val="160000"/>
              </a:lnSpc>
              <a:buNone/>
            </a:pPr>
            <a:endParaRPr lang="en-US" sz="11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E8F5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ご不明な点やご要望がございましたら、</a:t>
            </a:r>
            <a:endParaRPr lang="en-US" sz="11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E8F5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お気軽にお知らせください。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Minecraft学習プログラム 開発方針ご提案</dc:title>
  <dc:subject>PptxGenJS Presentation</dc:subject>
  <dc:creator>ONEHOUDAY</dc:creator>
  <cp:lastModifiedBy>ONEHOUDAY</cp:lastModifiedBy>
  <cp:revision>1</cp:revision>
  <dcterms:created xsi:type="dcterms:W3CDTF">2026-02-09T11:54:39Z</dcterms:created>
  <dcterms:modified xsi:type="dcterms:W3CDTF">2026-02-09T11:54:39Z</dcterms:modified>
</cp:coreProperties>
</file>